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operator question: a successful backup job does not tell a hospital or utility whether the system can be restored after a compound disruption. ResilienceGuard is a readiness and evidence layer, not a new backup vendor. The demo uses synthetic fixtures and allows only a human-approved file copy to an isolated local directory. We will show deterministic results first, then an actual restore check and its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gap without making unsupported outage statistics. A backup inventory alone misses at least four independent questions: existence, freshness, integrity and access across failure domains. Even a good copy does not make a dependent service recoverable if identity or a network path is missing. Hashes do not scan malware, so a single green “backup healthy” badge hides meaningful uncertainty. ResilienceGuard keeps these observations separate and ties them to a tested next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economic buyer is likely accountable for service continuity, cyber risk or operational resilience; the day-to-day user is the person who assembles service and backup evidence and runs the exercise. Hospitals are a compelling first demo because the application, clinical data and identity dependencies are easy to understand, but no real hospital information is used. Utilities and public services share the same cross-site, cross-domain readiness problem. We are seeking pilot collaborators, not claiming validated purchase demand.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NIST is the US National Institute of Standards and Technology. OT means operational technology: equipment and software that monitor or control physical processes. NIST SP 1339 was finalized in June 2026 and recommends recurring restore tests on non-production systems, along with integrity checks. NIST SP 800-34 Rev. 1 is older contingency-planning guidance. CSF means NIST Cybersecurity Framework; version 2.0 names recovery as one function. NATO is the North Atlantic Treaty Organization; its September 2026 resilience baseline highlights essential services, physical and cyber risks, cascading dependencies and recovery capability. These sources inform the product idea; no organization has certified or endorsed this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user journey. First import service and backup data. The system checks separately whether a file is present, its age versus the recovery point objective (RPO, the acceptable data-loss window), whether its SHA-256 fingerprint matches the saved reference, and whether its storage location can be reached. The fingerprint is not a malware scan. A person may propose and explicitly approve a specific synthetic file copy into the isolated test folder. A successful file copy is not a service recovery time objective (RTO) result: RTO is the target time to resume a service. Malware status remains unknown because no scanner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differentiation: the enterprise vendors named here already offer strong recovery verification, isolated labs, clean rooms, threat analysis or reporting. Do not claim they lack evidence or orchestration. ResilienceGuard proposes an entry point for smaller critical operators who may need a lightweight, vendor-independent view across existing tools, particularly when cyber and physical failures occur together. That buyer need, the product gap and any willingness to pay remain to be validated through interviews and pilots.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dashboard and API are separate local services. The API applies fixed rules for file fingerprints, backup age, disruption filters and service dependencies. The named React, FastAPI, PostgreSQL and NetworkX components are implementation choices: the web dashboard, data/API service, saved workflow records and graph checks. Original synthetic files are read-only; restore output uses a separate directory or volume. An optional local model only summarizes evidence; it has no recovery tools. The optional Ollama/Qwen3 path was not run in the evaluation. PostgreSQL stores demo workflow state, not backup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scenarios share the same fixed synthetic catalog and reference time. Scenario one removes the primary data center and East backup location. Scenario two marks the newest database copy as altered and untrusted while an older copy remains. Scenario three removes primary power/network plus the East location, but leaves a different copy reachable through an independent network. A vault here means a separate backup storage location. The engine recalculates reachable candidates and service blockers. The scenarios are rule-based examples, not a simulation of a real attack or physical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primary data-center scenario, Hospital Care Coordination depends on the clinical database and identity service. The database has a West-location copy whose saved fingerprint matches, but the file is three hours old at 08:00. The data-loss target is two hours, so it is one hour outside target. It can be tested in the demo, but the age gap must be accepted by the service owner. Identity depends on Directory Store, and there is no backup record for that directory data. That missing prerequisite blocks identity and therefore the app. The dependency graph means a map of which service needs which other service; the rules determine the same restore order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an optional local summarizer. It sees current scenario facts, a baseline plan and the evidence IDs that already exist. The API validates the response format and allowed evidence/action IDs. It has no recovery tools. The deterministic engine owns backup eligibility, dependency blockers and action control. If no model is running, the assistant returns a deterministic fallback. In this evaluation no Qwen3 inference was run, so do not claim measured generative accuracy; natural-language text remains advisory and may need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evaluation script performed 3 actual copies of the registered synthetic clinical database JSON into temporary isolated directories. The measured mean for copying the file, comparing source and destination SHA-256 fingerprints, and checking expected sample-data fields was 0.581 ms. The API workflow separately requires an explicit human approval, records the decision and audit event, and exposes the output for download. A fingerprint match means the file matches the saved reference; it does not mean the file is malware-free. This validates a small file fixture, not a PostgreSQL restore, application start, malware scan or target time to recover the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test suite recorded 10 passing tests out of 10, with 0 failures. Each fraction on the slide is correct expected answers divided by checked examples, not a claim about real-world service readiness. The synthetic evaluation matched known file fingerprint, backup age and missing-backup labels. It checks four services under each of three disruption scenarios. Actual isolated copies passed file and sample-data checks. Pending and scenario-untrusted copies were denied. The assistant's allowed actions matched the rule-based baseline and its evidence references stayed within the supplied set, but this used the deterministic fallback only. No AI model inference was measured. Dependency audits report zero findings at this snapshot; that is not a full security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assumptions make the business case transparent. First-year revenue per customer is modeled as an $18,000 implementation fee plus a $48,000 annual license and $12,000 annual support fee. Direct costs are assumed at $18,000 per customer. The table subtracts estimated fixed product, sales and administrative overhead to show an illustrative net result. None of these prices or costs are market-verified, and this is not a forecast. ROI should be calculated using the customer’s own outage impact and labor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a practical pilot request. RPO means recovery point objective: how much data age the organization is willing to lose. RTO means recovery time objective: the target time for restoring a service. We need an operator willing to test a small service catalog and validate whether the evidence model and dependency questions fit its recovery process. The first pilot should agree on three to five services, one tabletop covering physical loss, ransomware and combined disruption, and one controlled isolated restore. Success measures could include backup coverage and age, blockers identified, approval traceability, observed test duration, and time to assemble an evidence report. Avoid production access until security and governance controls are designed and reviewed.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5F8FA"/>
        </a:solidFill>
      </p:bgPr>
    </p:bg>
    <p:spTree>
      <p:nvGrpSpPr>
        <p:cNvPr id="1" name=""/>
        <p:cNvGrpSpPr/>
        <p:nvPr/>
      </p:nvGrpSpPr>
      <p:grpSpPr>
        <a:xfrm>
          <a:off x="0" y="0"/>
          <a:ext cx="0" cy="0"/>
          <a:chOff x="0" y="0"/>
          <a:chExt cx="0" cy="0"/>
        </a:xfrm>
      </p:grpSpPr>
      <p:sp>
        <p:nvSpPr>
          <p:cNvPr id="2" name="Shape 0"/>
          <p:cNvSpPr/>
          <p:nvPr/>
        </p:nvSpPr>
        <p:spPr>
          <a:xfrm>
            <a:off x="0" y="0"/>
            <a:ext cx="12191695" cy="64008"/>
          </a:xfrm>
          <a:prstGeom prst="rect">
            <a:avLst/>
          </a:prstGeom>
          <a:solidFill>
            <a:srgbClr val="16827E"/>
          </a:solidFill>
          <a:ln w="12700">
            <a:solidFill>
              <a:srgbClr val="16827E">
                <a:alpha val="0"/>
              </a:srgbClr>
            </a:solidFill>
            <a:prstDash val="solid"/>
          </a:ln>
        </p:spPr>
      </p:sp>
      <p:sp>
        <p:nvSpPr>
          <p:cNvPr id="3" name="Text 1"/>
          <p:cNvSpPr/>
          <p:nvPr/>
        </p:nvSpPr>
        <p:spPr>
          <a:xfrm>
            <a:off x="530352" y="6565392"/>
            <a:ext cx="4023360" cy="137160"/>
          </a:xfrm>
          <a:prstGeom prst="rect">
            <a:avLst/>
          </a:prstGeom>
          <a:noFill/>
          <a:ln/>
        </p:spPr>
        <p:txBody>
          <a:bodyPr wrap="square" lIns="0" tIns="0" rIns="0" bIns="0" rtlCol="0" anchor="ctr"/>
          <a:lstStyle/>
          <a:p>
            <a:pPr indent="0" marL="0">
              <a:buNone/>
            </a:pPr>
            <a:r>
              <a:rPr lang="en-US" sz="700" b="1" spc="100" kern="0" dirty="0">
                <a:solidFill>
                  <a:srgbClr val="80929D"/>
                </a:solidFill>
                <a:latin typeface="Aptos" pitchFamily="34" charset="0"/>
                <a:ea typeface="Aptos" pitchFamily="34" charset="-122"/>
                <a:cs typeface="Aptos" pitchFamily="34" charset="-120"/>
              </a:rPr>
              <a:t>RESILIENCEGUARD  /  EUREKA HACKATHON</a:t>
            </a:r>
            <a:endParaRPr lang="en-US" sz="700" dirty="0"/>
          </a:p>
        </p:txBody>
      </p:sp>
      <p:sp>
        <p:nvSpPr>
          <p:cNvPr id="4" name="Text 2"/>
          <p:cNvSpPr/>
          <p:nvPr/>
        </p:nvSpPr>
        <p:spPr>
          <a:xfrm>
            <a:off x="7863840" y="6565392"/>
            <a:ext cx="3639312" cy="137160"/>
          </a:xfrm>
          <a:prstGeom prst="rect">
            <a:avLst/>
          </a:prstGeom>
          <a:noFill/>
          <a:ln/>
        </p:spPr>
        <p:txBody>
          <a:bodyPr wrap="square" lIns="0" tIns="0" rIns="0" bIns="0" rtlCol="0" anchor="ctr"/>
          <a:lstStyle/>
          <a:p>
            <a:pPr algn="r" indent="0" marL="0">
              <a:buNone/>
            </a:pPr>
            <a:r>
              <a:rPr lang="en-US" sz="700" b="1" spc="60" kern="0" dirty="0">
                <a:solidFill>
                  <a:srgbClr val="80929D"/>
                </a:solidFill>
                <a:latin typeface="Aptos" pitchFamily="34" charset="0"/>
                <a:ea typeface="Aptos" pitchFamily="34" charset="-122"/>
                <a:cs typeface="Aptos" pitchFamily="34" charset="-120"/>
              </a:rPr>
              <a:t>SYNTHETIC MVP  ·  EVIDENCE BEFORE ACTION</a:t>
            </a:r>
            <a:endParaRPr lang="en-US" sz="700" dirty="0"/>
          </a:p>
        </p:txBody>
      </p:sp>
      <p:sp>
        <p:nvSpPr>
          <p:cNvPr id="25" name="Slide Number Placeholder 0"/>
          <p:cNvSpPr>
            <a:spLocks noGrp="1"/>
          </p:cNvSpPr>
          <p:nvPr>
            <p:ph type="sldNum" sz="quarter" idx="4294967295"/>
          </p:nvPr>
        </p:nvSpPr>
        <p:spPr>
          <a:xfrm>
            <a:off x="11740896" y="6547104"/>
            <a:ext cx="228600" cy="146304"/>
          </a:xfrm>
          <a:prstGeom prst="rect">
            <a:avLst/>
          </a:prstGeom>
          <a:extLst>
            <a:ext uri="{C572A759-6A51-4108-AA02-DFA0A04FC94B}">
              <ma14:wrappingTextBoxFlag xmlns:ma14="http://schemas.microsoft.com/office/mac/drawingml/2011/main" val="0"/>
            </a:ext>
          </a:extLst>
        </p:spPr>
        <p:txBody>
          <a:bodyPr/>
          <a:lstStyle>
            <a:lvl1pPr>
              <a:defRPr sz="700">
                <a:solidFill>
                  <a:srgbClr val="80929D"/>
                </a:solidFill>
                <a:latin typeface="Aptos"/>
                <a:ea typeface="Aptos"/>
                <a:cs typeface="Aptos"/>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40896" y="6547104"/>
            <a:ext cx="228600" cy="146304"/>
          </a:xfrm>
          <a:prstGeom prst="rect">
            <a:avLst/>
          </a:prstGeom>
          <a:extLst>
            <a:ext uri="{C572A759-6A51-4108-AA02-DFA0A04FC94B}">
              <ma14:wrappingTextBoxFlag xmlns:ma14="http://schemas.microsoft.com/office/mac/drawingml/2011/main" val="0"/>
            </a:ext>
          </a:extLst>
        </p:spPr>
        <p:txBody>
          <a:bodyPr/>
          <a:lstStyle>
            <a:lvl1pPr>
              <a:defRPr sz="700">
                <a:solidFill>
                  <a:srgbClr val="80929D"/>
                </a:solidFill>
                <a:latin typeface="Aptos"/>
                <a:ea typeface="Aptos"/>
                <a:cs typeface="Aptos"/>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C43"/>
        </a:solidFill>
      </p:bgPr>
    </p:bg>
    <p:spTree>
      <p:nvGrpSpPr>
        <p:cNvPr id="1" name=""/>
        <p:cNvGrpSpPr/>
        <p:nvPr/>
      </p:nvGrpSpPr>
      <p:grpSpPr>
        <a:xfrm>
          <a:off x="0" y="0"/>
          <a:ext cx="0" cy="0"/>
          <a:chOff x="0" y="0"/>
          <a:chExt cx="0" cy="0"/>
        </a:xfrm>
      </p:grpSpPr>
      <p:sp>
        <p:nvSpPr>
          <p:cNvPr id="2" name="Shape 0"/>
          <p:cNvSpPr/>
          <p:nvPr/>
        </p:nvSpPr>
        <p:spPr>
          <a:xfrm>
            <a:off x="0" y="0"/>
            <a:ext cx="118872" cy="6858000"/>
          </a:xfrm>
          <a:prstGeom prst="rect">
            <a:avLst/>
          </a:prstGeom>
          <a:solidFill>
            <a:srgbClr val="32A092"/>
          </a:solidFill>
          <a:ln w="12700">
            <a:solidFill>
              <a:srgbClr val="32A092"/>
            </a:solidFill>
            <a:prstDash val="solid"/>
          </a:ln>
        </p:spPr>
      </p:sp>
      <p:sp>
        <p:nvSpPr>
          <p:cNvPr id="3" name="Shape 1"/>
          <p:cNvSpPr/>
          <p:nvPr/>
        </p:nvSpPr>
        <p:spPr>
          <a:xfrm>
            <a:off x="7589520" y="-1005840"/>
            <a:ext cx="5577840" cy="5577840"/>
          </a:xfrm>
          <a:prstGeom prst="ellipse">
            <a:avLst/>
          </a:prstGeom>
          <a:solidFill>
            <a:srgbClr val="1D4055">
              <a:alpha val="86000"/>
            </a:srgbClr>
          </a:solidFill>
          <a:ln w="12700">
            <a:solidFill>
              <a:srgbClr val="1D4055">
                <a:alpha val="0"/>
              </a:srgbClr>
            </a:solidFill>
            <a:prstDash val="solid"/>
          </a:ln>
        </p:spPr>
      </p:sp>
      <p:sp>
        <p:nvSpPr>
          <p:cNvPr id="4" name="Shape 2"/>
          <p:cNvSpPr/>
          <p:nvPr/>
        </p:nvSpPr>
        <p:spPr>
          <a:xfrm>
            <a:off x="8869680" y="411480"/>
            <a:ext cx="2926080" cy="2926080"/>
          </a:xfrm>
          <a:prstGeom prst="ellipse">
            <a:avLst/>
          </a:prstGeom>
          <a:solidFill>
            <a:srgbClr val="16827E">
              <a:alpha val="18000"/>
            </a:srgbClr>
          </a:solidFill>
          <a:ln w="12700">
            <a:solidFill>
              <a:srgbClr val="16827E">
                <a:alpha val="0"/>
              </a:srgbClr>
            </a:solidFill>
            <a:prstDash val="solid"/>
          </a:ln>
        </p:spPr>
      </p:sp>
      <p:sp>
        <p:nvSpPr>
          <p:cNvPr id="5" name="Shape 3"/>
          <p:cNvSpPr/>
          <p:nvPr/>
        </p:nvSpPr>
        <p:spPr>
          <a:xfrm>
            <a:off x="685800" y="667512"/>
            <a:ext cx="2084832" cy="246888"/>
          </a:xfrm>
          <a:prstGeom prst="roundRect">
            <a:avLst>
              <a:gd name="adj" fmla="val 29630"/>
            </a:avLst>
          </a:prstGeom>
          <a:solidFill>
            <a:srgbClr val="21495C"/>
          </a:solidFill>
          <a:ln w="10160">
            <a:solidFill>
              <a:srgbClr val="21495C"/>
            </a:solidFill>
            <a:prstDash val="solid"/>
          </a:ln>
        </p:spPr>
      </p:sp>
      <p:sp>
        <p:nvSpPr>
          <p:cNvPr id="6" name="Text 4"/>
          <p:cNvSpPr/>
          <p:nvPr/>
        </p:nvSpPr>
        <p:spPr>
          <a:xfrm>
            <a:off x="740664" y="681228"/>
            <a:ext cx="1975104" cy="201168"/>
          </a:xfrm>
          <a:prstGeom prst="rect">
            <a:avLst/>
          </a:prstGeom>
          <a:noFill/>
          <a:ln/>
        </p:spPr>
        <p:txBody>
          <a:bodyPr wrap="square" lIns="0" tIns="0" rIns="0" bIns="0" rtlCol="0" anchor="ctr">
            <a:normAutofit/>
          </a:bodyPr>
          <a:lstStyle/>
          <a:p>
            <a:pPr algn="ctr" indent="0" marL="0">
              <a:buNone/>
            </a:pPr>
            <a:r>
              <a:rPr lang="en-US" sz="700" b="1" spc="50" kern="0" dirty="0">
                <a:solidFill>
                  <a:srgbClr val="A9E7DB"/>
                </a:solidFill>
                <a:latin typeface="Aptos" pitchFamily="34" charset="0"/>
                <a:ea typeface="Aptos" pitchFamily="34" charset="-122"/>
                <a:cs typeface="Aptos" pitchFamily="34" charset="-120"/>
              </a:rPr>
              <a:t>EUREKA HACKATHON · 2026</a:t>
            </a:r>
            <a:endParaRPr lang="en-US" sz="700" dirty="0"/>
          </a:p>
        </p:txBody>
      </p:sp>
      <p:sp>
        <p:nvSpPr>
          <p:cNvPr id="7" name="Text 5"/>
          <p:cNvSpPr/>
          <p:nvPr/>
        </p:nvSpPr>
        <p:spPr>
          <a:xfrm>
            <a:off x="685800" y="1417320"/>
            <a:ext cx="7589520" cy="804672"/>
          </a:xfrm>
          <a:prstGeom prst="rect">
            <a:avLst/>
          </a:prstGeom>
          <a:noFill/>
          <a:ln/>
        </p:spPr>
        <p:txBody>
          <a:bodyPr wrap="square" lIns="0" tIns="0" rIns="0" bIns="0" rtlCol="0" anchor="ctr">
            <a:normAutofit/>
          </a:bodyPr>
          <a:lstStyle/>
          <a:p>
            <a:pPr indent="0" marL="0">
              <a:buNone/>
            </a:pPr>
            <a:r>
              <a:rPr lang="en-US" sz="4300" b="1" spc="-140" kern="0" dirty="0">
                <a:solidFill>
                  <a:srgbClr val="FFFFFF"/>
                </a:solidFill>
                <a:latin typeface="Aptos Display" pitchFamily="34" charset="0"/>
                <a:ea typeface="Aptos Display" pitchFamily="34" charset="-122"/>
                <a:cs typeface="Aptos Display" pitchFamily="34" charset="-120"/>
              </a:rPr>
              <a:t>ResilienceGuard</a:t>
            </a:r>
            <a:endParaRPr lang="en-US" sz="4300" dirty="0"/>
          </a:p>
        </p:txBody>
      </p:sp>
      <p:sp>
        <p:nvSpPr>
          <p:cNvPr id="8" name="Text 6"/>
          <p:cNvSpPr/>
          <p:nvPr/>
        </p:nvSpPr>
        <p:spPr>
          <a:xfrm>
            <a:off x="713232" y="2450592"/>
            <a:ext cx="7132320" cy="457200"/>
          </a:xfrm>
          <a:prstGeom prst="rect">
            <a:avLst/>
          </a:prstGeom>
          <a:noFill/>
          <a:ln/>
        </p:spPr>
        <p:txBody>
          <a:bodyPr wrap="square" lIns="0" tIns="0" rIns="0" bIns="0" rtlCol="0" anchor="ctr">
            <a:normAutofit/>
          </a:bodyPr>
          <a:lstStyle/>
          <a:p>
            <a:pPr indent="0" marL="0">
              <a:buNone/>
            </a:pPr>
            <a:r>
              <a:rPr lang="en-US" sz="2400" b="1" dirty="0">
                <a:solidFill>
                  <a:srgbClr val="CBEDE4"/>
                </a:solidFill>
                <a:latin typeface="Aptos" pitchFamily="34" charset="0"/>
                <a:ea typeface="Aptos" pitchFamily="34" charset="-122"/>
                <a:cs typeface="Aptos" pitchFamily="34" charset="-120"/>
              </a:rPr>
              <a:t>Know what comes back.</a:t>
            </a:r>
            <a:endParaRPr lang="en-US" sz="2400" dirty="0"/>
          </a:p>
        </p:txBody>
      </p:sp>
      <p:sp>
        <p:nvSpPr>
          <p:cNvPr id="9" name="Text 7"/>
          <p:cNvSpPr/>
          <p:nvPr/>
        </p:nvSpPr>
        <p:spPr>
          <a:xfrm>
            <a:off x="731520" y="3063240"/>
            <a:ext cx="7223760" cy="512064"/>
          </a:xfrm>
          <a:prstGeom prst="rect">
            <a:avLst/>
          </a:prstGeom>
          <a:noFill/>
          <a:ln/>
        </p:spPr>
        <p:txBody>
          <a:bodyPr wrap="square" lIns="0" tIns="0" rIns="0" bIns="0" rtlCol="0" anchor="t">
            <a:normAutofit/>
          </a:bodyPr>
          <a:lstStyle/>
          <a:p>
            <a:pPr indent="0" marL="0">
              <a:buNone/>
            </a:pPr>
            <a:r>
              <a:rPr lang="en-US" sz="1600" dirty="0">
                <a:solidFill>
                  <a:srgbClr val="D0DCE4"/>
                </a:solidFill>
                <a:latin typeface="Aptos" pitchFamily="34" charset="0"/>
                <a:ea typeface="Aptos" pitchFamily="34" charset="-122"/>
                <a:cs typeface="Aptos" pitchFamily="34" charset="-120"/>
              </a:rPr>
              <a:t>See which critical services can return after a cyberattack or physical disaster.</a:t>
            </a:r>
            <a:endParaRPr lang="en-US" sz="1600" dirty="0"/>
          </a:p>
        </p:txBody>
      </p:sp>
      <p:sp>
        <p:nvSpPr>
          <p:cNvPr id="10" name="Shape 8"/>
          <p:cNvSpPr/>
          <p:nvPr/>
        </p:nvSpPr>
        <p:spPr>
          <a:xfrm>
            <a:off x="731520" y="3950208"/>
            <a:ext cx="4572000" cy="0"/>
          </a:xfrm>
          <a:prstGeom prst="line">
            <a:avLst/>
          </a:prstGeom>
          <a:noFill/>
          <a:ln w="12700">
            <a:solidFill>
              <a:srgbClr val="4D7387"/>
            </a:solidFill>
            <a:prstDash val="solid"/>
          </a:ln>
        </p:spPr>
      </p:sp>
      <p:sp>
        <p:nvSpPr>
          <p:cNvPr id="11" name="Text 9"/>
          <p:cNvSpPr/>
          <p:nvPr/>
        </p:nvSpPr>
        <p:spPr>
          <a:xfrm>
            <a:off x="731520" y="4215384"/>
            <a:ext cx="7498080" cy="274320"/>
          </a:xfrm>
          <a:prstGeom prst="rect">
            <a:avLst/>
          </a:prstGeom>
          <a:noFill/>
          <a:ln/>
        </p:spPr>
        <p:txBody>
          <a:bodyPr wrap="square" lIns="0" tIns="0" rIns="0" bIns="0" rtlCol="0" anchor="ctr">
            <a:normAutofit/>
          </a:bodyPr>
          <a:lstStyle/>
          <a:p>
            <a:pPr indent="0" marL="0">
              <a:buNone/>
            </a:pPr>
            <a:r>
              <a:rPr lang="en-US" sz="1100" dirty="0">
                <a:solidFill>
                  <a:srgbClr val="9FB6C2"/>
                </a:solidFill>
                <a:latin typeface="Aptos" pitchFamily="34" charset="0"/>
                <a:ea typeface="Aptos" pitchFamily="34" charset="-122"/>
                <a:cs typeface="Aptos" pitchFamily="34" charset="-120"/>
              </a:rPr>
              <a:t>Backup evidence  ·  dependency blockers  ·  isolated restore proof</a:t>
            </a:r>
            <a:endParaRPr lang="en-US" sz="1100" dirty="0"/>
          </a:p>
        </p:txBody>
      </p:sp>
      <p:sp>
        <p:nvSpPr>
          <p:cNvPr id="12" name="Text 10"/>
          <p:cNvSpPr/>
          <p:nvPr/>
        </p:nvSpPr>
        <p:spPr>
          <a:xfrm>
            <a:off x="731520" y="6245352"/>
            <a:ext cx="6766560" cy="182880"/>
          </a:xfrm>
          <a:prstGeom prst="rect">
            <a:avLst/>
          </a:prstGeom>
          <a:noFill/>
          <a:ln/>
        </p:spPr>
        <p:txBody>
          <a:bodyPr wrap="square" lIns="0" tIns="0" rIns="0" bIns="0" rtlCol="0" anchor="ctr">
            <a:normAutofit/>
          </a:bodyPr>
          <a:lstStyle/>
          <a:p>
            <a:pPr indent="0" marL="0">
              <a:buNone/>
            </a:pPr>
            <a:r>
              <a:rPr lang="en-US" sz="800" spc="35" kern="0" dirty="0">
                <a:solidFill>
                  <a:srgbClr val="829AA9"/>
                </a:solidFill>
                <a:latin typeface="Aptos" pitchFamily="34" charset="0"/>
                <a:ea typeface="Aptos" pitchFamily="34" charset="-122"/>
                <a:cs typeface="Aptos" pitchFamily="34" charset="-120"/>
              </a:rPr>
              <a:t>Synthetic MVP  /  Version 0.1.0  /  26 October 2026</a:t>
            </a:r>
            <a:endParaRPr lang="en-US" sz="800" dirty="0"/>
          </a:p>
        </p:txBody>
      </p:sp>
      <p:sp>
        <p:nvSpPr>
          <p:cNvPr id="13" name="Shape 11"/>
          <p:cNvSpPr/>
          <p:nvPr/>
        </p:nvSpPr>
        <p:spPr>
          <a:xfrm>
            <a:off x="8321040" y="1828800"/>
            <a:ext cx="2240280" cy="2240280"/>
          </a:xfrm>
          <a:prstGeom prst="ellipse">
            <a:avLst/>
          </a:prstGeom>
          <a:solidFill>
            <a:srgbClr val="1D4055">
              <a:alpha val="0"/>
            </a:srgbClr>
          </a:solidFill>
          <a:ln w="19050">
            <a:solidFill>
              <a:srgbClr val="4B8D8B"/>
            </a:solidFill>
            <a:prstDash val="solid"/>
          </a:ln>
        </p:spPr>
      </p:sp>
      <p:sp>
        <p:nvSpPr>
          <p:cNvPr id="14" name="Shape 12"/>
          <p:cNvSpPr/>
          <p:nvPr/>
        </p:nvSpPr>
        <p:spPr>
          <a:xfrm>
            <a:off x="8641080" y="2148840"/>
            <a:ext cx="1600200" cy="1600200"/>
          </a:xfrm>
          <a:prstGeom prst="ellipse">
            <a:avLst/>
          </a:prstGeom>
          <a:solidFill>
            <a:srgbClr val="1D4055">
              <a:alpha val="0"/>
            </a:srgbClr>
          </a:solidFill>
          <a:ln w="19050">
            <a:solidFill>
              <a:srgbClr val="60B3A4"/>
            </a:solidFill>
            <a:prstDash val="solid"/>
          </a:ln>
        </p:spPr>
      </p:sp>
      <p:sp>
        <p:nvSpPr>
          <p:cNvPr id="15" name="Shape 13"/>
          <p:cNvSpPr/>
          <p:nvPr/>
        </p:nvSpPr>
        <p:spPr>
          <a:xfrm>
            <a:off x="8942832" y="2450592"/>
            <a:ext cx="996696" cy="996696"/>
          </a:xfrm>
          <a:prstGeom prst="ellipse">
            <a:avLst/>
          </a:prstGeom>
          <a:solidFill>
            <a:srgbClr val="1A6470"/>
          </a:solidFill>
          <a:ln w="12700">
            <a:solidFill>
              <a:srgbClr val="4EB8A9"/>
            </a:solidFill>
            <a:prstDash val="solid"/>
          </a:ln>
        </p:spPr>
      </p:sp>
      <p:sp>
        <p:nvSpPr>
          <p:cNvPr id="16" name="Text 14"/>
          <p:cNvSpPr/>
          <p:nvPr/>
        </p:nvSpPr>
        <p:spPr>
          <a:xfrm>
            <a:off x="8942832" y="2724912"/>
            <a:ext cx="996696" cy="320040"/>
          </a:xfrm>
          <a:prstGeom prst="rect">
            <a:avLst/>
          </a:prstGeom>
          <a:noFill/>
          <a:ln/>
        </p:spPr>
        <p:txBody>
          <a:bodyPr wrap="square" lIns="0" tIns="0" rIns="0" bIns="0" rtlCol="0" anchor="ctr">
            <a:normAutofit/>
          </a:bodyPr>
          <a:lstStyle/>
          <a:p>
            <a:pPr algn="ctr" indent="0" marL="0">
              <a:buNone/>
            </a:pPr>
            <a:r>
              <a:rPr lang="en-US" sz="1800" b="1" dirty="0">
                <a:solidFill>
                  <a:srgbClr val="FFFFFF"/>
                </a:solidFill>
                <a:latin typeface="Aptos Display" pitchFamily="34" charset="0"/>
                <a:ea typeface="Aptos Display" pitchFamily="34" charset="-122"/>
                <a:cs typeface="Aptos Display" pitchFamily="34" charset="-120"/>
              </a:rPr>
              <a:t>RG</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0881360" cy="164592"/>
          </a:xfrm>
          <a:prstGeom prst="rect">
            <a:avLst/>
          </a:prstGeom>
          <a:noFill/>
          <a:ln/>
        </p:spPr>
        <p:txBody>
          <a:bodyPr wrap="square" lIns="0" tIns="0" rIns="0" bIns="0" rtlCol="0" anchor="ctr">
            <a:normAutofit/>
          </a:bodyPr>
          <a:lstStyle/>
          <a:p>
            <a:pPr indent="0" marL="0">
              <a:buNone/>
            </a:pPr>
            <a:r>
              <a:rPr lang="en-US" sz="800" b="1" spc="160" kern="0" dirty="0">
                <a:solidFill>
                  <a:srgbClr val="16827E"/>
                </a:solidFill>
                <a:latin typeface="Aptos" pitchFamily="34" charset="0"/>
                <a:ea typeface="Aptos" pitchFamily="34" charset="-122"/>
                <a:cs typeface="Aptos" pitchFamily="34" charset="-120"/>
              </a:rPr>
              <a:t>THE RECOVERY GAP</a:t>
            </a:r>
            <a:endParaRPr lang="en-US" sz="800" dirty="0"/>
          </a:p>
        </p:txBody>
      </p:sp>
      <p:sp>
        <p:nvSpPr>
          <p:cNvPr id="3" name="Text 1"/>
          <p:cNvSpPr/>
          <p:nvPr/>
        </p:nvSpPr>
        <p:spPr>
          <a:xfrm>
            <a:off x="566928" y="694944"/>
            <a:ext cx="10972800" cy="438912"/>
          </a:xfrm>
          <a:prstGeom prst="rect">
            <a:avLst/>
          </a:prstGeom>
          <a:noFill/>
          <a:ln/>
        </p:spPr>
        <p:txBody>
          <a:bodyPr wrap="square" lIns="0" tIns="0" rIns="0" bIns="0" rtlCol="0" anchor="ctr">
            <a:normAutofit/>
          </a:bodyPr>
          <a:lstStyle/>
          <a:p>
            <a:pPr indent="0" marL="0">
              <a:buNone/>
            </a:pPr>
            <a:r>
              <a:rPr lang="en-US" sz="2500" b="1" spc="-60" kern="0" dirty="0">
                <a:solidFill>
                  <a:srgbClr val="142C43"/>
                </a:solidFill>
                <a:latin typeface="Aptos Display" pitchFamily="34" charset="0"/>
                <a:ea typeface="Aptos Display" pitchFamily="34" charset="-122"/>
                <a:cs typeface="Aptos Display" pitchFamily="34" charset="-120"/>
              </a:rPr>
              <a:t>A backup is only useful if it can be recovered</a:t>
            </a:r>
            <a:endParaRPr lang="en-US" sz="2500" dirty="0"/>
          </a:p>
        </p:txBody>
      </p:sp>
      <p:sp>
        <p:nvSpPr>
          <p:cNvPr id="4" name="Text 2"/>
          <p:cNvSpPr/>
          <p:nvPr/>
        </p:nvSpPr>
        <p:spPr>
          <a:xfrm>
            <a:off x="585216" y="1216152"/>
            <a:ext cx="10972800" cy="256032"/>
          </a:xfrm>
          <a:prstGeom prst="rect">
            <a:avLst/>
          </a:prstGeom>
          <a:noFill/>
          <a:ln/>
        </p:spPr>
        <p:txBody>
          <a:bodyPr wrap="square" lIns="0" tIns="0" rIns="0" bIns="0" rtlCol="0" anchor="ctr">
            <a:normAutofit/>
          </a:bodyPr>
          <a:lstStyle/>
          <a:p>
            <a:pPr indent="0" marL="0">
              <a:buNone/>
            </a:pPr>
            <a:r>
              <a:rPr lang="en-US" sz="1000" dirty="0">
                <a:solidFill>
                  <a:srgbClr val="718692"/>
                </a:solidFill>
                <a:latin typeface="Aptos" pitchFamily="34" charset="0"/>
                <a:ea typeface="Aptos" pitchFamily="34" charset="-122"/>
                <a:cs typeface="Aptos" pitchFamily="34" charset="-120"/>
              </a:rPr>
              <a:t>The evidence teams need is usually spread across inventories, backup consoles, runbooks and exercise notes.</a:t>
            </a:r>
            <a:endParaRPr lang="en-US" sz="1000" dirty="0"/>
          </a:p>
        </p:txBody>
      </p:sp>
      <p:sp>
        <p:nvSpPr>
          <p:cNvPr id="5" name="Shape 3"/>
          <p:cNvSpPr/>
          <p:nvPr/>
        </p:nvSpPr>
        <p:spPr>
          <a:xfrm>
            <a:off x="594360" y="1737360"/>
            <a:ext cx="3429000" cy="1353312"/>
          </a:xfrm>
          <a:prstGeom prst="roundRect">
            <a:avLst>
              <a:gd name="adj" fmla="val 5405"/>
            </a:avLst>
          </a:prstGeom>
          <a:solidFill>
            <a:srgbClr val="FFFFFF"/>
          </a:solidFill>
          <a:ln w="10160">
            <a:solidFill>
              <a:srgbClr val="DCE6E9"/>
            </a:solidFill>
            <a:prstDash val="solid"/>
          </a:ln>
        </p:spPr>
      </p:sp>
      <p:sp>
        <p:nvSpPr>
          <p:cNvPr id="6" name="Shape 4"/>
          <p:cNvSpPr/>
          <p:nvPr/>
        </p:nvSpPr>
        <p:spPr>
          <a:xfrm>
            <a:off x="758952" y="1901952"/>
            <a:ext cx="301752" cy="301752"/>
          </a:xfrm>
          <a:prstGeom prst="ellipse">
            <a:avLst/>
          </a:prstGeom>
          <a:solidFill>
            <a:srgbClr val="E4F2EC"/>
          </a:solidFill>
          <a:ln w="12700">
            <a:solidFill>
              <a:srgbClr val="E4F2EC"/>
            </a:solidFill>
            <a:prstDash val="solid"/>
          </a:ln>
        </p:spPr>
      </p:sp>
      <p:sp>
        <p:nvSpPr>
          <p:cNvPr id="7" name="Text 5"/>
          <p:cNvSpPr/>
          <p:nvPr/>
        </p:nvSpPr>
        <p:spPr>
          <a:xfrm>
            <a:off x="758952" y="1920240"/>
            <a:ext cx="301752" cy="237744"/>
          </a:xfrm>
          <a:prstGeom prst="rect">
            <a:avLst/>
          </a:prstGeom>
          <a:noFill/>
          <a:ln/>
        </p:spPr>
        <p:txBody>
          <a:bodyPr wrap="square" lIns="0" tIns="0" rIns="0" bIns="0" rtlCol="0" anchor="ctr">
            <a:normAutofit/>
          </a:bodyPr>
          <a:lstStyle/>
          <a:p>
            <a:pPr algn="ctr" indent="0" marL="0">
              <a:buNone/>
            </a:pPr>
            <a:r>
              <a:rPr lang="en-US" sz="1100" b="1" dirty="0">
                <a:solidFill>
                  <a:srgbClr val="16827E"/>
                </a:solidFill>
                <a:latin typeface="Aptos" pitchFamily="34" charset="0"/>
                <a:ea typeface="Aptos" pitchFamily="34" charset="-122"/>
                <a:cs typeface="Aptos" pitchFamily="34" charset="-120"/>
              </a:rPr>
              <a:t>01</a:t>
            </a:r>
            <a:endParaRPr lang="en-US" sz="1100" dirty="0"/>
          </a:p>
        </p:txBody>
      </p:sp>
      <p:sp>
        <p:nvSpPr>
          <p:cNvPr id="8" name="Text 6"/>
          <p:cNvSpPr/>
          <p:nvPr/>
        </p:nvSpPr>
        <p:spPr>
          <a:xfrm>
            <a:off x="1161288" y="1911096"/>
            <a:ext cx="2697480" cy="219456"/>
          </a:xfrm>
          <a:prstGeom prst="rect">
            <a:avLst/>
          </a:prstGeom>
          <a:noFill/>
          <a:ln/>
        </p:spPr>
        <p:txBody>
          <a:bodyPr wrap="square" lIns="0" tIns="0" rIns="0" bIns="0" rtlCol="0" anchor="ctr">
            <a:normAutofit/>
          </a:bodyPr>
          <a:lstStyle/>
          <a:p>
            <a:pPr indent="0" marL="0">
              <a:buNone/>
            </a:pPr>
            <a:r>
              <a:rPr lang="en-US" sz="1200" b="1" dirty="0">
                <a:solidFill>
                  <a:srgbClr val="142C43"/>
                </a:solidFill>
                <a:latin typeface="Aptos" pitchFamily="34" charset="0"/>
                <a:ea typeface="Aptos" pitchFamily="34" charset="-122"/>
                <a:cs typeface="Aptos" pitchFamily="34" charset="-120"/>
              </a:rPr>
              <a:t>Copy exists</a:t>
            </a:r>
            <a:endParaRPr lang="en-US" sz="1200" dirty="0"/>
          </a:p>
        </p:txBody>
      </p:sp>
      <p:sp>
        <p:nvSpPr>
          <p:cNvPr id="9" name="Text 7"/>
          <p:cNvSpPr/>
          <p:nvPr/>
        </p:nvSpPr>
        <p:spPr>
          <a:xfrm>
            <a:off x="777240" y="2350008"/>
            <a:ext cx="3063240" cy="630936"/>
          </a:xfrm>
          <a:prstGeom prst="rect">
            <a:avLst/>
          </a:prstGeom>
          <a:noFill/>
          <a:ln/>
        </p:spPr>
        <p:txBody>
          <a:bodyPr wrap="square" lIns="0" tIns="0" rIns="0" bIns="0" rtlCol="0" anchor="t">
            <a:normAutofit/>
          </a:bodyPr>
          <a:lstStyle/>
          <a:p>
            <a:pPr indent="0" marL="0">
              <a:lnSpc>
                <a:spcPct val="104000"/>
              </a:lnSpc>
              <a:buNone/>
            </a:pPr>
            <a:r>
              <a:rPr lang="en-US" sz="900" dirty="0">
                <a:solidFill>
                  <a:srgbClr val="718692"/>
                </a:solidFill>
                <a:latin typeface="Aptos" pitchFamily="34" charset="0"/>
                <a:ea typeface="Aptos" pitchFamily="34" charset="-122"/>
                <a:cs typeface="Aptos" pitchFamily="34" charset="-120"/>
              </a:rPr>
              <a:t>Is the expected recovery point present, and can responders reach its location after the site is lost?</a:t>
            </a:r>
            <a:endParaRPr lang="en-US" sz="900" dirty="0"/>
          </a:p>
        </p:txBody>
      </p:sp>
      <p:sp>
        <p:nvSpPr>
          <p:cNvPr id="10" name="Shape 8"/>
          <p:cNvSpPr/>
          <p:nvPr/>
        </p:nvSpPr>
        <p:spPr>
          <a:xfrm>
            <a:off x="594360" y="3264408"/>
            <a:ext cx="3429000" cy="1353312"/>
          </a:xfrm>
          <a:prstGeom prst="roundRect">
            <a:avLst>
              <a:gd name="adj" fmla="val 5405"/>
            </a:avLst>
          </a:prstGeom>
          <a:solidFill>
            <a:srgbClr val="FFFFFF"/>
          </a:solidFill>
          <a:ln w="10160">
            <a:solidFill>
              <a:srgbClr val="DCE6E9"/>
            </a:solidFill>
            <a:prstDash val="solid"/>
          </a:ln>
        </p:spPr>
      </p:sp>
      <p:sp>
        <p:nvSpPr>
          <p:cNvPr id="11" name="Shape 9"/>
          <p:cNvSpPr/>
          <p:nvPr/>
        </p:nvSpPr>
        <p:spPr>
          <a:xfrm>
            <a:off x="758952" y="3429000"/>
            <a:ext cx="301752" cy="301752"/>
          </a:xfrm>
          <a:prstGeom prst="ellipse">
            <a:avLst/>
          </a:prstGeom>
          <a:solidFill>
            <a:srgbClr val="FBF3E6"/>
          </a:solidFill>
          <a:ln w="12700">
            <a:solidFill>
              <a:srgbClr val="FBF3E6"/>
            </a:solidFill>
            <a:prstDash val="solid"/>
          </a:ln>
        </p:spPr>
      </p:sp>
      <p:sp>
        <p:nvSpPr>
          <p:cNvPr id="12" name="Text 10"/>
          <p:cNvSpPr/>
          <p:nvPr/>
        </p:nvSpPr>
        <p:spPr>
          <a:xfrm>
            <a:off x="758952" y="3447288"/>
            <a:ext cx="301752" cy="237744"/>
          </a:xfrm>
          <a:prstGeom prst="rect">
            <a:avLst/>
          </a:prstGeom>
          <a:noFill/>
          <a:ln/>
        </p:spPr>
        <p:txBody>
          <a:bodyPr wrap="square" lIns="0" tIns="0" rIns="0" bIns="0" rtlCol="0" anchor="ctr">
            <a:normAutofit/>
          </a:bodyPr>
          <a:lstStyle/>
          <a:p>
            <a:pPr algn="ctr" indent="0" marL="0">
              <a:buNone/>
            </a:pPr>
            <a:r>
              <a:rPr lang="en-US" sz="1100" b="1" dirty="0">
                <a:solidFill>
                  <a:srgbClr val="B7781E"/>
                </a:solidFill>
                <a:latin typeface="Aptos" pitchFamily="34" charset="0"/>
                <a:ea typeface="Aptos" pitchFamily="34" charset="-122"/>
                <a:cs typeface="Aptos" pitchFamily="34" charset="-120"/>
              </a:rPr>
              <a:t>02</a:t>
            </a:r>
            <a:endParaRPr lang="en-US" sz="1100" dirty="0"/>
          </a:p>
        </p:txBody>
      </p:sp>
      <p:sp>
        <p:nvSpPr>
          <p:cNvPr id="13" name="Text 11"/>
          <p:cNvSpPr/>
          <p:nvPr/>
        </p:nvSpPr>
        <p:spPr>
          <a:xfrm>
            <a:off x="1161288" y="3438144"/>
            <a:ext cx="2697480" cy="219456"/>
          </a:xfrm>
          <a:prstGeom prst="rect">
            <a:avLst/>
          </a:prstGeom>
          <a:noFill/>
          <a:ln/>
        </p:spPr>
        <p:txBody>
          <a:bodyPr wrap="square" lIns="0" tIns="0" rIns="0" bIns="0" rtlCol="0" anchor="ctr">
            <a:normAutofit/>
          </a:bodyPr>
          <a:lstStyle/>
          <a:p>
            <a:pPr indent="0" marL="0">
              <a:buNone/>
            </a:pPr>
            <a:r>
              <a:rPr lang="en-US" sz="1200" b="1" dirty="0">
                <a:solidFill>
                  <a:srgbClr val="142C43"/>
                </a:solidFill>
                <a:latin typeface="Aptos" pitchFamily="34" charset="0"/>
                <a:ea typeface="Aptos" pitchFamily="34" charset="-122"/>
                <a:cs typeface="Aptos" pitchFamily="34" charset="-120"/>
              </a:rPr>
              <a:t>Copy can be trusted</a:t>
            </a:r>
            <a:endParaRPr lang="en-US" sz="1200" dirty="0"/>
          </a:p>
        </p:txBody>
      </p:sp>
      <p:sp>
        <p:nvSpPr>
          <p:cNvPr id="14" name="Text 12"/>
          <p:cNvSpPr/>
          <p:nvPr/>
        </p:nvSpPr>
        <p:spPr>
          <a:xfrm>
            <a:off x="777240" y="3877056"/>
            <a:ext cx="3063240" cy="630936"/>
          </a:xfrm>
          <a:prstGeom prst="rect">
            <a:avLst/>
          </a:prstGeom>
          <a:noFill/>
          <a:ln/>
        </p:spPr>
        <p:txBody>
          <a:bodyPr wrap="square" lIns="0" tIns="0" rIns="0" bIns="0" rtlCol="0" anchor="t">
            <a:normAutofit/>
          </a:bodyPr>
          <a:lstStyle/>
          <a:p>
            <a:pPr indent="0" marL="0">
              <a:lnSpc>
                <a:spcPct val="104000"/>
              </a:lnSpc>
              <a:buNone/>
            </a:pPr>
            <a:r>
              <a:rPr lang="en-US" sz="900" dirty="0">
                <a:solidFill>
                  <a:srgbClr val="718692"/>
                </a:solidFill>
                <a:latin typeface="Aptos" pitchFamily="34" charset="0"/>
                <a:ea typeface="Aptos" pitchFamily="34" charset="-122"/>
                <a:cs typeface="Aptos" pitchFamily="34" charset="-120"/>
              </a:rPr>
              <a:t>Is it fresh enough? Does its digest match? Has malware cleanliness actually been established?</a:t>
            </a:r>
            <a:endParaRPr lang="en-US" sz="900" dirty="0"/>
          </a:p>
        </p:txBody>
      </p:sp>
      <p:sp>
        <p:nvSpPr>
          <p:cNvPr id="15" name="Shape 13"/>
          <p:cNvSpPr/>
          <p:nvPr/>
        </p:nvSpPr>
        <p:spPr>
          <a:xfrm>
            <a:off x="594360" y="4791456"/>
            <a:ext cx="3429000" cy="1143000"/>
          </a:xfrm>
          <a:prstGeom prst="roundRect">
            <a:avLst>
              <a:gd name="adj" fmla="val 6400"/>
            </a:avLst>
          </a:prstGeom>
          <a:solidFill>
            <a:srgbClr val="FFFFFF"/>
          </a:solidFill>
          <a:ln w="10160">
            <a:solidFill>
              <a:srgbClr val="DCE6E9"/>
            </a:solidFill>
            <a:prstDash val="solid"/>
          </a:ln>
        </p:spPr>
      </p:sp>
      <p:sp>
        <p:nvSpPr>
          <p:cNvPr id="16" name="Shape 14"/>
          <p:cNvSpPr/>
          <p:nvPr/>
        </p:nvSpPr>
        <p:spPr>
          <a:xfrm>
            <a:off x="758952" y="4956048"/>
            <a:ext cx="301752" cy="301752"/>
          </a:xfrm>
          <a:prstGeom prst="ellipse">
            <a:avLst/>
          </a:prstGeom>
          <a:solidFill>
            <a:srgbClr val="E4F2EC"/>
          </a:solidFill>
          <a:ln w="12700">
            <a:solidFill>
              <a:srgbClr val="E4F2EC"/>
            </a:solidFill>
            <a:prstDash val="solid"/>
          </a:ln>
        </p:spPr>
      </p:sp>
      <p:sp>
        <p:nvSpPr>
          <p:cNvPr id="17" name="Text 15"/>
          <p:cNvSpPr/>
          <p:nvPr/>
        </p:nvSpPr>
        <p:spPr>
          <a:xfrm>
            <a:off x="758952" y="4974336"/>
            <a:ext cx="301752" cy="237744"/>
          </a:xfrm>
          <a:prstGeom prst="rect">
            <a:avLst/>
          </a:prstGeom>
          <a:noFill/>
          <a:ln/>
        </p:spPr>
        <p:txBody>
          <a:bodyPr wrap="square" lIns="0" tIns="0" rIns="0" bIns="0" rtlCol="0" anchor="ctr">
            <a:normAutofit/>
          </a:bodyPr>
          <a:lstStyle/>
          <a:p>
            <a:pPr algn="ctr" indent="0" marL="0">
              <a:buNone/>
            </a:pPr>
            <a:r>
              <a:rPr lang="en-US" sz="1100" b="1" dirty="0">
                <a:solidFill>
                  <a:srgbClr val="16827E"/>
                </a:solidFill>
                <a:latin typeface="Aptos" pitchFamily="34" charset="0"/>
                <a:ea typeface="Aptos" pitchFamily="34" charset="-122"/>
                <a:cs typeface="Aptos" pitchFamily="34" charset="-120"/>
              </a:rPr>
              <a:t>03</a:t>
            </a:r>
            <a:endParaRPr lang="en-US" sz="1100" dirty="0"/>
          </a:p>
        </p:txBody>
      </p:sp>
      <p:sp>
        <p:nvSpPr>
          <p:cNvPr id="18" name="Text 16"/>
          <p:cNvSpPr/>
          <p:nvPr/>
        </p:nvSpPr>
        <p:spPr>
          <a:xfrm>
            <a:off x="1161288" y="4965192"/>
            <a:ext cx="2697480" cy="219456"/>
          </a:xfrm>
          <a:prstGeom prst="rect">
            <a:avLst/>
          </a:prstGeom>
          <a:noFill/>
          <a:ln/>
        </p:spPr>
        <p:txBody>
          <a:bodyPr wrap="square" lIns="0" tIns="0" rIns="0" bIns="0" rtlCol="0" anchor="ctr">
            <a:normAutofit/>
          </a:bodyPr>
          <a:lstStyle/>
          <a:p>
            <a:pPr indent="0" marL="0">
              <a:buNone/>
            </a:pPr>
            <a:r>
              <a:rPr lang="en-US" sz="1200" b="1" dirty="0">
                <a:solidFill>
                  <a:srgbClr val="142C43"/>
                </a:solidFill>
                <a:latin typeface="Aptos" pitchFamily="34" charset="0"/>
                <a:ea typeface="Aptos" pitchFamily="34" charset="-122"/>
                <a:cs typeface="Aptos" pitchFamily="34" charset="-120"/>
              </a:rPr>
              <a:t>Service can return</a:t>
            </a:r>
            <a:endParaRPr lang="en-US" sz="1200" dirty="0"/>
          </a:p>
        </p:txBody>
      </p:sp>
      <p:sp>
        <p:nvSpPr>
          <p:cNvPr id="19" name="Text 17"/>
          <p:cNvSpPr/>
          <p:nvPr/>
        </p:nvSpPr>
        <p:spPr>
          <a:xfrm>
            <a:off x="777240" y="5404104"/>
            <a:ext cx="3063240" cy="420624"/>
          </a:xfrm>
          <a:prstGeom prst="rect">
            <a:avLst/>
          </a:prstGeom>
          <a:noFill/>
          <a:ln/>
        </p:spPr>
        <p:txBody>
          <a:bodyPr wrap="square" lIns="0" tIns="0" rIns="0" bIns="0" rtlCol="0" anchor="t">
            <a:normAutofit/>
          </a:bodyPr>
          <a:lstStyle/>
          <a:p>
            <a:pPr indent="0" marL="0">
              <a:lnSpc>
                <a:spcPct val="104000"/>
              </a:lnSpc>
              <a:buNone/>
            </a:pPr>
            <a:r>
              <a:rPr lang="en-US" sz="900" dirty="0">
                <a:solidFill>
                  <a:srgbClr val="718692"/>
                </a:solidFill>
                <a:latin typeface="Aptos" pitchFamily="34" charset="0"/>
                <a:ea typeface="Aptos" pitchFamily="34" charset="-122"/>
                <a:cs typeface="Aptos" pitchFamily="34" charset="-120"/>
              </a:rPr>
              <a:t>Are identity, networks, storage and upstream applications available in the right order?</a:t>
            </a:r>
            <a:endParaRPr lang="en-US" sz="900" dirty="0"/>
          </a:p>
        </p:txBody>
      </p:sp>
      <p:sp>
        <p:nvSpPr>
          <p:cNvPr id="20" name="Shape 18"/>
          <p:cNvSpPr/>
          <p:nvPr/>
        </p:nvSpPr>
        <p:spPr>
          <a:xfrm>
            <a:off x="4416552" y="1737360"/>
            <a:ext cx="7150608" cy="4197096"/>
          </a:xfrm>
          <a:prstGeom prst="roundRect">
            <a:avLst>
              <a:gd name="adj" fmla="val 1743"/>
            </a:avLst>
          </a:prstGeom>
          <a:solidFill>
            <a:srgbClr val="142C43"/>
          </a:solidFill>
          <a:ln w="10160">
            <a:solidFill>
              <a:srgbClr val="142C43"/>
            </a:solidFill>
            <a:prstDash val="solid"/>
          </a:ln>
        </p:spPr>
      </p:sp>
      <p:sp>
        <p:nvSpPr>
          <p:cNvPr id="21" name="Text 19"/>
          <p:cNvSpPr/>
          <p:nvPr/>
        </p:nvSpPr>
        <p:spPr>
          <a:xfrm>
            <a:off x="4754880" y="2057400"/>
            <a:ext cx="2468880" cy="182880"/>
          </a:xfrm>
          <a:prstGeom prst="rect">
            <a:avLst/>
          </a:prstGeom>
          <a:noFill/>
          <a:ln/>
        </p:spPr>
        <p:txBody>
          <a:bodyPr wrap="square" lIns="0" tIns="0" rIns="0" bIns="0" rtlCol="0" anchor="ctr">
            <a:normAutofit/>
          </a:bodyPr>
          <a:lstStyle/>
          <a:p>
            <a:pPr indent="0" marL="0">
              <a:buNone/>
            </a:pPr>
            <a:r>
              <a:rPr lang="en-US" sz="800" b="1" spc="120" kern="0" dirty="0">
                <a:solidFill>
                  <a:srgbClr val="86B7B3"/>
                </a:solidFill>
                <a:latin typeface="Aptos" pitchFamily="34" charset="0"/>
                <a:ea typeface="Aptos" pitchFamily="34" charset="-122"/>
                <a:cs typeface="Aptos" pitchFamily="34" charset="-120"/>
              </a:rPr>
              <a:t>WHEN A CRISIS HITS</a:t>
            </a:r>
            <a:endParaRPr lang="en-US" sz="800" dirty="0"/>
          </a:p>
        </p:txBody>
      </p:sp>
      <p:sp>
        <p:nvSpPr>
          <p:cNvPr id="22" name="Text 20"/>
          <p:cNvSpPr/>
          <p:nvPr/>
        </p:nvSpPr>
        <p:spPr>
          <a:xfrm>
            <a:off x="4754880" y="2542032"/>
            <a:ext cx="6217920" cy="1024128"/>
          </a:xfrm>
          <a:prstGeom prst="rect">
            <a:avLst/>
          </a:prstGeom>
          <a:noFill/>
          <a:ln/>
        </p:spPr>
        <p:txBody>
          <a:bodyPr wrap="square" lIns="0" tIns="0" rIns="0" bIns="0" rtlCol="0" anchor="t">
            <a:normAutofit/>
          </a:bodyPr>
          <a:lstStyle/>
          <a:p>
            <a:pPr indent="0" marL="0">
              <a:buNone/>
            </a:pPr>
            <a:r>
              <a:rPr lang="en-US" sz="2500" b="1" dirty="0">
                <a:solidFill>
                  <a:srgbClr val="FFFFFF"/>
                </a:solidFill>
                <a:latin typeface="Aptos Display" pitchFamily="34" charset="0"/>
                <a:ea typeface="Aptos Display" pitchFamily="34" charset="-122"/>
                <a:cs typeface="Aptos Display" pitchFamily="34" charset="-120"/>
              </a:rPr>
              <a:t>“Which saved copy can we test,</a:t>
            </a:r>
            <a:endParaRPr lang="en-US" sz="2500" dirty="0"/>
          </a:p>
          <a:p>
            <a:pPr indent="0" marL="0">
              <a:buNone/>
            </a:pPr>
            <a:r>
              <a:rPr lang="en-US" sz="2500" b="1" dirty="0">
                <a:solidFill>
                  <a:srgbClr val="FFFFFF"/>
                </a:solidFill>
                <a:latin typeface="Aptos Display" pitchFamily="34" charset="0"/>
                <a:ea typeface="Aptos Display" pitchFamily="34" charset="-122"/>
                <a:cs typeface="Aptos Display" pitchFamily="34" charset="-120"/>
              </a:rPr>
              <a:t>and what blocks the service?”</a:t>
            </a:r>
            <a:endParaRPr lang="en-US" sz="2500" dirty="0"/>
          </a:p>
        </p:txBody>
      </p:sp>
      <p:sp>
        <p:nvSpPr>
          <p:cNvPr id="23" name="Shape 21"/>
          <p:cNvSpPr/>
          <p:nvPr/>
        </p:nvSpPr>
        <p:spPr>
          <a:xfrm>
            <a:off x="4754880" y="3840480"/>
            <a:ext cx="6400800" cy="0"/>
          </a:xfrm>
          <a:prstGeom prst="line">
            <a:avLst/>
          </a:prstGeom>
          <a:noFill/>
          <a:ln w="12700">
            <a:solidFill>
              <a:srgbClr val="3A5669"/>
            </a:solidFill>
            <a:prstDash val="solid"/>
          </a:ln>
        </p:spPr>
      </p:sp>
      <p:sp>
        <p:nvSpPr>
          <p:cNvPr id="24" name="Shape 22"/>
          <p:cNvSpPr/>
          <p:nvPr/>
        </p:nvSpPr>
        <p:spPr>
          <a:xfrm>
            <a:off x="4754880" y="4178808"/>
            <a:ext cx="1261872" cy="246888"/>
          </a:xfrm>
          <a:prstGeom prst="roundRect">
            <a:avLst>
              <a:gd name="adj" fmla="val 29630"/>
            </a:avLst>
          </a:prstGeom>
          <a:solidFill>
            <a:srgbClr val="F8EBE9"/>
          </a:solidFill>
          <a:ln w="10160">
            <a:solidFill>
              <a:srgbClr val="F8EBE9"/>
            </a:solidFill>
            <a:prstDash val="solid"/>
          </a:ln>
        </p:spPr>
      </p:sp>
      <p:sp>
        <p:nvSpPr>
          <p:cNvPr id="25" name="Text 23"/>
          <p:cNvSpPr/>
          <p:nvPr/>
        </p:nvSpPr>
        <p:spPr>
          <a:xfrm>
            <a:off x="4809744" y="4192524"/>
            <a:ext cx="1152144" cy="201168"/>
          </a:xfrm>
          <a:prstGeom prst="rect">
            <a:avLst/>
          </a:prstGeom>
          <a:noFill/>
          <a:ln/>
        </p:spPr>
        <p:txBody>
          <a:bodyPr wrap="square" lIns="0" tIns="0" rIns="0" bIns="0" rtlCol="0" anchor="ctr">
            <a:normAutofit/>
          </a:bodyPr>
          <a:lstStyle/>
          <a:p>
            <a:pPr algn="ctr" indent="0" marL="0">
              <a:buNone/>
            </a:pPr>
            <a:r>
              <a:rPr lang="en-US" sz="700" b="1" spc="50" kern="0" dirty="0">
                <a:solidFill>
                  <a:srgbClr val="BF5851"/>
                </a:solidFill>
                <a:latin typeface="Aptos" pitchFamily="34" charset="0"/>
                <a:ea typeface="Aptos" pitchFamily="34" charset="-122"/>
                <a:cs typeface="Aptos" pitchFamily="34" charset="-120"/>
              </a:rPr>
              <a:t>CYBER</a:t>
            </a:r>
            <a:endParaRPr lang="en-US" sz="700" dirty="0"/>
          </a:p>
        </p:txBody>
      </p:sp>
      <p:sp>
        <p:nvSpPr>
          <p:cNvPr id="26" name="Text 24"/>
          <p:cNvSpPr/>
          <p:nvPr/>
        </p:nvSpPr>
        <p:spPr>
          <a:xfrm>
            <a:off x="4754880" y="4562856"/>
            <a:ext cx="1645920" cy="228600"/>
          </a:xfrm>
          <a:prstGeom prst="rect">
            <a:avLst/>
          </a:prstGeom>
          <a:noFill/>
          <a:ln/>
        </p:spPr>
        <p:txBody>
          <a:bodyPr wrap="square" lIns="0" tIns="0" rIns="0" bIns="0" rtlCol="0" anchor="ctr">
            <a:normAutofit/>
          </a:bodyPr>
          <a:lstStyle/>
          <a:p>
            <a:pPr indent="0" marL="0">
              <a:buNone/>
            </a:pPr>
            <a:r>
              <a:rPr lang="en-US" sz="900" dirty="0">
                <a:solidFill>
                  <a:srgbClr val="B8C8D0"/>
                </a:solidFill>
                <a:latin typeface="Aptos" pitchFamily="34" charset="0"/>
                <a:ea typeface="Aptos" pitchFamily="34" charset="-122"/>
                <a:cs typeface="Aptos" pitchFamily="34" charset="-120"/>
              </a:rPr>
              <a:t>ransomware</a:t>
            </a:r>
            <a:endParaRPr lang="en-US" sz="900" dirty="0"/>
          </a:p>
        </p:txBody>
      </p:sp>
      <p:sp>
        <p:nvSpPr>
          <p:cNvPr id="27" name="Shape 25"/>
          <p:cNvSpPr/>
          <p:nvPr/>
        </p:nvSpPr>
        <p:spPr>
          <a:xfrm>
            <a:off x="6812280" y="4178808"/>
            <a:ext cx="1261872" cy="246888"/>
          </a:xfrm>
          <a:prstGeom prst="roundRect">
            <a:avLst>
              <a:gd name="adj" fmla="val 29630"/>
            </a:avLst>
          </a:prstGeom>
          <a:solidFill>
            <a:srgbClr val="E9F1F6"/>
          </a:solidFill>
          <a:ln w="10160">
            <a:solidFill>
              <a:srgbClr val="E9F1F6"/>
            </a:solidFill>
            <a:prstDash val="solid"/>
          </a:ln>
        </p:spPr>
      </p:sp>
      <p:sp>
        <p:nvSpPr>
          <p:cNvPr id="28" name="Text 26"/>
          <p:cNvSpPr/>
          <p:nvPr/>
        </p:nvSpPr>
        <p:spPr>
          <a:xfrm>
            <a:off x="6867144" y="4192524"/>
            <a:ext cx="1152144" cy="201168"/>
          </a:xfrm>
          <a:prstGeom prst="rect">
            <a:avLst/>
          </a:prstGeom>
          <a:noFill/>
          <a:ln/>
        </p:spPr>
        <p:txBody>
          <a:bodyPr wrap="square" lIns="0" tIns="0" rIns="0" bIns="0" rtlCol="0" anchor="ctr">
            <a:normAutofit/>
          </a:bodyPr>
          <a:lstStyle/>
          <a:p>
            <a:pPr algn="ctr" indent="0" marL="0">
              <a:buNone/>
            </a:pPr>
            <a:r>
              <a:rPr lang="en-US" sz="700" b="1" spc="50" kern="0" dirty="0">
                <a:solidFill>
                  <a:srgbClr val="557E9C"/>
                </a:solidFill>
                <a:latin typeface="Aptos" pitchFamily="34" charset="0"/>
                <a:ea typeface="Aptos" pitchFamily="34" charset="-122"/>
                <a:cs typeface="Aptos" pitchFamily="34" charset="-120"/>
              </a:rPr>
              <a:t>PHYSICAL</a:t>
            </a:r>
            <a:endParaRPr lang="en-US" sz="700" dirty="0"/>
          </a:p>
        </p:txBody>
      </p:sp>
      <p:sp>
        <p:nvSpPr>
          <p:cNvPr id="29" name="Text 27"/>
          <p:cNvSpPr/>
          <p:nvPr/>
        </p:nvSpPr>
        <p:spPr>
          <a:xfrm>
            <a:off x="6812280" y="4562856"/>
            <a:ext cx="1645920" cy="228600"/>
          </a:xfrm>
          <a:prstGeom prst="rect">
            <a:avLst/>
          </a:prstGeom>
          <a:noFill/>
          <a:ln/>
        </p:spPr>
        <p:txBody>
          <a:bodyPr wrap="square" lIns="0" tIns="0" rIns="0" bIns="0" rtlCol="0" anchor="ctr">
            <a:normAutofit/>
          </a:bodyPr>
          <a:lstStyle/>
          <a:p>
            <a:pPr indent="0" marL="0">
              <a:buNone/>
            </a:pPr>
            <a:r>
              <a:rPr lang="en-US" sz="900" dirty="0">
                <a:solidFill>
                  <a:srgbClr val="B8C8D0"/>
                </a:solidFill>
                <a:latin typeface="Aptos" pitchFamily="34" charset="0"/>
                <a:ea typeface="Aptos" pitchFamily="34" charset="-122"/>
                <a:cs typeface="Aptos" pitchFamily="34" charset="-120"/>
              </a:rPr>
              <a:t>facility loss</a:t>
            </a:r>
            <a:endParaRPr lang="en-US" sz="900" dirty="0"/>
          </a:p>
        </p:txBody>
      </p:sp>
      <p:sp>
        <p:nvSpPr>
          <p:cNvPr id="30" name="Shape 28"/>
          <p:cNvSpPr/>
          <p:nvPr/>
        </p:nvSpPr>
        <p:spPr>
          <a:xfrm>
            <a:off x="8869680" y="4178808"/>
            <a:ext cx="1261872" cy="246888"/>
          </a:xfrm>
          <a:prstGeom prst="roundRect">
            <a:avLst>
              <a:gd name="adj" fmla="val 29630"/>
            </a:avLst>
          </a:prstGeom>
          <a:solidFill>
            <a:srgbClr val="FBF3E6"/>
          </a:solidFill>
          <a:ln w="10160">
            <a:solidFill>
              <a:srgbClr val="FBF3E6"/>
            </a:solidFill>
            <a:prstDash val="solid"/>
          </a:ln>
        </p:spPr>
      </p:sp>
      <p:sp>
        <p:nvSpPr>
          <p:cNvPr id="31" name="Text 29"/>
          <p:cNvSpPr/>
          <p:nvPr/>
        </p:nvSpPr>
        <p:spPr>
          <a:xfrm>
            <a:off x="8924544" y="4192524"/>
            <a:ext cx="1152144" cy="201168"/>
          </a:xfrm>
          <a:prstGeom prst="rect">
            <a:avLst/>
          </a:prstGeom>
          <a:noFill/>
          <a:ln/>
        </p:spPr>
        <p:txBody>
          <a:bodyPr wrap="square" lIns="0" tIns="0" rIns="0" bIns="0" rtlCol="0" anchor="ctr">
            <a:normAutofit/>
          </a:bodyPr>
          <a:lstStyle/>
          <a:p>
            <a:pPr algn="ctr" indent="0" marL="0">
              <a:buNone/>
            </a:pPr>
            <a:r>
              <a:rPr lang="en-US" sz="700" b="1" spc="50" kern="0" dirty="0">
                <a:solidFill>
                  <a:srgbClr val="B7781E"/>
                </a:solidFill>
                <a:latin typeface="Aptos" pitchFamily="34" charset="0"/>
                <a:ea typeface="Aptos" pitchFamily="34" charset="-122"/>
                <a:cs typeface="Aptos" pitchFamily="34" charset="-120"/>
              </a:rPr>
              <a:t>COMPOUND</a:t>
            </a:r>
            <a:endParaRPr lang="en-US" sz="700" dirty="0"/>
          </a:p>
        </p:txBody>
      </p:sp>
      <p:sp>
        <p:nvSpPr>
          <p:cNvPr id="32" name="Text 30"/>
          <p:cNvSpPr/>
          <p:nvPr/>
        </p:nvSpPr>
        <p:spPr>
          <a:xfrm>
            <a:off x="8869680" y="4562856"/>
            <a:ext cx="1645920" cy="228600"/>
          </a:xfrm>
          <a:prstGeom prst="rect">
            <a:avLst/>
          </a:prstGeom>
          <a:noFill/>
          <a:ln/>
        </p:spPr>
        <p:txBody>
          <a:bodyPr wrap="square" lIns="0" tIns="0" rIns="0" bIns="0" rtlCol="0" anchor="ctr">
            <a:normAutofit/>
          </a:bodyPr>
          <a:lstStyle/>
          <a:p>
            <a:pPr indent="0" marL="0">
              <a:buNone/>
            </a:pPr>
            <a:r>
              <a:rPr lang="en-US" sz="900" dirty="0">
                <a:solidFill>
                  <a:srgbClr val="B8C8D0"/>
                </a:solidFill>
                <a:latin typeface="Aptos" pitchFamily="34" charset="0"/>
                <a:ea typeface="Aptos" pitchFamily="34" charset="-122"/>
                <a:cs typeface="Aptos" pitchFamily="34" charset="-120"/>
              </a:rPr>
              <a:t>power + network</a:t>
            </a:r>
            <a:endParaRPr lang="en-US" sz="900" dirty="0"/>
          </a:p>
        </p:txBody>
      </p:sp>
      <p:sp>
        <p:nvSpPr>
          <p:cNvPr id="33" name="Text 31"/>
          <p:cNvSpPr/>
          <p:nvPr/>
        </p:nvSpPr>
        <p:spPr>
          <a:xfrm>
            <a:off x="4754880" y="5330952"/>
            <a:ext cx="6217920" cy="228600"/>
          </a:xfrm>
          <a:prstGeom prst="rect">
            <a:avLst/>
          </a:prstGeom>
          <a:noFill/>
          <a:ln/>
        </p:spPr>
        <p:txBody>
          <a:bodyPr wrap="square" lIns="0" tIns="0" rIns="0" bIns="0" rtlCol="0" anchor="ctr">
            <a:normAutofit/>
          </a:bodyPr>
          <a:lstStyle/>
          <a:p>
            <a:pPr indent="0" marL="0">
              <a:buNone/>
            </a:pPr>
            <a:r>
              <a:rPr lang="en-US" sz="1100" b="1" dirty="0">
                <a:solidFill>
                  <a:srgbClr val="D5E6E8"/>
                </a:solidFill>
                <a:latin typeface="Aptos" pitchFamily="34" charset="0"/>
                <a:ea typeface="Aptos" pitchFamily="34" charset="-122"/>
                <a:cs typeface="Aptos" pitchFamily="34" charset="-120"/>
              </a:rPr>
              <a:t>Preparedness is observable evidence, not a backup-job status.</a:t>
            </a:r>
            <a:endParaRPr lang="en-US" sz="1100" dirty="0"/>
          </a:p>
        </p:txBody>
      </p:sp>
      <p:sp>
        <p:nvSpPr>
          <p:cNvPr id="25" name="Slide Number Placeholder 0"/>
          <p:cNvSpPr>
            <a:spLocks noGrp="1"/>
          </p:cNvSpPr>
          <p:nvPr>
            <p:ph type="sldNum" sz="quarter" idx="4294967295"/>
          </p:nvPr>
        </p:nvSpPr>
        <p:spPr>
          <a:xfrm>
            <a:off x="11740896" y="6547104"/>
            <a:ext cx="228600" cy="146304"/>
          </a:xfrm>
          <a:prstGeom prst="rect">
            <a:avLst/>
          </a:prstGeom>
          <a:extLst>
            <a:ext uri="{C572A759-6A51-4108-AA02-DFA0A04FC94B}">
              <ma14:wrappingTextBoxFlag xmlns:ma14="http://schemas.microsoft.com/office/mac/drawingml/2011/main" val="0"/>
            </a:ext>
          </a:extLst>
        </p:spPr>
        <p:txBody>
          <a:bodyPr/>
          <a:lstStyle>
            <a:lvl1pPr>
              <a:defRPr sz="700">
                <a:solidFill>
                  <a:srgbClr val="80929D"/>
                </a:solidFill>
                <a:latin typeface="Aptos"/>
                <a:ea typeface="Aptos"/>
                <a:cs typeface="Aptos"/>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84048"/>
            <a:ext cx="10881360" cy="164592"/>
          </a:xfrm>
          <a:prstGeom prst="rect">
            <a:avLst/>
          </a:prstGeom>
          <a:noFill/>
          <a:ln/>
        </p:spPr>
        <p:txBody>
          <a:bodyPr wrap="square" lIns="0" tIns="0" rIns="0" bIns="0" rtlCol="0" anchor="ctr">
            <a:normAutofit/>
          </a:bodyPr>
          <a:lstStyle/>
          <a:p>
            <a:pPr indent="0" marL="0">
              <a:buNone/>
            </a:pPr>
            <a:r>
              <a:rPr lang="en-US" sz="800" b="1" spc="160" kern="0" dirty="0">
                <a:solidFill>
                  <a:srgbClr val="16827E"/>
                </a:solidFill>
                <a:latin typeface="Aptos" pitchFamily="34" charset="0"/>
                <a:ea typeface="Aptos" pitchFamily="34" charset="-122"/>
                <a:cs typeface="Aptos" pitchFamily="34" charset="-120"/>
              </a:rPr>
              <a:t>WHO NEEDS THIS</a:t>
            </a:r>
            <a:endParaRPr lang="en-US" sz="800" dirty="0"/>
          </a:p>
        </p:txBody>
      </p:sp>
      <p:sp>
        <p:nvSpPr>
          <p:cNvPr id="3" name="Text 1"/>
          <p:cNvSpPr/>
          <p:nvPr/>
        </p:nvSpPr>
        <p:spPr>
          <a:xfrm>
            <a:off x="566928" y="694944"/>
            <a:ext cx="10972800" cy="438912"/>
          </a:xfrm>
          <a:prstGeom prst="rect">
            <a:avLst/>
          </a:prstGeom>
          <a:noFill/>
          <a:ln/>
        </p:spPr>
        <p:txBody>
          <a:bodyPr wrap="square" lIns="0" tIns="0" rIns="0" bIns="0" rtlCol="0" anchor="ctr">
            <a:normAutofit/>
          </a:bodyPr>
          <a:lstStyle/>
          <a:p>
            <a:pPr indent="0" marL="0">
              <a:buNone/>
            </a:pPr>
            <a:r>
              <a:rPr lang="en-US" sz="2500" b="1" spc="-60" kern="0" dirty="0">
                <a:solidFill>
                  <a:srgbClr val="142C43"/>
                </a:solidFill>
                <a:latin typeface="Aptos Display" pitchFamily="34" charset="0"/>
                <a:ea typeface="Aptos Display" pitchFamily="34" charset="-122"/>
                <a:cs typeface="Aptos Display" pitchFamily="34" charset="-120"/>
              </a:rPr>
              <a:t>Critical-service teams need one shared recovery picture</a:t>
            </a:r>
            <a:endParaRPr lang="en-US" sz="2500" dirty="0"/>
          </a:p>
        </p:txBody>
      </p:sp>
      <p:sp>
        <p:nvSpPr>
          <p:cNvPr id="4" name="Text 2"/>
          <p:cNvSpPr/>
          <p:nvPr/>
        </p:nvSpPr>
        <p:spPr>
          <a:xfrm>
            <a:off x="585216" y="1216152"/>
            <a:ext cx="10972800" cy="256032"/>
          </a:xfrm>
          <a:prstGeom prst="rect">
            <a:avLst/>
          </a:prstGeom>
          <a:noFill/>
          <a:ln/>
        </p:spPr>
        <p:txBody>
          <a:bodyPr wrap="square" lIns="0" tIns="0" rIns="0" bIns="0" rtlCol="0" anchor="ctr">
            <a:normAutofit/>
          </a:bodyPr>
          <a:lstStyle/>
          <a:p>
            <a:pPr indent="0" marL="0">
              <a:buNone/>
            </a:pPr>
            <a:r>
              <a:rPr lang="en-US" sz="1000" dirty="0">
                <a:solidFill>
                  <a:srgbClr val="718692"/>
                </a:solidFill>
                <a:latin typeface="Aptos" pitchFamily="34" charset="0"/>
                <a:ea typeface="Aptos" pitchFamily="34" charset="-122"/>
                <a:cs typeface="Aptos" pitchFamily="34" charset="-120"/>
              </a:rPr>
              <a:t>Start with operators who must prove continuity across fragmented systems and teams.</a:t>
            </a:r>
            <a:endParaRPr lang="en-US" sz="1000" dirty="0"/>
          </a:p>
        </p:txBody>
      </p:sp>
      <p:sp>
        <p:nvSpPr>
          <p:cNvPr id="5" name="Shape 3"/>
          <p:cNvSpPr/>
          <p:nvPr/>
        </p:nvSpPr>
        <p:spPr>
          <a:xfrm>
            <a:off x="640080" y="1828800"/>
            <a:ext cx="3410712" cy="2148840"/>
          </a:xfrm>
          <a:prstGeom prst="roundRect">
            <a:avLst>
              <a:gd name="adj" fmla="val 3404"/>
            </a:avLst>
          </a:prstGeom>
          <a:solidFill>
            <a:srgbClr val="FFFFFF"/>
          </a:solidFill>
          <a:ln w="10160">
            <a:solidFill>
              <a:srgbClr val="DCE6E9"/>
            </a:solidFill>
            <a:prstDash val="solid"/>
          </a:ln>
        </p:spPr>
      </p:sp>
      <p:sp>
        <p:nvSpPr>
          <p:cNvPr id="6" name="Shape 4"/>
          <p:cNvSpPr/>
          <p:nvPr/>
        </p:nvSpPr>
        <p:spPr>
          <a:xfrm>
            <a:off x="822960" y="2011680"/>
            <a:ext cx="347472" cy="347472"/>
          </a:xfrm>
          <a:prstGeom prst="ellipse">
            <a:avLst/>
          </a:prstGeom>
          <a:solidFill>
            <a:srgbClr val="E4F2EC"/>
          </a:solidFill>
          <a:ln w="12700">
            <a:solidFill>
              <a:srgbClr val="E4F2EC"/>
            </a:solidFill>
            <a:prstDash val="solid"/>
          </a:ln>
        </p:spPr>
      </p:sp>
      <p:sp>
        <p:nvSpPr>
          <p:cNvPr id="7" name="Text 5"/>
          <p:cNvSpPr/>
          <p:nvPr/>
        </p:nvSpPr>
        <p:spPr>
          <a:xfrm>
            <a:off x="822960" y="2103120"/>
            <a:ext cx="347472" cy="128016"/>
          </a:xfrm>
          <a:prstGeom prst="rect">
            <a:avLst/>
          </a:prstGeom>
          <a:noFill/>
          <a:ln/>
        </p:spPr>
        <p:txBody>
          <a:bodyPr wrap="square" lIns="0" tIns="0" rIns="0" bIns="0" rtlCol="0" anchor="ctr">
            <a:normAutofit/>
          </a:bodyPr>
          <a:lstStyle/>
          <a:p>
            <a:pPr algn="ctr" indent="0" marL="0">
              <a:buNone/>
            </a:pPr>
            <a:r>
              <a:rPr lang="en-US" sz="900" b="1" dirty="0">
                <a:solidFill>
                  <a:srgbClr val="16827E"/>
                </a:solidFill>
                <a:latin typeface="Aptos" pitchFamily="34" charset="0"/>
                <a:ea typeface="Aptos" pitchFamily="34" charset="-122"/>
                <a:cs typeface="Aptos" pitchFamily="34" charset="-120"/>
              </a:rPr>
              <a:t>H</a:t>
            </a:r>
            <a:endParaRPr lang="en-US" sz="900" dirty="0"/>
          </a:p>
        </p:txBody>
      </p:sp>
      <p:sp>
        <p:nvSpPr>
          <p:cNvPr id="8" name="Text 6"/>
          <p:cNvSpPr/>
          <p:nvPr/>
        </p:nvSpPr>
        <p:spPr>
          <a:xfrm>
            <a:off x="1280160" y="2048256"/>
            <a:ext cx="2377440" cy="146304"/>
          </a:xfrm>
          <a:prstGeom prst="rect">
            <a:avLst/>
          </a:prstGeom>
          <a:noFill/>
          <a:ln/>
        </p:spPr>
        <p:txBody>
          <a:bodyPr wrap="square" lIns="0" tIns="0" rIns="0" bIns="0" rtlCol="0" anchor="ctr">
            <a:normAutofit/>
          </a:bodyPr>
          <a:lstStyle/>
          <a:p>
            <a:pPr indent="0" marL="0">
              <a:buNone/>
            </a:pPr>
            <a:r>
              <a:rPr lang="en-US" sz="800" b="1" spc="70" kern="0" dirty="0">
                <a:solidFill>
                  <a:srgbClr val="16827E"/>
                </a:solidFill>
                <a:latin typeface="Aptos" pitchFamily="34" charset="0"/>
                <a:ea typeface="Aptos" pitchFamily="34" charset="-122"/>
                <a:cs typeface="Aptos" pitchFamily="34" charset="-120"/>
              </a:rPr>
              <a:t>HOSPITALS</a:t>
            </a:r>
            <a:endParaRPr lang="en-US" sz="800" dirty="0"/>
          </a:p>
        </p:txBody>
      </p:sp>
      <p:sp>
        <p:nvSpPr>
          <p:cNvPr id="9" name="Text 7"/>
          <p:cNvSpPr/>
          <p:nvPr/>
        </p:nvSpPr>
        <p:spPr>
          <a:xfrm>
            <a:off x="841248" y="2670048"/>
            <a:ext cx="2999232" cy="256032"/>
          </a:xfrm>
          <a:prstGeom prst="rect">
            <a:avLst/>
          </a:prstGeom>
          <a:noFill/>
          <a:ln/>
        </p:spPr>
        <p:txBody>
          <a:bodyPr wrap="square" lIns="0" tIns="0" rIns="0" bIns="0" rtlCol="0" anchor="ctr">
            <a:normAutofit/>
          </a:bodyPr>
          <a:lstStyle/>
          <a:p>
            <a:pPr indent="0" marL="0">
              <a:buNone/>
            </a:pPr>
            <a:r>
              <a:rPr lang="en-US" sz="1400" b="1" dirty="0">
                <a:solidFill>
                  <a:srgbClr val="142C43"/>
                </a:solidFill>
                <a:latin typeface="Aptos Display" pitchFamily="34" charset="0"/>
                <a:ea typeface="Aptos Display" pitchFamily="34" charset="-122"/>
                <a:cs typeface="Aptos Display" pitchFamily="34" charset="-120"/>
              </a:rPr>
              <a:t>Clinical applications</a:t>
            </a:r>
            <a:endParaRPr lang="en-US" sz="1400" dirty="0"/>
          </a:p>
        </p:txBody>
      </p:sp>
      <p:sp>
        <p:nvSpPr>
          <p:cNvPr id="10" name="Text 8"/>
          <p:cNvSpPr/>
          <p:nvPr/>
        </p:nvSpPr>
        <p:spPr>
          <a:xfrm>
            <a:off x="841248" y="3127248"/>
            <a:ext cx="2944368" cy="594360"/>
          </a:xfrm>
          <a:prstGeom prst="rect">
            <a:avLst/>
          </a:prstGeom>
          <a:noFill/>
          <a:ln/>
        </p:spPr>
        <p:txBody>
          <a:bodyPr wrap="square" lIns="0" tIns="0" rIns="0" bIns="0" rtlCol="0" anchor="t">
            <a:normAutofit/>
          </a:bodyPr>
          <a:lstStyle/>
          <a:p>
            <a:pPr indent="0" marL="0">
              <a:buNone/>
            </a:pPr>
            <a:r>
              <a:rPr lang="en-US" sz="950" dirty="0">
                <a:solidFill>
                  <a:srgbClr val="718692"/>
                </a:solidFill>
                <a:latin typeface="Aptos" pitchFamily="34" charset="0"/>
                <a:ea typeface="Aptos" pitchFamily="34" charset="-122"/>
                <a:cs typeface="Aptos" pitchFamily="34" charset="-120"/>
              </a:rPr>
              <a:t>Coordinate database, identity, network and facility recovery around clinical priorities.</a:t>
            </a:r>
            <a:endParaRPr lang="en-US" sz="950" dirty="0"/>
          </a:p>
        </p:txBody>
      </p:sp>
      <p:sp>
        <p:nvSpPr>
          <p:cNvPr id="11" name="Shape 9"/>
          <p:cNvSpPr/>
          <p:nvPr/>
        </p:nvSpPr>
        <p:spPr>
          <a:xfrm>
            <a:off x="4389120" y="1828800"/>
            <a:ext cx="3410712" cy="2148840"/>
          </a:xfrm>
          <a:prstGeom prst="roundRect">
            <a:avLst>
              <a:gd name="adj" fmla="val 3404"/>
            </a:avLst>
          </a:prstGeom>
          <a:solidFill>
            <a:srgbClr val="FFFFFF"/>
          </a:solidFill>
          <a:ln w="10160">
            <a:solidFill>
              <a:srgbClr val="DCE6E9"/>
            </a:solidFill>
            <a:prstDash val="solid"/>
          </a:ln>
        </p:spPr>
      </p:sp>
      <p:sp>
        <p:nvSpPr>
          <p:cNvPr id="12" name="Shape 10"/>
          <p:cNvSpPr/>
          <p:nvPr/>
        </p:nvSpPr>
        <p:spPr>
          <a:xfrm>
            <a:off x="4572000" y="2011680"/>
            <a:ext cx="347472" cy="347472"/>
          </a:xfrm>
          <a:prstGeom prst="ellipse">
            <a:avLst/>
          </a:prstGeom>
          <a:solidFill>
            <a:srgbClr val="E4F2EC"/>
          </a:solidFill>
          <a:ln w="12700">
            <a:solidFill>
              <a:srgbClr val="E4F2EC"/>
            </a:solidFill>
            <a:prstDash val="solid"/>
          </a:ln>
        </p:spPr>
      </p:sp>
      <p:sp>
        <p:nvSpPr>
          <p:cNvPr id="13" name="Text 11"/>
          <p:cNvSpPr/>
          <p:nvPr/>
        </p:nvSpPr>
        <p:spPr>
          <a:xfrm>
            <a:off x="4572000" y="2103120"/>
            <a:ext cx="347472" cy="128016"/>
          </a:xfrm>
          <a:prstGeom prst="rect">
            <a:avLst/>
          </a:prstGeom>
          <a:noFill/>
          <a:ln/>
        </p:spPr>
        <p:txBody>
          <a:bodyPr wrap="square" lIns="0" tIns="0" rIns="0" bIns="0" rtlCol="0" anchor="ctr">
            <a:normAutofit/>
          </a:bodyPr>
          <a:lstStyle/>
          <a:p>
            <a:pPr algn="ctr" indent="0" marL="0">
              <a:buNone/>
            </a:pPr>
            <a:r>
              <a:rPr lang="en-US" sz="900" b="1" dirty="0">
                <a:solidFill>
                  <a:srgbClr val="16827E"/>
                </a:solidFill>
                <a:latin typeface="Aptos" pitchFamily="34" charset="0"/>
                <a:ea typeface="Aptos" pitchFamily="34" charset="-122"/>
                <a:cs typeface="Aptos" pitchFamily="34" charset="-120"/>
              </a:rPr>
              <a:t>U</a:t>
            </a:r>
            <a:endParaRPr lang="en-US" sz="900" dirty="0"/>
          </a:p>
        </p:txBody>
      </p:sp>
      <p:sp>
        <p:nvSpPr>
          <p:cNvPr id="14" name="Text 12"/>
          <p:cNvSpPr/>
          <p:nvPr/>
        </p:nvSpPr>
        <p:spPr>
          <a:xfrm>
            <a:off x="5029200" y="2048256"/>
            <a:ext cx="2377440" cy="146304"/>
          </a:xfrm>
          <a:prstGeom prst="rect">
            <a:avLst/>
          </a:prstGeom>
          <a:noFill/>
          <a:ln/>
        </p:spPr>
        <p:txBody>
          <a:bodyPr wrap="square" lIns="0" tIns="0" rIns="0" bIns="0" rtlCol="0" anchor="ctr">
            <a:normAutofit/>
          </a:bodyPr>
          <a:lstStyle/>
          <a:p>
            <a:pPr indent="0" marL="0">
              <a:buNone/>
            </a:pPr>
            <a:r>
              <a:rPr lang="en-US" sz="800" b="1" spc="70" kern="0" dirty="0">
                <a:solidFill>
                  <a:srgbClr val="16827E"/>
                </a:solidFill>
                <a:latin typeface="Aptos" pitchFamily="34" charset="0"/>
                <a:ea typeface="Aptos" pitchFamily="34" charset="-122"/>
                <a:cs typeface="Aptos" pitchFamily="34" charset="-120"/>
              </a:rPr>
              <a:t>UTILITIES</a:t>
            </a:r>
            <a:endParaRPr lang="en-US" sz="800" dirty="0"/>
          </a:p>
        </p:txBody>
      </p:sp>
      <p:sp>
        <p:nvSpPr>
          <p:cNvPr id="15" name="Text 13"/>
          <p:cNvSpPr/>
          <p:nvPr/>
        </p:nvSpPr>
        <p:spPr>
          <a:xfrm>
            <a:off x="4590288" y="2670048"/>
            <a:ext cx="2999232" cy="256032"/>
          </a:xfrm>
          <a:prstGeom prst="rect">
            <a:avLst/>
          </a:prstGeom>
          <a:noFill/>
          <a:ln/>
        </p:spPr>
        <p:txBody>
          <a:bodyPr wrap="square" lIns="0" tIns="0" rIns="0" bIns="0" rtlCol="0" anchor="ctr">
            <a:normAutofit/>
          </a:bodyPr>
          <a:lstStyle/>
          <a:p>
            <a:pPr indent="0" marL="0">
              <a:buNone/>
            </a:pPr>
            <a:r>
              <a:rPr lang="en-US" sz="1400" b="1" dirty="0">
                <a:solidFill>
                  <a:srgbClr val="142C43"/>
                </a:solidFill>
                <a:latin typeface="Aptos Display" pitchFamily="34" charset="0"/>
                <a:ea typeface="Aptos Display" pitchFamily="34" charset="-122"/>
                <a:cs typeface="Aptos Display" pitchFamily="34" charset="-120"/>
              </a:rPr>
              <a:t>Energy and water</a:t>
            </a:r>
            <a:endParaRPr lang="en-US" sz="1400" dirty="0"/>
          </a:p>
        </p:txBody>
      </p:sp>
      <p:sp>
        <p:nvSpPr>
          <p:cNvPr id="16" name="Text 14"/>
          <p:cNvSpPr/>
          <p:nvPr/>
        </p:nvSpPr>
        <p:spPr>
          <a:xfrm>
            <a:off x="4590288" y="3127248"/>
            <a:ext cx="2944368" cy="594360"/>
          </a:xfrm>
          <a:prstGeom prst="rect">
            <a:avLst/>
          </a:prstGeom>
          <a:noFill/>
          <a:ln/>
        </p:spPr>
        <p:txBody>
          <a:bodyPr wrap="square" lIns="0" tIns="0" rIns="0" bIns="0" rtlCol="0" anchor="t">
            <a:normAutofit/>
          </a:bodyPr>
          <a:lstStyle/>
          <a:p>
            <a:pPr indent="0" marL="0">
              <a:buNone/>
            </a:pPr>
            <a:r>
              <a:rPr lang="en-US" sz="950" dirty="0">
                <a:solidFill>
                  <a:srgbClr val="718692"/>
                </a:solidFill>
                <a:latin typeface="Aptos" pitchFamily="34" charset="0"/>
                <a:ea typeface="Aptos" pitchFamily="34" charset="-122"/>
                <a:cs typeface="Aptos" pitchFamily="34" charset="-120"/>
              </a:rPr>
              <a:t>See backup and control-system dependencies across sites and critical services.</a:t>
            </a:r>
            <a:endParaRPr lang="en-US" sz="950" dirty="0"/>
          </a:p>
        </p:txBody>
      </p:sp>
      <p:sp>
        <p:nvSpPr>
          <p:cNvPr id="17" name="Shape 15"/>
          <p:cNvSpPr/>
          <p:nvPr/>
        </p:nvSpPr>
        <p:spPr>
          <a:xfrm>
            <a:off x="8138160" y="1828800"/>
            <a:ext cx="3410712" cy="2148840"/>
          </a:xfrm>
          <a:prstGeom prst="roundRect">
            <a:avLst>
              <a:gd name="adj" fmla="val 3404"/>
            </a:avLst>
          </a:prstGeom>
          <a:solidFill>
            <a:srgbClr val="FFFFFF"/>
          </a:solidFill>
          <a:ln w="10160">
            <a:solidFill>
              <a:srgbClr val="DCE6E9"/>
            </a:solidFill>
            <a:prstDash val="solid"/>
          </a:ln>
        </p:spPr>
      </p:sp>
      <p:sp>
        <p:nvSpPr>
          <p:cNvPr id="18" name="Shape 16"/>
          <p:cNvSpPr/>
          <p:nvPr/>
        </p:nvSpPr>
        <p:spPr>
          <a:xfrm>
            <a:off x="8321040" y="2011680"/>
            <a:ext cx="347472" cy="347472"/>
          </a:xfrm>
          <a:prstGeom prst="ellipse">
            <a:avLst/>
          </a:prstGeom>
          <a:solidFill>
            <a:srgbClr val="E4F2EC"/>
          </a:solidFill>
          <a:ln w="12700">
            <a:solidFill>
              <a:srgbClr val="E4F2EC"/>
            </a:solidFill>
            <a:prstDash val="solid"/>
          </a:ln>
        </p:spPr>
      </p:sp>
      <p:sp>
        <p:nvSpPr>
          <p:cNvPr id="19" name="Text 17"/>
          <p:cNvSpPr/>
          <p:nvPr/>
        </p:nvSpPr>
        <p:spPr>
          <a:xfrm>
            <a:off x="8321040" y="2103120"/>
            <a:ext cx="347472" cy="128016"/>
          </a:xfrm>
          <a:prstGeom prst="rect">
            <a:avLst/>
          </a:prstGeom>
          <a:noFill/>
          <a:ln/>
        </p:spPr>
        <p:txBody>
          <a:bodyPr wrap="square" lIns="0" tIns="0" rIns="0" bIns="0" rtlCol="0" anchor="ctr">
            <a:normAutofit/>
          </a:bodyPr>
          <a:lstStyle/>
          <a:p>
            <a:pPr algn="ctr" indent="0" marL="0">
              <a:buNone/>
            </a:pPr>
            <a:r>
              <a:rPr lang="en-US" sz="900" b="1" dirty="0">
                <a:solidFill>
                  <a:srgbClr val="16827E"/>
                </a:solidFill>
                <a:latin typeface="Aptos" pitchFamily="34" charset="0"/>
                <a:ea typeface="Aptos" pitchFamily="34" charset="-122"/>
                <a:cs typeface="Aptos" pitchFamily="34" charset="-120"/>
              </a:rPr>
              <a:t>G</a:t>
            </a:r>
            <a:endParaRPr lang="en-US" sz="900" dirty="0"/>
          </a:p>
        </p:txBody>
      </p:sp>
      <p:sp>
        <p:nvSpPr>
          <p:cNvPr id="20" name="Text 18"/>
          <p:cNvSpPr/>
          <p:nvPr/>
        </p:nvSpPr>
        <p:spPr>
          <a:xfrm>
            <a:off x="8778240" y="2048256"/>
            <a:ext cx="2377440" cy="146304"/>
          </a:xfrm>
          <a:prstGeom prst="rect">
            <a:avLst/>
          </a:prstGeom>
          <a:noFill/>
          <a:ln/>
        </p:spPr>
        <p:txBody>
          <a:bodyPr wrap="square" lIns="0" tIns="0" rIns="0" bIns="0" rtlCol="0" anchor="ctr">
            <a:normAutofit/>
          </a:bodyPr>
          <a:lstStyle/>
          <a:p>
            <a:pPr indent="0" marL="0">
              <a:buNone/>
            </a:pPr>
            <a:r>
              <a:rPr lang="en-US" sz="800" b="1" spc="70" kern="0" dirty="0">
                <a:solidFill>
                  <a:srgbClr val="16827E"/>
                </a:solidFill>
                <a:latin typeface="Aptos" pitchFamily="34" charset="0"/>
                <a:ea typeface="Aptos" pitchFamily="34" charset="-122"/>
                <a:cs typeface="Aptos" pitchFamily="34" charset="-120"/>
              </a:rPr>
              <a:t>PUBLIC SERVICES</a:t>
            </a:r>
            <a:endParaRPr lang="en-US" sz="800" dirty="0"/>
          </a:p>
        </p:txBody>
      </p:sp>
      <p:sp>
        <p:nvSpPr>
          <p:cNvPr id="21" name="Text 19"/>
          <p:cNvSpPr/>
          <p:nvPr/>
        </p:nvSpPr>
        <p:spPr>
          <a:xfrm>
            <a:off x="8339328" y="2670048"/>
            <a:ext cx="2999232" cy="256032"/>
          </a:xfrm>
          <a:prstGeom prst="rect">
            <a:avLst/>
          </a:prstGeom>
          <a:noFill/>
          <a:ln/>
        </p:spPr>
        <p:txBody>
          <a:bodyPr wrap="square" lIns="0" tIns="0" rIns="0" bIns="0" rtlCol="0" anchor="ctr">
            <a:normAutofit/>
          </a:bodyPr>
          <a:lstStyle/>
          <a:p>
            <a:pPr indent="0" marL="0">
              <a:buNone/>
            </a:pPr>
            <a:r>
              <a:rPr lang="en-US" sz="1400" b="1" dirty="0">
                <a:solidFill>
                  <a:srgbClr val="142C43"/>
                </a:solidFill>
                <a:latin typeface="Aptos Display" pitchFamily="34" charset="0"/>
                <a:ea typeface="Aptos Display" pitchFamily="34" charset="-122"/>
                <a:cs typeface="Aptos Display" pitchFamily="34" charset="-120"/>
              </a:rPr>
              <a:t>Government and emergency</a:t>
            </a:r>
            <a:endParaRPr lang="en-US" sz="1400" dirty="0"/>
          </a:p>
        </p:txBody>
      </p:sp>
      <p:sp>
        <p:nvSpPr>
          <p:cNvPr id="22" name="Text 20"/>
          <p:cNvSpPr/>
          <p:nvPr/>
        </p:nvSpPr>
        <p:spPr>
          <a:xfrm>
            <a:off x="8339328" y="3127248"/>
            <a:ext cx="2944368" cy="594360"/>
          </a:xfrm>
          <a:prstGeom prst="rect">
            <a:avLst/>
          </a:prstGeom>
          <a:noFill/>
          <a:ln/>
        </p:spPr>
        <p:txBody>
          <a:bodyPr wrap="square" lIns="0" tIns="0" rIns="0" bIns="0" rtlCol="0" anchor="t">
            <a:normAutofit/>
          </a:bodyPr>
          <a:lstStyle/>
          <a:p>
            <a:pPr indent="0" marL="0">
              <a:buNone/>
            </a:pPr>
            <a:r>
              <a:rPr lang="en-US" sz="950" dirty="0">
                <a:solidFill>
                  <a:srgbClr val="718692"/>
                </a:solidFill>
                <a:latin typeface="Aptos" pitchFamily="34" charset="0"/>
                <a:ea typeface="Aptos" pitchFamily="34" charset="-122"/>
                <a:cs typeface="Aptos" pitchFamily="34" charset="-120"/>
              </a:rPr>
              <a:t>Prepare evidence for continuity exercises and cross-agency dependencies.</a:t>
            </a:r>
            <a:endParaRPr lang="en-US" sz="950" dirty="0"/>
          </a:p>
        </p:txBody>
      </p:sp>
      <p:sp>
        <p:nvSpPr>
          <p:cNvPr id="23" name="Text 21"/>
          <p:cNvSpPr/>
          <p:nvPr/>
        </p:nvSpPr>
        <p:spPr>
          <a:xfrm>
            <a:off x="667512" y="4480560"/>
            <a:ext cx="1005840" cy="164592"/>
          </a:xfrm>
          <a:prstGeom prst="rect">
            <a:avLst/>
          </a:prstGeom>
          <a:noFill/>
          <a:ln/>
        </p:spPr>
        <p:txBody>
          <a:bodyPr wrap="square" lIns="0" tIns="0" rIns="0" bIns="0" rtlCol="0" anchor="ctr">
            <a:normAutofit/>
          </a:bodyPr>
          <a:lstStyle/>
          <a:p>
            <a:pPr indent="0" marL="0">
              <a:buNone/>
            </a:pPr>
            <a:r>
              <a:rPr lang="en-US" sz="800" b="1" spc="100" kern="0" dirty="0">
                <a:solidFill>
                  <a:srgbClr val="16827E"/>
                </a:solidFill>
                <a:latin typeface="Aptos" pitchFamily="34" charset="0"/>
                <a:ea typeface="Aptos" pitchFamily="34" charset="-122"/>
                <a:cs typeface="Aptos" pitchFamily="34" charset="-120"/>
              </a:rPr>
              <a:t>BUYER</a:t>
            </a:r>
            <a:endParaRPr lang="en-US" sz="800" dirty="0"/>
          </a:p>
        </p:txBody>
      </p:sp>
      <p:sp>
        <p:nvSpPr>
          <p:cNvPr id="24" name="Text 22"/>
          <p:cNvSpPr/>
          <p:nvPr/>
        </p:nvSpPr>
        <p:spPr>
          <a:xfrm>
            <a:off x="667512" y="4754880"/>
            <a:ext cx="7498080" cy="265176"/>
          </a:xfrm>
          <a:prstGeom prst="rect">
            <a:avLst/>
          </a:prstGeom>
          <a:noFill/>
          <a:ln/>
        </p:spPr>
        <p:txBody>
          <a:bodyPr wrap="square" lIns="0" tIns="0" rIns="0" bIns="0" rtlCol="0" anchor="ctr">
            <a:normAutofit/>
          </a:bodyPr>
          <a:lstStyle/>
          <a:p>
            <a:pPr indent="0" marL="0">
              <a:buNone/>
            </a:pPr>
            <a:r>
              <a:rPr lang="en-US" sz="1400" b="1" dirty="0">
                <a:solidFill>
                  <a:srgbClr val="142C43"/>
                </a:solidFill>
                <a:latin typeface="Aptos" pitchFamily="34" charset="0"/>
                <a:ea typeface="Aptos" pitchFamily="34" charset="-122"/>
                <a:cs typeface="Aptos" pitchFamily="34" charset="-120"/>
              </a:rPr>
              <a:t>Technology  ·  security  ·  operations  ·  risk  ·  continuity leaders</a:t>
            </a:r>
            <a:endParaRPr lang="en-US" sz="1400" dirty="0"/>
          </a:p>
        </p:txBody>
      </p:sp>
      <p:sp>
        <p:nvSpPr>
          <p:cNvPr id="25" name="Text 23"/>
          <p:cNvSpPr/>
          <p:nvPr/>
        </p:nvSpPr>
        <p:spPr>
          <a:xfrm>
            <a:off x="667512" y="5330952"/>
            <a:ext cx="1005840" cy="164592"/>
          </a:xfrm>
          <a:prstGeom prst="rect">
            <a:avLst/>
          </a:prstGeom>
          <a:noFill/>
          <a:ln/>
        </p:spPr>
        <p:txBody>
          <a:bodyPr wrap="square" lIns="0" tIns="0" rIns="0" bIns="0" rtlCol="0" anchor="ctr">
            <a:normAutofit/>
          </a:bodyPr>
          <a:lstStyle/>
          <a:p>
            <a:pPr indent="0" marL="0">
              <a:buNone/>
            </a:pPr>
            <a:r>
              <a:rPr lang="en-US" sz="800" b="1" spc="100" kern="0" dirty="0">
                <a:solidFill>
                  <a:srgbClr val="16827E"/>
                </a:solidFill>
                <a:latin typeface="Aptos" pitchFamily="34" charset="0"/>
                <a:ea typeface="Aptos" pitchFamily="34" charset="-122"/>
                <a:cs typeface="Aptos" pitchFamily="34" charset="-120"/>
              </a:rPr>
              <a:t>USERS</a:t>
            </a:r>
            <a:endParaRPr lang="en-US" sz="800" dirty="0"/>
          </a:p>
        </p:txBody>
      </p:sp>
      <p:sp>
        <p:nvSpPr>
          <p:cNvPr id="26" name="Text 24"/>
          <p:cNvSpPr/>
          <p:nvPr/>
        </p:nvSpPr>
        <p:spPr>
          <a:xfrm>
            <a:off x="667512" y="5596128"/>
            <a:ext cx="8961120" cy="265176"/>
          </a:xfrm>
          <a:prstGeom prst="rect">
            <a:avLst/>
          </a:prstGeom>
          <a:noFill/>
          <a:ln/>
        </p:spPr>
        <p:txBody>
          <a:bodyPr wrap="square" lIns="0" tIns="0" rIns="0" bIns="0" rtlCol="0" anchor="ctr">
            <a:normAutofit/>
          </a:bodyPr>
          <a:lstStyle/>
          <a:p>
            <a:pPr indent="0" marL="0">
              <a:buNone/>
            </a:pPr>
            <a:r>
              <a:rPr lang="en-US" sz="1100" dirty="0">
                <a:solidFill>
                  <a:srgbClr val="718692"/>
                </a:solidFill>
                <a:latin typeface="Aptos" pitchFamily="34" charset="0"/>
                <a:ea typeface="Aptos" pitchFamily="34" charset="-122"/>
                <a:cs typeface="Aptos" pitchFamily="34" charset="-120"/>
              </a:rPr>
              <a:t>Backup teams  ·  recovery planners  ·  security responders  ·  auditors</a:t>
            </a:r>
            <a:endParaRPr lang="en-US" sz="1100" dirty="0"/>
          </a:p>
        </p:txBody>
      </p:sp>
      <p:sp>
        <p:nvSpPr>
          <p:cNvPr id="27" name="Shape 25"/>
          <p:cNvSpPr/>
          <p:nvPr/>
        </p:nvSpPr>
        <p:spPr>
          <a:xfrm>
            <a:off x="8869680" y="4800600"/>
            <a:ext cx="2615184" cy="246888"/>
          </a:xfrm>
          <a:prstGeom prst="roundRect">
            <a:avLst>
              <a:gd name="adj" fmla="val 29630"/>
            </a:avLst>
          </a:prstGeom>
          <a:solidFill>
            <a:srgbClr val="E4F2EC"/>
          </a:solidFill>
          <a:ln w="10160">
            <a:solidFill>
              <a:srgbClr val="E4F2EC"/>
            </a:solidFill>
            <a:prstDash val="solid"/>
          </a:ln>
        </p:spPr>
      </p:sp>
      <p:sp>
        <p:nvSpPr>
          <p:cNvPr id="28" name="Text 26"/>
          <p:cNvSpPr/>
          <p:nvPr/>
        </p:nvSpPr>
        <p:spPr>
          <a:xfrm>
            <a:off x="8924544" y="4814316"/>
            <a:ext cx="2505456" cy="201168"/>
          </a:xfrm>
          <a:prstGeom prst="rect">
            <a:avLst/>
          </a:prstGeom>
          <a:noFill/>
          <a:ln/>
        </p:spPr>
        <p:txBody>
          <a:bodyPr wrap="square" lIns="0" tIns="0" rIns="0" bIns="0" rtlCol="0" anchor="ctr">
            <a:normAutofit/>
          </a:bodyPr>
          <a:lstStyle/>
          <a:p>
            <a:pPr algn="ctr" indent="0" marL="0">
              <a:buNone/>
            </a:pPr>
            <a:r>
              <a:rPr lang="en-US" sz="700" b="1" spc="50" kern="0" dirty="0">
                <a:solidFill>
                  <a:srgbClr val="27826B"/>
                </a:solidFill>
                <a:latin typeface="Aptos" pitchFamily="34" charset="0"/>
                <a:ea typeface="Aptos" pitchFamily="34" charset="-122"/>
                <a:cs typeface="Aptos" pitchFamily="34" charset="-120"/>
              </a:rPr>
              <a:t>PILOT FIT: FRAGMENTED RECOVERY EVIDENCE</a:t>
            </a:r>
            <a:endParaRPr lang="en-US" sz="700" dirty="0"/>
          </a:p>
        </p:txBody>
      </p:sp>
      <p:sp>
        <p:nvSpPr>
          <p:cNvPr id="25" name="Slide Number Placeholder 0"/>
          <p:cNvSpPr>
            <a:spLocks noGrp="1"/>
          </p:cNvSpPr>
          <p:nvPr>
            <p:ph type="sldNum" sz="quarter" idx="4294967295"/>
          </p:nvPr>
        </p:nvSpPr>
        <p:spPr>
          <a:xfrm>
            <a:off x="11740896" y="6547104"/>
            <a:ext cx="228600" cy="146304"/>
          </a:xfrm>
          <a:prstGeom prst="rect">
            <a:avLst/>
          </a:prstGeom>
          <a:extLst>
            <a:ext uri="{C572A759-6A51-4108-AA02-DFA0A04FC94B}">
              <ma14:wrappingTextBoxFlag xmlns:ma14="http://schemas.microsoft.com/office/mac/drawingml/2011/main" val="0"/>
            </a:ext>
          </a:extLst>
        </p:spPr>
        <p:txBody>
          <a:bodyPr/>
          <a:lstStyle>
            <a:lvl1pPr>
              <a:defRPr sz="700">
                <a:solidFill>
                  <a:srgbClr val="80929D"/>
                </a:solidFill>
                <a:latin typeface="Aptos"/>
                <a:ea typeface="Aptos"/>
                <a:cs typeface="Aptos"/>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84048"/>
            <a:ext cx="10881360" cy="164592"/>
          </a:xfrm>
          <a:prstGeom prst="rect">
            <a:avLst/>
          </a:prstGeom>
          <a:noFill/>
          <a:ln/>
        </p:spPr>
        <p:txBody>
          <a:bodyPr wrap="square" lIns="0" tIns="0" rIns="0" bIns="0" rtlCol="0" anchor="ctr">
            <a:normAutofit/>
          </a:bodyPr>
          <a:lstStyle/>
          <a:p>
            <a:pPr indent="0" marL="0">
              <a:buNone/>
            </a:pPr>
            <a:r>
              <a:rPr lang="en-US" sz="800" b="1" spc="160" kern="0" dirty="0">
                <a:solidFill>
                  <a:srgbClr val="16827E"/>
                </a:solidFill>
                <a:latin typeface="Aptos" pitchFamily="34" charset="0"/>
                <a:ea typeface="Aptos" pitchFamily="34" charset="-122"/>
                <a:cs typeface="Aptos" pitchFamily="34" charset="-120"/>
              </a:rPr>
              <a:t>WHY NOW</a:t>
            </a:r>
            <a:endParaRPr lang="en-US" sz="800" dirty="0"/>
          </a:p>
        </p:txBody>
      </p:sp>
      <p:sp>
        <p:nvSpPr>
          <p:cNvPr id="3" name="Text 1"/>
          <p:cNvSpPr/>
          <p:nvPr/>
        </p:nvSpPr>
        <p:spPr>
          <a:xfrm>
            <a:off x="566928" y="694944"/>
            <a:ext cx="10972800" cy="438912"/>
          </a:xfrm>
          <a:prstGeom prst="rect">
            <a:avLst/>
          </a:prstGeom>
          <a:noFill/>
          <a:ln/>
        </p:spPr>
        <p:txBody>
          <a:bodyPr wrap="square" lIns="0" tIns="0" rIns="0" bIns="0" rtlCol="0" anchor="ctr">
            <a:normAutofit/>
          </a:bodyPr>
          <a:lstStyle/>
          <a:p>
            <a:pPr indent="0" marL="0">
              <a:buNone/>
            </a:pPr>
            <a:r>
              <a:rPr lang="en-US" sz="2500" b="1" spc="-60" kern="0" dirty="0">
                <a:solidFill>
                  <a:srgbClr val="142C43"/>
                </a:solidFill>
                <a:latin typeface="Aptos Display" pitchFamily="34" charset="0"/>
                <a:ea typeface="Aptos Display" pitchFamily="34" charset="-122"/>
                <a:cs typeface="Aptos Display" pitchFamily="34" charset="-120"/>
              </a:rPr>
              <a:t>Resilience guidance points to tested recovery evidence</a:t>
            </a:r>
            <a:endParaRPr lang="en-US" sz="2500" dirty="0"/>
          </a:p>
        </p:txBody>
      </p:sp>
      <p:sp>
        <p:nvSpPr>
          <p:cNvPr id="4" name="Text 2"/>
          <p:cNvSpPr/>
          <p:nvPr/>
        </p:nvSpPr>
        <p:spPr>
          <a:xfrm>
            <a:off x="585216" y="1216152"/>
            <a:ext cx="10972800" cy="256032"/>
          </a:xfrm>
          <a:prstGeom prst="rect">
            <a:avLst/>
          </a:prstGeom>
          <a:noFill/>
          <a:ln/>
        </p:spPr>
        <p:txBody>
          <a:bodyPr wrap="square" lIns="0" tIns="0" rIns="0" bIns="0" rtlCol="0" anchor="ctr">
            <a:normAutofit/>
          </a:bodyPr>
          <a:lstStyle/>
          <a:p>
            <a:pPr indent="0" marL="0">
              <a:buNone/>
            </a:pPr>
            <a:r>
              <a:rPr lang="en-US" sz="1000" dirty="0">
                <a:solidFill>
                  <a:srgbClr val="718692"/>
                </a:solidFill>
                <a:latin typeface="Aptos" pitchFamily="34" charset="0"/>
                <a:ea typeface="Aptos" pitchFamily="34" charset="-122"/>
                <a:cs typeface="Aptos" pitchFamily="34" charset="-120"/>
              </a:rPr>
              <a:t>The product maps a narrow workflow to recognized recovery and civil resilience themes.</a:t>
            </a:r>
            <a:endParaRPr lang="en-US" sz="1000" dirty="0"/>
          </a:p>
        </p:txBody>
      </p:sp>
      <p:sp>
        <p:nvSpPr>
          <p:cNvPr id="5" name="Shape 3"/>
          <p:cNvSpPr/>
          <p:nvPr/>
        </p:nvSpPr>
        <p:spPr>
          <a:xfrm>
            <a:off x="621792" y="1828800"/>
            <a:ext cx="3383280" cy="2313432"/>
          </a:xfrm>
          <a:prstGeom prst="roundRect">
            <a:avLst>
              <a:gd name="adj" fmla="val 3162"/>
            </a:avLst>
          </a:prstGeom>
          <a:solidFill>
            <a:srgbClr val="FFFFFF"/>
          </a:solidFill>
          <a:ln w="10160">
            <a:solidFill>
              <a:srgbClr val="DCE6E9"/>
            </a:solidFill>
            <a:prstDash val="solid"/>
          </a:ln>
        </p:spPr>
      </p:sp>
      <p:sp>
        <p:nvSpPr>
          <p:cNvPr id="6" name="Shape 4"/>
          <p:cNvSpPr/>
          <p:nvPr/>
        </p:nvSpPr>
        <p:spPr>
          <a:xfrm>
            <a:off x="786384" y="1993392"/>
            <a:ext cx="301752" cy="301752"/>
          </a:xfrm>
          <a:prstGeom prst="ellipse">
            <a:avLst/>
          </a:prstGeom>
          <a:solidFill>
            <a:srgbClr val="E4F2EC"/>
          </a:solidFill>
          <a:ln w="12700">
            <a:solidFill>
              <a:srgbClr val="E4F2EC"/>
            </a:solidFill>
            <a:prstDash val="solid"/>
          </a:ln>
        </p:spPr>
      </p:sp>
      <p:sp>
        <p:nvSpPr>
          <p:cNvPr id="7" name="Text 5"/>
          <p:cNvSpPr/>
          <p:nvPr/>
        </p:nvSpPr>
        <p:spPr>
          <a:xfrm>
            <a:off x="786384" y="2011680"/>
            <a:ext cx="301752" cy="237744"/>
          </a:xfrm>
          <a:prstGeom prst="rect">
            <a:avLst/>
          </a:prstGeom>
          <a:noFill/>
          <a:ln/>
        </p:spPr>
        <p:txBody>
          <a:bodyPr wrap="square" lIns="0" tIns="0" rIns="0" bIns="0" rtlCol="0" anchor="ctr">
            <a:normAutofit/>
          </a:bodyPr>
          <a:lstStyle/>
          <a:p>
            <a:pPr algn="ctr" indent="0" marL="0">
              <a:buNone/>
            </a:pPr>
            <a:r>
              <a:rPr lang="en-US" sz="1100" b="1" dirty="0">
                <a:solidFill>
                  <a:srgbClr val="16827E"/>
                </a:solidFill>
                <a:latin typeface="Aptos" pitchFamily="34" charset="0"/>
                <a:ea typeface="Aptos" pitchFamily="34" charset="-122"/>
                <a:cs typeface="Aptos" pitchFamily="34" charset="-120"/>
              </a:rPr>
              <a:t>N</a:t>
            </a:r>
            <a:endParaRPr lang="en-US" sz="1100" dirty="0"/>
          </a:p>
        </p:txBody>
      </p:sp>
      <p:sp>
        <p:nvSpPr>
          <p:cNvPr id="8" name="Text 6"/>
          <p:cNvSpPr/>
          <p:nvPr/>
        </p:nvSpPr>
        <p:spPr>
          <a:xfrm>
            <a:off x="1188720" y="2002536"/>
            <a:ext cx="2651760" cy="219456"/>
          </a:xfrm>
          <a:prstGeom prst="rect">
            <a:avLst/>
          </a:prstGeom>
          <a:noFill/>
          <a:ln/>
        </p:spPr>
        <p:txBody>
          <a:bodyPr wrap="square" lIns="0" tIns="0" rIns="0" bIns="0" rtlCol="0" anchor="ctr">
            <a:normAutofit/>
          </a:bodyPr>
          <a:lstStyle/>
          <a:p>
            <a:pPr indent="0" marL="0">
              <a:buNone/>
            </a:pPr>
            <a:r>
              <a:rPr lang="en-US" sz="1100" b="1" dirty="0">
                <a:solidFill>
                  <a:srgbClr val="142C43"/>
                </a:solidFill>
                <a:latin typeface="Aptos" pitchFamily="34" charset="0"/>
                <a:ea typeface="Aptos" pitchFamily="34" charset="-122"/>
                <a:cs typeface="Aptos" pitchFamily="34" charset="-120"/>
              </a:rPr>
              <a:t>NIST SP 1339</a:t>
            </a:r>
            <a:endParaRPr lang="en-US" sz="1100" dirty="0"/>
          </a:p>
        </p:txBody>
      </p:sp>
      <p:sp>
        <p:nvSpPr>
          <p:cNvPr id="9" name="Text 7"/>
          <p:cNvSpPr/>
          <p:nvPr/>
        </p:nvSpPr>
        <p:spPr>
          <a:xfrm>
            <a:off x="804672" y="2441448"/>
            <a:ext cx="3017520" cy="1591056"/>
          </a:xfrm>
          <a:prstGeom prst="rect">
            <a:avLst/>
          </a:prstGeom>
          <a:noFill/>
          <a:ln/>
        </p:spPr>
        <p:txBody>
          <a:bodyPr wrap="square" lIns="0" tIns="0" rIns="0" bIns="0" rtlCol="0" anchor="t">
            <a:normAutofit/>
          </a:bodyPr>
          <a:lstStyle/>
          <a:p>
            <a:pPr indent="0" marL="0">
              <a:lnSpc>
                <a:spcPct val="104000"/>
              </a:lnSpc>
              <a:buNone/>
            </a:pPr>
            <a:r>
              <a:rPr lang="en-US" sz="1000" dirty="0">
                <a:solidFill>
                  <a:srgbClr val="718692"/>
                </a:solidFill>
                <a:latin typeface="Aptos" pitchFamily="34" charset="0"/>
                <a:ea typeface="Aptos" pitchFamily="34" charset="-122"/>
                <a:cs typeface="Aptos" pitchFamily="34" charset="-120"/>
              </a:rPr>
              <a:t>Create backups regularly, integrate them with change processes, validate integrity and repeat non-production restore tests.</a:t>
            </a:r>
            <a:endParaRPr lang="en-US" sz="1000" dirty="0"/>
          </a:p>
        </p:txBody>
      </p:sp>
      <p:sp>
        <p:nvSpPr>
          <p:cNvPr id="10" name="Text 8"/>
          <p:cNvSpPr/>
          <p:nvPr/>
        </p:nvSpPr>
        <p:spPr>
          <a:xfrm>
            <a:off x="804672" y="4206240"/>
            <a:ext cx="2971800" cy="182880"/>
          </a:xfrm>
          <a:prstGeom prst="rect">
            <a:avLst/>
          </a:prstGeom>
          <a:noFill/>
          <a:ln/>
        </p:spPr>
        <p:txBody>
          <a:bodyPr wrap="square" lIns="0" tIns="0" rIns="0" bIns="0" rtlCol="0" anchor="ctr">
            <a:normAutofit/>
          </a:bodyPr>
          <a:lstStyle/>
          <a:p>
            <a:pPr indent="0" marL="0">
              <a:buNone/>
            </a:pPr>
            <a:r>
              <a:rPr lang="en-US" sz="750" b="1" dirty="0">
                <a:solidFill>
                  <a:srgbClr val="16827E"/>
                </a:solidFill>
                <a:latin typeface="Aptos" pitchFamily="34" charset="0"/>
                <a:ea typeface="Aptos" pitchFamily="34" charset="-122"/>
                <a:cs typeface="Aptos" pitchFamily="34" charset="-120"/>
              </a:rPr>
              <a:t>OT Backup Quick Start Guide · June 2026</a:t>
            </a:r>
            <a:endParaRPr lang="en-US" sz="750" dirty="0"/>
          </a:p>
        </p:txBody>
      </p:sp>
      <p:sp>
        <p:nvSpPr>
          <p:cNvPr id="11" name="Shape 9"/>
          <p:cNvSpPr/>
          <p:nvPr/>
        </p:nvSpPr>
        <p:spPr>
          <a:xfrm>
            <a:off x="4389120" y="1828800"/>
            <a:ext cx="3383280" cy="2313432"/>
          </a:xfrm>
          <a:prstGeom prst="roundRect">
            <a:avLst>
              <a:gd name="adj" fmla="val 3162"/>
            </a:avLst>
          </a:prstGeom>
          <a:solidFill>
            <a:srgbClr val="FFFFFF"/>
          </a:solidFill>
          <a:ln w="10160">
            <a:solidFill>
              <a:srgbClr val="DCE6E9"/>
            </a:solidFill>
            <a:prstDash val="solid"/>
          </a:ln>
        </p:spPr>
      </p:sp>
      <p:sp>
        <p:nvSpPr>
          <p:cNvPr id="12" name="Shape 10"/>
          <p:cNvSpPr/>
          <p:nvPr/>
        </p:nvSpPr>
        <p:spPr>
          <a:xfrm>
            <a:off x="4553712" y="1993392"/>
            <a:ext cx="301752" cy="301752"/>
          </a:xfrm>
          <a:prstGeom prst="ellipse">
            <a:avLst/>
          </a:prstGeom>
          <a:solidFill>
            <a:srgbClr val="E4F2EC"/>
          </a:solidFill>
          <a:ln w="12700">
            <a:solidFill>
              <a:srgbClr val="E4F2EC"/>
            </a:solidFill>
            <a:prstDash val="solid"/>
          </a:ln>
        </p:spPr>
      </p:sp>
      <p:sp>
        <p:nvSpPr>
          <p:cNvPr id="13" name="Text 11"/>
          <p:cNvSpPr/>
          <p:nvPr/>
        </p:nvSpPr>
        <p:spPr>
          <a:xfrm>
            <a:off x="4553712" y="2011680"/>
            <a:ext cx="301752" cy="237744"/>
          </a:xfrm>
          <a:prstGeom prst="rect">
            <a:avLst/>
          </a:prstGeom>
          <a:noFill/>
          <a:ln/>
        </p:spPr>
        <p:txBody>
          <a:bodyPr wrap="square" lIns="0" tIns="0" rIns="0" bIns="0" rtlCol="0" anchor="ctr">
            <a:normAutofit/>
          </a:bodyPr>
          <a:lstStyle/>
          <a:p>
            <a:pPr algn="ctr" indent="0" marL="0">
              <a:buNone/>
            </a:pPr>
            <a:r>
              <a:rPr lang="en-US" sz="1100" b="1" dirty="0">
                <a:solidFill>
                  <a:srgbClr val="16827E"/>
                </a:solidFill>
                <a:latin typeface="Aptos" pitchFamily="34" charset="0"/>
                <a:ea typeface="Aptos" pitchFamily="34" charset="-122"/>
                <a:cs typeface="Aptos" pitchFamily="34" charset="-120"/>
              </a:rPr>
              <a:t>34</a:t>
            </a:r>
            <a:endParaRPr lang="en-US" sz="1100" dirty="0"/>
          </a:p>
        </p:txBody>
      </p:sp>
      <p:sp>
        <p:nvSpPr>
          <p:cNvPr id="14" name="Text 12"/>
          <p:cNvSpPr/>
          <p:nvPr/>
        </p:nvSpPr>
        <p:spPr>
          <a:xfrm>
            <a:off x="4956048" y="2002536"/>
            <a:ext cx="2651760" cy="219456"/>
          </a:xfrm>
          <a:prstGeom prst="rect">
            <a:avLst/>
          </a:prstGeom>
          <a:noFill/>
          <a:ln/>
        </p:spPr>
        <p:txBody>
          <a:bodyPr wrap="square" lIns="0" tIns="0" rIns="0" bIns="0" rtlCol="0" anchor="ctr">
            <a:normAutofit/>
          </a:bodyPr>
          <a:lstStyle/>
          <a:p>
            <a:pPr indent="0" marL="0">
              <a:buNone/>
            </a:pPr>
            <a:r>
              <a:rPr lang="en-US" sz="1100" b="1" dirty="0">
                <a:solidFill>
                  <a:srgbClr val="142C43"/>
                </a:solidFill>
                <a:latin typeface="Aptos" pitchFamily="34" charset="0"/>
                <a:ea typeface="Aptos" pitchFamily="34" charset="-122"/>
                <a:cs typeface="Aptos" pitchFamily="34" charset="-120"/>
              </a:rPr>
              <a:t>NIST SP 800-34 Rev. 1</a:t>
            </a:r>
            <a:endParaRPr lang="en-US" sz="1100" dirty="0"/>
          </a:p>
        </p:txBody>
      </p:sp>
      <p:sp>
        <p:nvSpPr>
          <p:cNvPr id="15" name="Text 13"/>
          <p:cNvSpPr/>
          <p:nvPr/>
        </p:nvSpPr>
        <p:spPr>
          <a:xfrm>
            <a:off x="4572000" y="2441448"/>
            <a:ext cx="3017520" cy="1591056"/>
          </a:xfrm>
          <a:prstGeom prst="rect">
            <a:avLst/>
          </a:prstGeom>
          <a:noFill/>
          <a:ln/>
        </p:spPr>
        <p:txBody>
          <a:bodyPr wrap="square" lIns="0" tIns="0" rIns="0" bIns="0" rtlCol="0" anchor="t">
            <a:normAutofit/>
          </a:bodyPr>
          <a:lstStyle/>
          <a:p>
            <a:pPr indent="0" marL="0">
              <a:lnSpc>
                <a:spcPct val="104000"/>
              </a:lnSpc>
              <a:buNone/>
            </a:pPr>
            <a:r>
              <a:rPr lang="en-US" sz="1000" dirty="0">
                <a:solidFill>
                  <a:srgbClr val="718692"/>
                </a:solidFill>
                <a:latin typeface="Aptos" pitchFamily="34" charset="0"/>
                <a:ea typeface="Aptos" pitchFamily="34" charset="-122"/>
                <a:cs typeface="Aptos" pitchFamily="34" charset="-120"/>
              </a:rPr>
              <a:t>Prioritize critical systems and establish recovery strategies that fit business impact and outage requirements.</a:t>
            </a:r>
            <a:endParaRPr lang="en-US" sz="1000" dirty="0"/>
          </a:p>
        </p:txBody>
      </p:sp>
      <p:sp>
        <p:nvSpPr>
          <p:cNvPr id="16" name="Text 14"/>
          <p:cNvSpPr/>
          <p:nvPr/>
        </p:nvSpPr>
        <p:spPr>
          <a:xfrm>
            <a:off x="4572000" y="4206240"/>
            <a:ext cx="2971800" cy="182880"/>
          </a:xfrm>
          <a:prstGeom prst="rect">
            <a:avLst/>
          </a:prstGeom>
          <a:noFill/>
          <a:ln/>
        </p:spPr>
        <p:txBody>
          <a:bodyPr wrap="square" lIns="0" tIns="0" rIns="0" bIns="0" rtlCol="0" anchor="ctr">
            <a:normAutofit/>
          </a:bodyPr>
          <a:lstStyle/>
          <a:p>
            <a:pPr indent="0" marL="0">
              <a:buNone/>
            </a:pPr>
            <a:r>
              <a:rPr lang="en-US" sz="750" b="1" dirty="0">
                <a:solidFill>
                  <a:srgbClr val="16827E"/>
                </a:solidFill>
                <a:latin typeface="Aptos" pitchFamily="34" charset="0"/>
                <a:ea typeface="Aptos" pitchFamily="34" charset="-122"/>
                <a:cs typeface="Aptos" pitchFamily="34" charset="-120"/>
              </a:rPr>
              <a:t>Contingency planning guidance</a:t>
            </a:r>
            <a:endParaRPr lang="en-US" sz="750" dirty="0"/>
          </a:p>
        </p:txBody>
      </p:sp>
      <p:sp>
        <p:nvSpPr>
          <p:cNvPr id="17" name="Shape 15"/>
          <p:cNvSpPr/>
          <p:nvPr/>
        </p:nvSpPr>
        <p:spPr>
          <a:xfrm>
            <a:off x="8156448" y="1828800"/>
            <a:ext cx="3383280" cy="2313432"/>
          </a:xfrm>
          <a:prstGeom prst="roundRect">
            <a:avLst>
              <a:gd name="adj" fmla="val 3162"/>
            </a:avLst>
          </a:prstGeom>
          <a:solidFill>
            <a:srgbClr val="FFFFFF"/>
          </a:solidFill>
          <a:ln w="10160">
            <a:solidFill>
              <a:srgbClr val="DCE6E9"/>
            </a:solidFill>
            <a:prstDash val="solid"/>
          </a:ln>
        </p:spPr>
      </p:sp>
      <p:sp>
        <p:nvSpPr>
          <p:cNvPr id="18" name="Shape 16"/>
          <p:cNvSpPr/>
          <p:nvPr/>
        </p:nvSpPr>
        <p:spPr>
          <a:xfrm>
            <a:off x="8321040" y="1993392"/>
            <a:ext cx="301752" cy="301752"/>
          </a:xfrm>
          <a:prstGeom prst="ellipse">
            <a:avLst/>
          </a:prstGeom>
          <a:solidFill>
            <a:srgbClr val="E4F2EC"/>
          </a:solidFill>
          <a:ln w="12700">
            <a:solidFill>
              <a:srgbClr val="E4F2EC"/>
            </a:solidFill>
            <a:prstDash val="solid"/>
          </a:ln>
        </p:spPr>
      </p:sp>
      <p:sp>
        <p:nvSpPr>
          <p:cNvPr id="19" name="Text 17"/>
          <p:cNvSpPr/>
          <p:nvPr/>
        </p:nvSpPr>
        <p:spPr>
          <a:xfrm>
            <a:off x="8321040" y="2011680"/>
            <a:ext cx="301752" cy="237744"/>
          </a:xfrm>
          <a:prstGeom prst="rect">
            <a:avLst/>
          </a:prstGeom>
          <a:noFill/>
          <a:ln/>
        </p:spPr>
        <p:txBody>
          <a:bodyPr wrap="square" lIns="0" tIns="0" rIns="0" bIns="0" rtlCol="0" anchor="ctr">
            <a:normAutofit/>
          </a:bodyPr>
          <a:lstStyle/>
          <a:p>
            <a:pPr algn="ctr" indent="0" marL="0">
              <a:buNone/>
            </a:pPr>
            <a:r>
              <a:rPr lang="en-US" sz="1100" b="1" dirty="0">
                <a:solidFill>
                  <a:srgbClr val="16827E"/>
                </a:solidFill>
                <a:latin typeface="Aptos" pitchFamily="34" charset="0"/>
                <a:ea typeface="Aptos" pitchFamily="34" charset="-122"/>
                <a:cs typeface="Aptos" pitchFamily="34" charset="-120"/>
              </a:rPr>
              <a:t>R</a:t>
            </a:r>
            <a:endParaRPr lang="en-US" sz="1100" dirty="0"/>
          </a:p>
        </p:txBody>
      </p:sp>
      <p:sp>
        <p:nvSpPr>
          <p:cNvPr id="20" name="Text 18"/>
          <p:cNvSpPr/>
          <p:nvPr/>
        </p:nvSpPr>
        <p:spPr>
          <a:xfrm>
            <a:off x="8723376" y="2002536"/>
            <a:ext cx="2651760" cy="219456"/>
          </a:xfrm>
          <a:prstGeom prst="rect">
            <a:avLst/>
          </a:prstGeom>
          <a:noFill/>
          <a:ln/>
        </p:spPr>
        <p:txBody>
          <a:bodyPr wrap="square" lIns="0" tIns="0" rIns="0" bIns="0" rtlCol="0" anchor="ctr">
            <a:normAutofit/>
          </a:bodyPr>
          <a:lstStyle/>
          <a:p>
            <a:pPr indent="0" marL="0">
              <a:buNone/>
            </a:pPr>
            <a:r>
              <a:rPr lang="en-US" sz="1100" b="1" dirty="0">
                <a:solidFill>
                  <a:srgbClr val="142C43"/>
                </a:solidFill>
                <a:latin typeface="Aptos" pitchFamily="34" charset="0"/>
                <a:ea typeface="Aptos" pitchFamily="34" charset="-122"/>
                <a:cs typeface="Aptos" pitchFamily="34" charset="-120"/>
              </a:rPr>
              <a:t>CSF 2.0 + NATO 2026</a:t>
            </a:r>
            <a:endParaRPr lang="en-US" sz="1100" dirty="0"/>
          </a:p>
        </p:txBody>
      </p:sp>
      <p:sp>
        <p:nvSpPr>
          <p:cNvPr id="21" name="Text 19"/>
          <p:cNvSpPr/>
          <p:nvPr/>
        </p:nvSpPr>
        <p:spPr>
          <a:xfrm>
            <a:off x="8339328" y="2441448"/>
            <a:ext cx="3017520" cy="1591056"/>
          </a:xfrm>
          <a:prstGeom prst="rect">
            <a:avLst/>
          </a:prstGeom>
          <a:noFill/>
          <a:ln/>
        </p:spPr>
        <p:txBody>
          <a:bodyPr wrap="square" lIns="0" tIns="0" rIns="0" bIns="0" rtlCol="0" anchor="t">
            <a:normAutofit/>
          </a:bodyPr>
          <a:lstStyle/>
          <a:p>
            <a:pPr indent="0" marL="0">
              <a:lnSpc>
                <a:spcPct val="104000"/>
              </a:lnSpc>
              <a:buNone/>
            </a:pPr>
            <a:r>
              <a:rPr lang="en-US" sz="1000" dirty="0">
                <a:solidFill>
                  <a:srgbClr val="718692"/>
                </a:solidFill>
                <a:latin typeface="Aptos" pitchFamily="34" charset="0"/>
                <a:ea typeface="Aptos" pitchFamily="34" charset="-122"/>
                <a:cs typeface="Aptos" pitchFamily="34" charset="-120"/>
              </a:rPr>
              <a:t>Recovery planning sits within CSF; NATO highlights essential services, cyber/physical risk and cascading disruption.</a:t>
            </a:r>
            <a:endParaRPr lang="en-US" sz="1000" dirty="0"/>
          </a:p>
        </p:txBody>
      </p:sp>
      <p:sp>
        <p:nvSpPr>
          <p:cNvPr id="22" name="Text 20"/>
          <p:cNvSpPr/>
          <p:nvPr/>
        </p:nvSpPr>
        <p:spPr>
          <a:xfrm>
            <a:off x="8339328" y="4206240"/>
            <a:ext cx="2971800" cy="182880"/>
          </a:xfrm>
          <a:prstGeom prst="rect">
            <a:avLst/>
          </a:prstGeom>
          <a:noFill/>
          <a:ln/>
        </p:spPr>
        <p:txBody>
          <a:bodyPr wrap="square" lIns="0" tIns="0" rIns="0" bIns="0" rtlCol="0" anchor="ctr">
            <a:normAutofit/>
          </a:bodyPr>
          <a:lstStyle/>
          <a:p>
            <a:pPr indent="0" marL="0">
              <a:buNone/>
            </a:pPr>
            <a:r>
              <a:rPr lang="en-US" sz="750" b="1" dirty="0">
                <a:solidFill>
                  <a:srgbClr val="16827E"/>
                </a:solidFill>
                <a:latin typeface="Aptos" pitchFamily="34" charset="0"/>
                <a:ea typeface="Aptos" pitchFamily="34" charset="-122"/>
                <a:cs typeface="Aptos" pitchFamily="34" charset="-120"/>
              </a:rPr>
              <a:t>Recovery and civil preparedness</a:t>
            </a:r>
            <a:endParaRPr lang="en-US" sz="750" dirty="0"/>
          </a:p>
        </p:txBody>
      </p:sp>
      <p:sp>
        <p:nvSpPr>
          <p:cNvPr id="23" name="Shape 21"/>
          <p:cNvSpPr/>
          <p:nvPr/>
        </p:nvSpPr>
        <p:spPr>
          <a:xfrm>
            <a:off x="640080" y="4526280"/>
            <a:ext cx="10927080" cy="1097280"/>
          </a:xfrm>
          <a:prstGeom prst="roundRect">
            <a:avLst>
              <a:gd name="adj" fmla="val 6667"/>
            </a:avLst>
          </a:prstGeom>
          <a:solidFill>
            <a:srgbClr val="142C43"/>
          </a:solidFill>
          <a:ln w="10160">
            <a:solidFill>
              <a:srgbClr val="142C43"/>
            </a:solidFill>
            <a:prstDash val="solid"/>
          </a:ln>
        </p:spPr>
      </p:sp>
      <p:sp>
        <p:nvSpPr>
          <p:cNvPr id="24" name="Text 22"/>
          <p:cNvSpPr/>
          <p:nvPr/>
        </p:nvSpPr>
        <p:spPr>
          <a:xfrm>
            <a:off x="914400" y="4754880"/>
            <a:ext cx="1554480" cy="182880"/>
          </a:xfrm>
          <a:prstGeom prst="rect">
            <a:avLst/>
          </a:prstGeom>
          <a:noFill/>
          <a:ln/>
        </p:spPr>
        <p:txBody>
          <a:bodyPr wrap="square" lIns="0" tIns="0" rIns="0" bIns="0" rtlCol="0" anchor="ctr">
            <a:normAutofit/>
          </a:bodyPr>
          <a:lstStyle/>
          <a:p>
            <a:pPr indent="0" marL="0">
              <a:buNone/>
            </a:pPr>
            <a:r>
              <a:rPr lang="en-US" sz="900" b="1" dirty="0">
                <a:solidFill>
                  <a:srgbClr val="9EDBD0"/>
                </a:solidFill>
                <a:latin typeface="Aptos" pitchFamily="34" charset="0"/>
                <a:ea typeface="Aptos" pitchFamily="34" charset="-122"/>
                <a:cs typeface="Aptos" pitchFamily="34" charset="-120"/>
              </a:rPr>
              <a:t>Product boundary</a:t>
            </a:r>
            <a:endParaRPr lang="en-US" sz="900" dirty="0"/>
          </a:p>
        </p:txBody>
      </p:sp>
      <p:sp>
        <p:nvSpPr>
          <p:cNvPr id="25" name="Text 23"/>
          <p:cNvSpPr/>
          <p:nvPr/>
        </p:nvSpPr>
        <p:spPr>
          <a:xfrm>
            <a:off x="2532888" y="4709160"/>
            <a:ext cx="8595360" cy="38404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Readiness evidence and a supervised test; not a compliance certification or backup replacement.</a:t>
            </a:r>
            <a:endParaRPr lang="en-US" sz="1500" dirty="0"/>
          </a:p>
        </p:txBody>
      </p:sp>
      <p:sp>
        <p:nvSpPr>
          <p:cNvPr id="26" name="Text 24"/>
          <p:cNvSpPr/>
          <p:nvPr/>
        </p:nvSpPr>
        <p:spPr>
          <a:xfrm>
            <a:off x="685800" y="5897880"/>
            <a:ext cx="10881360" cy="201168"/>
          </a:xfrm>
          <a:prstGeom prst="rect">
            <a:avLst/>
          </a:prstGeom>
          <a:noFill/>
          <a:ln/>
        </p:spPr>
        <p:txBody>
          <a:bodyPr wrap="square" lIns="0" tIns="0" rIns="0" bIns="0" rtlCol="0" anchor="ctr">
            <a:normAutofit/>
          </a:bodyPr>
          <a:lstStyle/>
          <a:p>
            <a:pPr indent="0" marL="0">
              <a:buNone/>
            </a:pPr>
            <a:r>
              <a:rPr lang="en-US" sz="700" dirty="0">
                <a:solidFill>
                  <a:srgbClr val="718692"/>
                </a:solidFill>
                <a:latin typeface="Aptos" pitchFamily="34" charset="0"/>
                <a:ea typeface="Aptos" pitchFamily="34" charset="-122"/>
                <a:cs typeface="Aptos" pitchFamily="34" charset="-120"/>
              </a:rPr>
              <a:t>Sources: csrc.nist.gov/pubs/sp/1339/final · csrc.nist.gov/pubs/sp/800/34/r1/upd1/final · nist.gov/cyberframework · nato.int, 15 Sep 2026</a:t>
            </a:r>
            <a:endParaRPr lang="en-US" sz="700" dirty="0"/>
          </a:p>
        </p:txBody>
      </p:sp>
      <p:sp>
        <p:nvSpPr>
          <p:cNvPr id="25" name="Slide Number Placeholder 0"/>
          <p:cNvSpPr>
            <a:spLocks noGrp="1"/>
          </p:cNvSpPr>
          <p:nvPr>
            <p:ph type="sldNum" sz="quarter" idx="4294967295"/>
          </p:nvPr>
        </p:nvSpPr>
        <p:spPr>
          <a:xfrm>
            <a:off x="11740896" y="6547104"/>
            <a:ext cx="228600" cy="146304"/>
          </a:xfrm>
          <a:prstGeom prst="rect">
            <a:avLst/>
          </a:prstGeom>
          <a:extLst>
            <a:ext uri="{C572A759-6A51-4108-AA02-DFA0A04FC94B}">
              <ma14:wrappingTextBoxFlag xmlns:ma14="http://schemas.microsoft.com/office/mac/drawingml/2011/main" val="0"/>
            </a:ext>
          </a:extLst>
        </p:spPr>
        <p:txBody>
          <a:bodyPr/>
          <a:lstStyle>
            <a:lvl1pPr>
              <a:defRPr sz="700">
                <a:solidFill>
                  <a:srgbClr val="80929D"/>
                </a:solidFill>
                <a:latin typeface="Aptos"/>
                <a:ea typeface="Aptos"/>
                <a:cs typeface="Aptos"/>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84048"/>
            <a:ext cx="10881360" cy="164592"/>
          </a:xfrm>
          <a:prstGeom prst="rect">
            <a:avLst/>
          </a:prstGeom>
          <a:noFill/>
          <a:ln/>
        </p:spPr>
        <p:txBody>
          <a:bodyPr wrap="square" lIns="0" tIns="0" rIns="0" bIns="0" rtlCol="0" anchor="ctr">
            <a:normAutofit/>
          </a:bodyPr>
          <a:lstStyle/>
          <a:p>
            <a:pPr indent="0" marL="0">
              <a:buNone/>
            </a:pPr>
            <a:r>
              <a:rPr lang="en-US" sz="800" b="1" spc="160" kern="0" dirty="0">
                <a:solidFill>
                  <a:srgbClr val="16827E"/>
                </a:solidFill>
                <a:latin typeface="Aptos" pitchFamily="34" charset="0"/>
                <a:ea typeface="Aptos" pitchFamily="34" charset="-122"/>
                <a:cs typeface="Aptos" pitchFamily="34" charset="-120"/>
              </a:rPr>
              <a:t>THE PRODUCT</a:t>
            </a:r>
            <a:endParaRPr lang="en-US" sz="800" dirty="0"/>
          </a:p>
        </p:txBody>
      </p:sp>
      <p:sp>
        <p:nvSpPr>
          <p:cNvPr id="3" name="Text 1"/>
          <p:cNvSpPr/>
          <p:nvPr/>
        </p:nvSpPr>
        <p:spPr>
          <a:xfrm>
            <a:off x="566928" y="694944"/>
            <a:ext cx="10972800" cy="438912"/>
          </a:xfrm>
          <a:prstGeom prst="rect">
            <a:avLst/>
          </a:prstGeom>
          <a:noFill/>
          <a:ln/>
        </p:spPr>
        <p:txBody>
          <a:bodyPr wrap="square" lIns="0" tIns="0" rIns="0" bIns="0" rtlCol="0" anchor="ctr">
            <a:normAutofit/>
          </a:bodyPr>
          <a:lstStyle/>
          <a:p>
            <a:pPr indent="0" marL="0">
              <a:buNone/>
            </a:pPr>
            <a:r>
              <a:rPr lang="en-US" sz="2500" b="1" spc="-60" kern="0" dirty="0">
                <a:solidFill>
                  <a:srgbClr val="142C43"/>
                </a:solidFill>
                <a:latin typeface="Aptos Display" pitchFamily="34" charset="0"/>
                <a:ea typeface="Aptos Display" pitchFamily="34" charset="-122"/>
                <a:cs typeface="Aptos Display" pitchFamily="34" charset="-120"/>
              </a:rPr>
              <a:t>Turn inventory into an evidence-backed recovery decision</a:t>
            </a:r>
            <a:endParaRPr lang="en-US" sz="2500" dirty="0"/>
          </a:p>
        </p:txBody>
      </p:sp>
      <p:sp>
        <p:nvSpPr>
          <p:cNvPr id="4" name="Text 2"/>
          <p:cNvSpPr/>
          <p:nvPr/>
        </p:nvSpPr>
        <p:spPr>
          <a:xfrm>
            <a:off x="585216" y="1216152"/>
            <a:ext cx="10972800" cy="256032"/>
          </a:xfrm>
          <a:prstGeom prst="rect">
            <a:avLst/>
          </a:prstGeom>
          <a:noFill/>
          <a:ln/>
        </p:spPr>
        <p:txBody>
          <a:bodyPr wrap="square" lIns="0" tIns="0" rIns="0" bIns="0" rtlCol="0" anchor="ctr">
            <a:normAutofit/>
          </a:bodyPr>
          <a:lstStyle/>
          <a:p>
            <a:pPr indent="0" marL="0">
              <a:buNone/>
            </a:pPr>
            <a:r>
              <a:rPr lang="en-US" sz="1000" dirty="0">
                <a:solidFill>
                  <a:srgbClr val="718692"/>
                </a:solidFill>
                <a:latin typeface="Aptos" pitchFamily="34" charset="0"/>
                <a:ea typeface="Aptos" pitchFamily="34" charset="-122"/>
                <a:cs typeface="Aptos" pitchFamily="34" charset="-120"/>
              </a:rPr>
              <a:t>One local workflow from scenario selection to a measured sandbox restore.</a:t>
            </a:r>
            <a:endParaRPr lang="en-US" sz="1000" dirty="0"/>
          </a:p>
        </p:txBody>
      </p:sp>
      <p:sp>
        <p:nvSpPr>
          <p:cNvPr id="5" name="Shape 3"/>
          <p:cNvSpPr/>
          <p:nvPr/>
        </p:nvSpPr>
        <p:spPr>
          <a:xfrm>
            <a:off x="1143000" y="1993392"/>
            <a:ext cx="438912" cy="438912"/>
          </a:xfrm>
          <a:prstGeom prst="ellipse">
            <a:avLst/>
          </a:prstGeom>
          <a:solidFill>
            <a:srgbClr val="E4F2EC"/>
          </a:solidFill>
          <a:ln w="12700">
            <a:solidFill>
              <a:srgbClr val="CFE7DF"/>
            </a:solidFill>
            <a:prstDash val="solid"/>
          </a:ln>
        </p:spPr>
      </p:sp>
      <p:sp>
        <p:nvSpPr>
          <p:cNvPr id="6" name="Text 4"/>
          <p:cNvSpPr/>
          <p:nvPr/>
        </p:nvSpPr>
        <p:spPr>
          <a:xfrm>
            <a:off x="1143000" y="2093976"/>
            <a:ext cx="438912" cy="173736"/>
          </a:xfrm>
          <a:prstGeom prst="rect">
            <a:avLst/>
          </a:prstGeom>
          <a:noFill/>
          <a:ln/>
        </p:spPr>
        <p:txBody>
          <a:bodyPr wrap="square" lIns="0" tIns="0" rIns="0" bIns="0" rtlCol="0" anchor="ctr">
            <a:normAutofit/>
          </a:bodyPr>
          <a:lstStyle/>
          <a:p>
            <a:pPr algn="ctr" indent="0" marL="0">
              <a:buNone/>
            </a:pPr>
            <a:r>
              <a:rPr lang="en-US" sz="900" b="1" dirty="0">
                <a:solidFill>
                  <a:srgbClr val="16827E"/>
                </a:solidFill>
                <a:latin typeface="Aptos" pitchFamily="34" charset="0"/>
                <a:ea typeface="Aptos" pitchFamily="34" charset="-122"/>
                <a:cs typeface="Aptos" pitchFamily="34" charset="-120"/>
              </a:rPr>
              <a:t>01</a:t>
            </a:r>
            <a:endParaRPr lang="en-US" sz="900" dirty="0"/>
          </a:p>
        </p:txBody>
      </p:sp>
      <p:sp>
        <p:nvSpPr>
          <p:cNvPr id="7" name="Shape 5"/>
          <p:cNvSpPr/>
          <p:nvPr/>
        </p:nvSpPr>
        <p:spPr>
          <a:xfrm>
            <a:off x="1755648" y="2212848"/>
            <a:ext cx="868680" cy="0"/>
          </a:xfrm>
          <a:prstGeom prst="line">
            <a:avLst/>
          </a:prstGeom>
          <a:noFill/>
          <a:ln w="19050">
            <a:solidFill>
              <a:srgbClr val="ADC7C9"/>
            </a:solidFill>
            <a:prstDash val="solid"/>
            <a:tailEnd type="triangle"/>
          </a:ln>
        </p:spPr>
      </p:sp>
      <p:sp>
        <p:nvSpPr>
          <p:cNvPr id="8" name="Text 6"/>
          <p:cNvSpPr/>
          <p:nvPr/>
        </p:nvSpPr>
        <p:spPr>
          <a:xfrm>
            <a:off x="658368" y="2670048"/>
            <a:ext cx="1417320" cy="246888"/>
          </a:xfrm>
          <a:prstGeom prst="rect">
            <a:avLst/>
          </a:prstGeom>
          <a:noFill/>
          <a:ln/>
        </p:spPr>
        <p:txBody>
          <a:bodyPr wrap="square" lIns="0" tIns="0" rIns="0" bIns="0" rtlCol="0" anchor="ctr">
            <a:normAutofit/>
          </a:bodyPr>
          <a:lstStyle/>
          <a:p>
            <a:pPr algn="ctr" indent="0" marL="0">
              <a:buNone/>
            </a:pPr>
            <a:r>
              <a:rPr lang="en-US" sz="1200" b="1" dirty="0">
                <a:solidFill>
                  <a:srgbClr val="142C43"/>
                </a:solidFill>
                <a:latin typeface="Aptos" pitchFamily="34" charset="0"/>
                <a:ea typeface="Aptos" pitchFamily="34" charset="-122"/>
                <a:cs typeface="Aptos" pitchFamily="34" charset="-120"/>
              </a:rPr>
              <a:t>Import</a:t>
            </a:r>
            <a:endParaRPr lang="en-US" sz="1200" dirty="0"/>
          </a:p>
        </p:txBody>
      </p:sp>
      <p:sp>
        <p:nvSpPr>
          <p:cNvPr id="9" name="Text 7"/>
          <p:cNvSpPr/>
          <p:nvPr/>
        </p:nvSpPr>
        <p:spPr>
          <a:xfrm>
            <a:off x="475488" y="3054096"/>
            <a:ext cx="1783080" cy="530352"/>
          </a:xfrm>
          <a:prstGeom prst="rect">
            <a:avLst/>
          </a:prstGeom>
          <a:noFill/>
          <a:ln/>
        </p:spPr>
        <p:txBody>
          <a:bodyPr wrap="square" lIns="0" tIns="0" rIns="0" bIns="0" rtlCol="0" anchor="t">
            <a:normAutofit/>
          </a:bodyPr>
          <a:lstStyle/>
          <a:p>
            <a:pPr algn="ctr" indent="0" marL="0">
              <a:buNone/>
            </a:pPr>
            <a:r>
              <a:rPr lang="en-US" sz="900" dirty="0">
                <a:solidFill>
                  <a:srgbClr val="718692"/>
                </a:solidFill>
                <a:latin typeface="Aptos" pitchFamily="34" charset="0"/>
                <a:ea typeface="Aptos" pitchFamily="34" charset="-122"/>
                <a:cs typeface="Aptos" pitchFamily="34" charset="-120"/>
              </a:rPr>
              <a:t>Services · backups</a:t>
            </a:r>
            <a:endParaRPr lang="en-US" sz="900" dirty="0"/>
          </a:p>
          <a:p>
            <a:pPr algn="ctr" indent="0" marL="0">
              <a:buNone/>
            </a:pPr>
            <a:r>
              <a:rPr lang="en-US" sz="900" dirty="0">
                <a:solidFill>
                  <a:srgbClr val="718692"/>
                </a:solidFill>
                <a:latin typeface="Aptos" pitchFamily="34" charset="0"/>
                <a:ea typeface="Aptos" pitchFamily="34" charset="-122"/>
                <a:cs typeface="Aptos" pitchFamily="34" charset="-120"/>
              </a:rPr>
              <a:t>manifest · targets</a:t>
            </a:r>
            <a:endParaRPr lang="en-US" sz="900" dirty="0"/>
          </a:p>
        </p:txBody>
      </p:sp>
      <p:sp>
        <p:nvSpPr>
          <p:cNvPr id="10" name="Shape 8"/>
          <p:cNvSpPr/>
          <p:nvPr/>
        </p:nvSpPr>
        <p:spPr>
          <a:xfrm>
            <a:off x="3447288" y="1993392"/>
            <a:ext cx="438912" cy="438912"/>
          </a:xfrm>
          <a:prstGeom prst="ellipse">
            <a:avLst/>
          </a:prstGeom>
          <a:solidFill>
            <a:srgbClr val="E4F2EC"/>
          </a:solidFill>
          <a:ln w="12700">
            <a:solidFill>
              <a:srgbClr val="CFE7DF"/>
            </a:solidFill>
            <a:prstDash val="solid"/>
          </a:ln>
        </p:spPr>
      </p:sp>
      <p:sp>
        <p:nvSpPr>
          <p:cNvPr id="11" name="Text 9"/>
          <p:cNvSpPr/>
          <p:nvPr/>
        </p:nvSpPr>
        <p:spPr>
          <a:xfrm>
            <a:off x="3447288" y="2093976"/>
            <a:ext cx="438912" cy="173736"/>
          </a:xfrm>
          <a:prstGeom prst="rect">
            <a:avLst/>
          </a:prstGeom>
          <a:noFill/>
          <a:ln/>
        </p:spPr>
        <p:txBody>
          <a:bodyPr wrap="square" lIns="0" tIns="0" rIns="0" bIns="0" rtlCol="0" anchor="ctr">
            <a:normAutofit/>
          </a:bodyPr>
          <a:lstStyle/>
          <a:p>
            <a:pPr algn="ctr" indent="0" marL="0">
              <a:buNone/>
            </a:pPr>
            <a:r>
              <a:rPr lang="en-US" sz="900" b="1" dirty="0">
                <a:solidFill>
                  <a:srgbClr val="16827E"/>
                </a:solidFill>
                <a:latin typeface="Aptos" pitchFamily="34" charset="0"/>
                <a:ea typeface="Aptos" pitchFamily="34" charset="-122"/>
                <a:cs typeface="Aptos" pitchFamily="34" charset="-120"/>
              </a:rPr>
              <a:t>02</a:t>
            </a:r>
            <a:endParaRPr lang="en-US" sz="900" dirty="0"/>
          </a:p>
        </p:txBody>
      </p:sp>
      <p:sp>
        <p:nvSpPr>
          <p:cNvPr id="12" name="Shape 10"/>
          <p:cNvSpPr/>
          <p:nvPr/>
        </p:nvSpPr>
        <p:spPr>
          <a:xfrm>
            <a:off x="4059936" y="2212848"/>
            <a:ext cx="868680" cy="0"/>
          </a:xfrm>
          <a:prstGeom prst="line">
            <a:avLst/>
          </a:prstGeom>
          <a:noFill/>
          <a:ln w="19050">
            <a:solidFill>
              <a:srgbClr val="ADC7C9"/>
            </a:solidFill>
            <a:prstDash val="solid"/>
            <a:tailEnd type="triangle"/>
          </a:ln>
        </p:spPr>
      </p:sp>
      <p:sp>
        <p:nvSpPr>
          <p:cNvPr id="13" name="Text 11"/>
          <p:cNvSpPr/>
          <p:nvPr/>
        </p:nvSpPr>
        <p:spPr>
          <a:xfrm>
            <a:off x="2962656" y="2670048"/>
            <a:ext cx="1417320" cy="246888"/>
          </a:xfrm>
          <a:prstGeom prst="rect">
            <a:avLst/>
          </a:prstGeom>
          <a:noFill/>
          <a:ln/>
        </p:spPr>
        <p:txBody>
          <a:bodyPr wrap="square" lIns="0" tIns="0" rIns="0" bIns="0" rtlCol="0" anchor="ctr">
            <a:normAutofit/>
          </a:bodyPr>
          <a:lstStyle/>
          <a:p>
            <a:pPr algn="ctr" indent="0" marL="0">
              <a:buNone/>
            </a:pPr>
            <a:r>
              <a:rPr lang="en-US" sz="1200" b="1" dirty="0">
                <a:solidFill>
                  <a:srgbClr val="142C43"/>
                </a:solidFill>
                <a:latin typeface="Aptos" pitchFamily="34" charset="0"/>
                <a:ea typeface="Aptos" pitchFamily="34" charset="-122"/>
                <a:cs typeface="Aptos" pitchFamily="34" charset="-120"/>
              </a:rPr>
              <a:t>Assess</a:t>
            </a:r>
            <a:endParaRPr lang="en-US" sz="1200" dirty="0"/>
          </a:p>
        </p:txBody>
      </p:sp>
      <p:sp>
        <p:nvSpPr>
          <p:cNvPr id="14" name="Text 12"/>
          <p:cNvSpPr/>
          <p:nvPr/>
        </p:nvSpPr>
        <p:spPr>
          <a:xfrm>
            <a:off x="2779776" y="3054096"/>
            <a:ext cx="1783080" cy="530352"/>
          </a:xfrm>
          <a:prstGeom prst="rect">
            <a:avLst/>
          </a:prstGeom>
          <a:noFill/>
          <a:ln/>
        </p:spPr>
        <p:txBody>
          <a:bodyPr wrap="square" lIns="0" tIns="0" rIns="0" bIns="0" rtlCol="0" anchor="t">
            <a:normAutofit/>
          </a:bodyPr>
          <a:lstStyle/>
          <a:p>
            <a:pPr algn="ctr" indent="0" marL="0">
              <a:buNone/>
            </a:pPr>
            <a:r>
              <a:rPr lang="en-US" sz="900" dirty="0">
                <a:solidFill>
                  <a:srgbClr val="718692"/>
                </a:solidFill>
                <a:latin typeface="Aptos" pitchFamily="34" charset="0"/>
                <a:ea typeface="Aptos" pitchFamily="34" charset="-122"/>
                <a:cs typeface="Aptos" pitchFamily="34" charset="-120"/>
              </a:rPr>
              <a:t>Hash · freshness</a:t>
            </a:r>
            <a:endParaRPr lang="en-US" sz="900" dirty="0"/>
          </a:p>
          <a:p>
            <a:pPr algn="ctr" indent="0" marL="0">
              <a:buNone/>
            </a:pPr>
            <a:r>
              <a:rPr lang="en-US" sz="900" dirty="0">
                <a:solidFill>
                  <a:srgbClr val="718692"/>
                </a:solidFill>
                <a:latin typeface="Aptos" pitchFamily="34" charset="0"/>
                <a:ea typeface="Aptos" pitchFamily="34" charset="-122"/>
                <a:cs typeface="Aptos" pitchFamily="34" charset="-120"/>
              </a:rPr>
              <a:t>location · blockers</a:t>
            </a:r>
            <a:endParaRPr lang="en-US" sz="900" dirty="0"/>
          </a:p>
        </p:txBody>
      </p:sp>
      <p:sp>
        <p:nvSpPr>
          <p:cNvPr id="15" name="Shape 13"/>
          <p:cNvSpPr/>
          <p:nvPr/>
        </p:nvSpPr>
        <p:spPr>
          <a:xfrm>
            <a:off x="5751576" y="1993392"/>
            <a:ext cx="438912" cy="438912"/>
          </a:xfrm>
          <a:prstGeom prst="ellipse">
            <a:avLst/>
          </a:prstGeom>
          <a:solidFill>
            <a:srgbClr val="E4F2EC"/>
          </a:solidFill>
          <a:ln w="12700">
            <a:solidFill>
              <a:srgbClr val="CFE7DF"/>
            </a:solidFill>
            <a:prstDash val="solid"/>
          </a:ln>
        </p:spPr>
      </p:sp>
      <p:sp>
        <p:nvSpPr>
          <p:cNvPr id="16" name="Text 14"/>
          <p:cNvSpPr/>
          <p:nvPr/>
        </p:nvSpPr>
        <p:spPr>
          <a:xfrm>
            <a:off x="5751576" y="2093976"/>
            <a:ext cx="438912" cy="173736"/>
          </a:xfrm>
          <a:prstGeom prst="rect">
            <a:avLst/>
          </a:prstGeom>
          <a:noFill/>
          <a:ln/>
        </p:spPr>
        <p:txBody>
          <a:bodyPr wrap="square" lIns="0" tIns="0" rIns="0" bIns="0" rtlCol="0" anchor="ctr">
            <a:normAutofit/>
          </a:bodyPr>
          <a:lstStyle/>
          <a:p>
            <a:pPr algn="ctr" indent="0" marL="0">
              <a:buNone/>
            </a:pPr>
            <a:r>
              <a:rPr lang="en-US" sz="900" b="1" dirty="0">
                <a:solidFill>
                  <a:srgbClr val="16827E"/>
                </a:solidFill>
                <a:latin typeface="Aptos" pitchFamily="34" charset="0"/>
                <a:ea typeface="Aptos" pitchFamily="34" charset="-122"/>
                <a:cs typeface="Aptos" pitchFamily="34" charset="-120"/>
              </a:rPr>
              <a:t>03</a:t>
            </a:r>
            <a:endParaRPr lang="en-US" sz="900" dirty="0"/>
          </a:p>
        </p:txBody>
      </p:sp>
      <p:sp>
        <p:nvSpPr>
          <p:cNvPr id="17" name="Shape 15"/>
          <p:cNvSpPr/>
          <p:nvPr/>
        </p:nvSpPr>
        <p:spPr>
          <a:xfrm>
            <a:off x="6364224" y="2212848"/>
            <a:ext cx="868680" cy="0"/>
          </a:xfrm>
          <a:prstGeom prst="line">
            <a:avLst/>
          </a:prstGeom>
          <a:noFill/>
          <a:ln w="19050">
            <a:solidFill>
              <a:srgbClr val="ADC7C9"/>
            </a:solidFill>
            <a:prstDash val="solid"/>
            <a:tailEnd type="triangle"/>
          </a:ln>
        </p:spPr>
      </p:sp>
      <p:sp>
        <p:nvSpPr>
          <p:cNvPr id="18" name="Text 16"/>
          <p:cNvSpPr/>
          <p:nvPr/>
        </p:nvSpPr>
        <p:spPr>
          <a:xfrm>
            <a:off x="5266944" y="2670048"/>
            <a:ext cx="1417320" cy="246888"/>
          </a:xfrm>
          <a:prstGeom prst="rect">
            <a:avLst/>
          </a:prstGeom>
          <a:noFill/>
          <a:ln/>
        </p:spPr>
        <p:txBody>
          <a:bodyPr wrap="square" lIns="0" tIns="0" rIns="0" bIns="0" rtlCol="0" anchor="ctr">
            <a:normAutofit/>
          </a:bodyPr>
          <a:lstStyle/>
          <a:p>
            <a:pPr algn="ctr" indent="0" marL="0">
              <a:buNone/>
            </a:pPr>
            <a:r>
              <a:rPr lang="en-US" sz="1200" b="1" dirty="0">
                <a:solidFill>
                  <a:srgbClr val="142C43"/>
                </a:solidFill>
                <a:latin typeface="Aptos" pitchFamily="34" charset="0"/>
                <a:ea typeface="Aptos" pitchFamily="34" charset="-122"/>
                <a:cs typeface="Aptos" pitchFamily="34" charset="-120"/>
              </a:rPr>
              <a:t>Sequence</a:t>
            </a:r>
            <a:endParaRPr lang="en-US" sz="1200" dirty="0"/>
          </a:p>
        </p:txBody>
      </p:sp>
      <p:sp>
        <p:nvSpPr>
          <p:cNvPr id="19" name="Text 17"/>
          <p:cNvSpPr/>
          <p:nvPr/>
        </p:nvSpPr>
        <p:spPr>
          <a:xfrm>
            <a:off x="5084064" y="3054096"/>
            <a:ext cx="1783080" cy="530352"/>
          </a:xfrm>
          <a:prstGeom prst="rect">
            <a:avLst/>
          </a:prstGeom>
          <a:noFill/>
          <a:ln/>
        </p:spPr>
        <p:txBody>
          <a:bodyPr wrap="square" lIns="0" tIns="0" rIns="0" bIns="0" rtlCol="0" anchor="t">
            <a:normAutofit/>
          </a:bodyPr>
          <a:lstStyle/>
          <a:p>
            <a:pPr algn="ctr" indent="0" marL="0">
              <a:buNone/>
            </a:pPr>
            <a:r>
              <a:rPr lang="en-US" sz="900" dirty="0">
                <a:solidFill>
                  <a:srgbClr val="718692"/>
                </a:solidFill>
                <a:latin typeface="Aptos" pitchFamily="34" charset="0"/>
                <a:ea typeface="Aptos" pitchFamily="34" charset="-122"/>
                <a:cs typeface="Aptos" pitchFamily="34" charset="-120"/>
              </a:rPr>
              <a:t>Dependencies first</a:t>
            </a:r>
            <a:endParaRPr lang="en-US" sz="900" dirty="0"/>
          </a:p>
          <a:p>
            <a:pPr algn="ctr" indent="0" marL="0">
              <a:buNone/>
            </a:pPr>
            <a:r>
              <a:rPr lang="en-US" sz="900" dirty="0">
                <a:solidFill>
                  <a:srgbClr val="718692"/>
                </a:solidFill>
                <a:latin typeface="Aptos" pitchFamily="34" charset="0"/>
                <a:ea typeface="Aptos" pitchFamily="34" charset="-122"/>
                <a:cs typeface="Aptos" pitchFamily="34" charset="-120"/>
              </a:rPr>
              <a:t>uncertainties shown</a:t>
            </a:r>
            <a:endParaRPr lang="en-US" sz="900" dirty="0"/>
          </a:p>
        </p:txBody>
      </p:sp>
      <p:sp>
        <p:nvSpPr>
          <p:cNvPr id="20" name="Shape 18"/>
          <p:cNvSpPr/>
          <p:nvPr/>
        </p:nvSpPr>
        <p:spPr>
          <a:xfrm>
            <a:off x="8055864" y="1993392"/>
            <a:ext cx="438912" cy="438912"/>
          </a:xfrm>
          <a:prstGeom prst="ellipse">
            <a:avLst/>
          </a:prstGeom>
          <a:solidFill>
            <a:srgbClr val="FBF3E6"/>
          </a:solidFill>
          <a:ln w="12700">
            <a:solidFill>
              <a:srgbClr val="EDDAB6"/>
            </a:solidFill>
            <a:prstDash val="solid"/>
          </a:ln>
        </p:spPr>
      </p:sp>
      <p:sp>
        <p:nvSpPr>
          <p:cNvPr id="21" name="Text 19"/>
          <p:cNvSpPr/>
          <p:nvPr/>
        </p:nvSpPr>
        <p:spPr>
          <a:xfrm>
            <a:off x="8055864" y="2093976"/>
            <a:ext cx="438912" cy="173736"/>
          </a:xfrm>
          <a:prstGeom prst="rect">
            <a:avLst/>
          </a:prstGeom>
          <a:noFill/>
          <a:ln/>
        </p:spPr>
        <p:txBody>
          <a:bodyPr wrap="square" lIns="0" tIns="0" rIns="0" bIns="0" rtlCol="0" anchor="ctr">
            <a:normAutofit/>
          </a:bodyPr>
          <a:lstStyle/>
          <a:p>
            <a:pPr algn="ctr" indent="0" marL="0">
              <a:buNone/>
            </a:pPr>
            <a:r>
              <a:rPr lang="en-US" sz="900" b="1" dirty="0">
                <a:solidFill>
                  <a:srgbClr val="B7781E"/>
                </a:solidFill>
                <a:latin typeface="Aptos" pitchFamily="34" charset="0"/>
                <a:ea typeface="Aptos" pitchFamily="34" charset="-122"/>
                <a:cs typeface="Aptos" pitchFamily="34" charset="-120"/>
              </a:rPr>
              <a:t>04</a:t>
            </a:r>
            <a:endParaRPr lang="en-US" sz="900" dirty="0"/>
          </a:p>
        </p:txBody>
      </p:sp>
      <p:sp>
        <p:nvSpPr>
          <p:cNvPr id="22" name="Shape 20"/>
          <p:cNvSpPr/>
          <p:nvPr/>
        </p:nvSpPr>
        <p:spPr>
          <a:xfrm>
            <a:off x="8668512" y="2212848"/>
            <a:ext cx="868680" cy="0"/>
          </a:xfrm>
          <a:prstGeom prst="line">
            <a:avLst/>
          </a:prstGeom>
          <a:noFill/>
          <a:ln w="19050">
            <a:solidFill>
              <a:srgbClr val="ADC7C9"/>
            </a:solidFill>
            <a:prstDash val="solid"/>
            <a:tailEnd type="triangle"/>
          </a:ln>
        </p:spPr>
      </p:sp>
      <p:sp>
        <p:nvSpPr>
          <p:cNvPr id="23" name="Text 21"/>
          <p:cNvSpPr/>
          <p:nvPr/>
        </p:nvSpPr>
        <p:spPr>
          <a:xfrm>
            <a:off x="7571232" y="2670048"/>
            <a:ext cx="1417320" cy="246888"/>
          </a:xfrm>
          <a:prstGeom prst="rect">
            <a:avLst/>
          </a:prstGeom>
          <a:noFill/>
          <a:ln/>
        </p:spPr>
        <p:txBody>
          <a:bodyPr wrap="square" lIns="0" tIns="0" rIns="0" bIns="0" rtlCol="0" anchor="ctr">
            <a:normAutofit/>
          </a:bodyPr>
          <a:lstStyle/>
          <a:p>
            <a:pPr algn="ctr" indent="0" marL="0">
              <a:buNone/>
            </a:pPr>
            <a:r>
              <a:rPr lang="en-US" sz="1200" b="1" dirty="0">
                <a:solidFill>
                  <a:srgbClr val="142C43"/>
                </a:solidFill>
                <a:latin typeface="Aptos" pitchFamily="34" charset="0"/>
                <a:ea typeface="Aptos" pitchFamily="34" charset="-122"/>
                <a:cs typeface="Aptos" pitchFamily="34" charset="-120"/>
              </a:rPr>
              <a:t>Approve</a:t>
            </a:r>
            <a:endParaRPr lang="en-US" sz="1200" dirty="0"/>
          </a:p>
        </p:txBody>
      </p:sp>
      <p:sp>
        <p:nvSpPr>
          <p:cNvPr id="24" name="Text 22"/>
          <p:cNvSpPr/>
          <p:nvPr/>
        </p:nvSpPr>
        <p:spPr>
          <a:xfrm>
            <a:off x="7388352" y="3054096"/>
            <a:ext cx="1783080" cy="530352"/>
          </a:xfrm>
          <a:prstGeom prst="rect">
            <a:avLst/>
          </a:prstGeom>
          <a:noFill/>
          <a:ln/>
        </p:spPr>
        <p:txBody>
          <a:bodyPr wrap="square" lIns="0" tIns="0" rIns="0" bIns="0" rtlCol="0" anchor="t">
            <a:normAutofit/>
          </a:bodyPr>
          <a:lstStyle/>
          <a:p>
            <a:pPr algn="ctr" indent="0" marL="0">
              <a:buNone/>
            </a:pPr>
            <a:r>
              <a:rPr lang="en-US" sz="900" dirty="0">
                <a:solidFill>
                  <a:srgbClr val="718692"/>
                </a:solidFill>
                <a:latin typeface="Aptos" pitchFamily="34" charset="0"/>
                <a:ea typeface="Aptos" pitchFamily="34" charset="-122"/>
                <a:cs typeface="Aptos" pitchFamily="34" charset="-120"/>
              </a:rPr>
              <a:t>Human reviews</a:t>
            </a:r>
            <a:endParaRPr lang="en-US" sz="900" dirty="0"/>
          </a:p>
          <a:p>
            <a:pPr algn="ctr" indent="0" marL="0">
              <a:buNone/>
            </a:pPr>
            <a:r>
              <a:rPr lang="en-US" sz="900" dirty="0">
                <a:solidFill>
                  <a:srgbClr val="718692"/>
                </a:solidFill>
                <a:latin typeface="Aptos" pitchFamily="34" charset="0"/>
                <a:ea typeface="Aptos" pitchFamily="34" charset="-122"/>
                <a:cs typeface="Aptos" pitchFamily="34" charset="-120"/>
              </a:rPr>
              <a:t>fixed sandbox action</a:t>
            </a:r>
            <a:endParaRPr lang="en-US" sz="900" dirty="0"/>
          </a:p>
        </p:txBody>
      </p:sp>
      <p:sp>
        <p:nvSpPr>
          <p:cNvPr id="25" name="Shape 23"/>
          <p:cNvSpPr/>
          <p:nvPr/>
        </p:nvSpPr>
        <p:spPr>
          <a:xfrm>
            <a:off x="10360152" y="1993392"/>
            <a:ext cx="438912" cy="438912"/>
          </a:xfrm>
          <a:prstGeom prst="ellipse">
            <a:avLst/>
          </a:prstGeom>
          <a:solidFill>
            <a:srgbClr val="E4F2EC"/>
          </a:solidFill>
          <a:ln w="12700">
            <a:solidFill>
              <a:srgbClr val="CFE7DF"/>
            </a:solidFill>
            <a:prstDash val="solid"/>
          </a:ln>
        </p:spPr>
      </p:sp>
      <p:sp>
        <p:nvSpPr>
          <p:cNvPr id="26" name="Text 24"/>
          <p:cNvSpPr/>
          <p:nvPr/>
        </p:nvSpPr>
        <p:spPr>
          <a:xfrm>
            <a:off x="10360152" y="2093976"/>
            <a:ext cx="438912" cy="173736"/>
          </a:xfrm>
          <a:prstGeom prst="rect">
            <a:avLst/>
          </a:prstGeom>
          <a:noFill/>
          <a:ln/>
        </p:spPr>
        <p:txBody>
          <a:bodyPr wrap="square" lIns="0" tIns="0" rIns="0" bIns="0" rtlCol="0" anchor="ctr">
            <a:normAutofit/>
          </a:bodyPr>
          <a:lstStyle/>
          <a:p>
            <a:pPr algn="ctr" indent="0" marL="0">
              <a:buNone/>
            </a:pPr>
            <a:r>
              <a:rPr lang="en-US" sz="900" b="1" dirty="0">
                <a:solidFill>
                  <a:srgbClr val="16827E"/>
                </a:solidFill>
                <a:latin typeface="Aptos" pitchFamily="34" charset="0"/>
                <a:ea typeface="Aptos" pitchFamily="34" charset="-122"/>
                <a:cs typeface="Aptos" pitchFamily="34" charset="-120"/>
              </a:rPr>
              <a:t>05</a:t>
            </a:r>
            <a:endParaRPr lang="en-US" sz="900" dirty="0"/>
          </a:p>
        </p:txBody>
      </p:sp>
      <p:sp>
        <p:nvSpPr>
          <p:cNvPr id="27" name="Text 25"/>
          <p:cNvSpPr/>
          <p:nvPr/>
        </p:nvSpPr>
        <p:spPr>
          <a:xfrm>
            <a:off x="9875520" y="2670048"/>
            <a:ext cx="1417320" cy="246888"/>
          </a:xfrm>
          <a:prstGeom prst="rect">
            <a:avLst/>
          </a:prstGeom>
          <a:noFill/>
          <a:ln/>
        </p:spPr>
        <p:txBody>
          <a:bodyPr wrap="square" lIns="0" tIns="0" rIns="0" bIns="0" rtlCol="0" anchor="ctr">
            <a:normAutofit/>
          </a:bodyPr>
          <a:lstStyle/>
          <a:p>
            <a:pPr algn="ctr" indent="0" marL="0">
              <a:buNone/>
            </a:pPr>
            <a:r>
              <a:rPr lang="en-US" sz="1200" b="1" dirty="0">
                <a:solidFill>
                  <a:srgbClr val="142C43"/>
                </a:solidFill>
                <a:latin typeface="Aptos" pitchFamily="34" charset="0"/>
                <a:ea typeface="Aptos" pitchFamily="34" charset="-122"/>
                <a:cs typeface="Aptos" pitchFamily="34" charset="-120"/>
              </a:rPr>
              <a:t>Prove</a:t>
            </a:r>
            <a:endParaRPr lang="en-US" sz="1200" dirty="0"/>
          </a:p>
        </p:txBody>
      </p:sp>
      <p:sp>
        <p:nvSpPr>
          <p:cNvPr id="28" name="Text 26"/>
          <p:cNvSpPr/>
          <p:nvPr/>
        </p:nvSpPr>
        <p:spPr>
          <a:xfrm>
            <a:off x="9692640" y="3054096"/>
            <a:ext cx="1783080" cy="530352"/>
          </a:xfrm>
          <a:prstGeom prst="rect">
            <a:avLst/>
          </a:prstGeom>
          <a:noFill/>
          <a:ln/>
        </p:spPr>
        <p:txBody>
          <a:bodyPr wrap="square" lIns="0" tIns="0" rIns="0" bIns="0" rtlCol="0" anchor="t">
            <a:normAutofit/>
          </a:bodyPr>
          <a:lstStyle/>
          <a:p>
            <a:pPr algn="ctr" indent="0" marL="0">
              <a:buNone/>
            </a:pPr>
            <a:r>
              <a:rPr lang="en-US" sz="900" dirty="0">
                <a:solidFill>
                  <a:srgbClr val="718692"/>
                </a:solidFill>
                <a:latin typeface="Aptos" pitchFamily="34" charset="0"/>
                <a:ea typeface="Aptos" pitchFamily="34" charset="-122"/>
                <a:cs typeface="Aptos" pitchFamily="34" charset="-120"/>
              </a:rPr>
              <a:t>Copy · checksum</a:t>
            </a:r>
            <a:endParaRPr lang="en-US" sz="900" dirty="0"/>
          </a:p>
          <a:p>
            <a:pPr algn="ctr" indent="0" marL="0">
              <a:buNone/>
            </a:pPr>
            <a:r>
              <a:rPr lang="en-US" sz="900" dirty="0">
                <a:solidFill>
                  <a:srgbClr val="718692"/>
                </a:solidFill>
                <a:latin typeface="Aptos" pitchFamily="34" charset="0"/>
                <a:ea typeface="Aptos" pitchFamily="34" charset="-122"/>
                <a:cs typeface="Aptos" pitchFamily="34" charset="-120"/>
              </a:rPr>
              <a:t>health · report</a:t>
            </a:r>
            <a:endParaRPr lang="en-US" sz="900" dirty="0"/>
          </a:p>
        </p:txBody>
      </p:sp>
      <p:sp>
        <p:nvSpPr>
          <p:cNvPr id="29" name="Shape 27"/>
          <p:cNvSpPr/>
          <p:nvPr/>
        </p:nvSpPr>
        <p:spPr>
          <a:xfrm>
            <a:off x="713232" y="4096512"/>
            <a:ext cx="10744200" cy="1051560"/>
          </a:xfrm>
          <a:prstGeom prst="roundRect">
            <a:avLst>
              <a:gd name="adj" fmla="val 6957"/>
            </a:avLst>
          </a:prstGeom>
          <a:solidFill>
            <a:srgbClr val="FFFFFF"/>
          </a:solidFill>
          <a:ln w="10160">
            <a:solidFill>
              <a:srgbClr val="DCE6E9"/>
            </a:solidFill>
            <a:prstDash val="solid"/>
          </a:ln>
        </p:spPr>
      </p:sp>
      <p:sp>
        <p:nvSpPr>
          <p:cNvPr id="30" name="Text 28"/>
          <p:cNvSpPr/>
          <p:nvPr/>
        </p:nvSpPr>
        <p:spPr>
          <a:xfrm>
            <a:off x="896112" y="4325112"/>
            <a:ext cx="1901952" cy="164592"/>
          </a:xfrm>
          <a:prstGeom prst="rect">
            <a:avLst/>
          </a:prstGeom>
          <a:noFill/>
          <a:ln/>
        </p:spPr>
        <p:txBody>
          <a:bodyPr wrap="square" lIns="0" tIns="0" rIns="0" bIns="0" rtlCol="0" anchor="ctr">
            <a:normAutofit/>
          </a:bodyPr>
          <a:lstStyle/>
          <a:p>
            <a:pPr algn="ctr" indent="0" marL="0">
              <a:buNone/>
            </a:pPr>
            <a:r>
              <a:rPr lang="en-US" sz="800" b="1" spc="65" kern="0" dirty="0">
                <a:solidFill>
                  <a:srgbClr val="16827E"/>
                </a:solidFill>
                <a:latin typeface="Aptos" pitchFamily="34" charset="0"/>
                <a:ea typeface="Aptos" pitchFamily="34" charset="-122"/>
                <a:cs typeface="Aptos" pitchFamily="34" charset="-120"/>
              </a:rPr>
              <a:t>PRESENT</a:t>
            </a:r>
            <a:endParaRPr lang="en-US" sz="800" dirty="0"/>
          </a:p>
        </p:txBody>
      </p:sp>
      <p:sp>
        <p:nvSpPr>
          <p:cNvPr id="31" name="Text 29"/>
          <p:cNvSpPr/>
          <p:nvPr/>
        </p:nvSpPr>
        <p:spPr>
          <a:xfrm>
            <a:off x="896112" y="4617720"/>
            <a:ext cx="1901952" cy="210312"/>
          </a:xfrm>
          <a:prstGeom prst="rect">
            <a:avLst/>
          </a:prstGeom>
          <a:noFill/>
          <a:ln/>
        </p:spPr>
        <p:txBody>
          <a:bodyPr wrap="square" lIns="0" tIns="0" rIns="0" bIns="0" rtlCol="0" anchor="ctr">
            <a:normAutofit/>
          </a:bodyPr>
          <a:lstStyle/>
          <a:p>
            <a:pPr algn="ctr" indent="0" marL="0">
              <a:buNone/>
            </a:pPr>
            <a:r>
              <a:rPr lang="en-US" sz="900" dirty="0">
                <a:solidFill>
                  <a:srgbClr val="203B50"/>
                </a:solidFill>
                <a:latin typeface="Aptos" pitchFamily="34" charset="0"/>
                <a:ea typeface="Aptos" pitchFamily="34" charset="-122"/>
                <a:cs typeface="Aptos" pitchFamily="34" charset="-120"/>
              </a:rPr>
              <a:t>file found?</a:t>
            </a:r>
            <a:endParaRPr lang="en-US" sz="900" dirty="0"/>
          </a:p>
        </p:txBody>
      </p:sp>
      <p:sp>
        <p:nvSpPr>
          <p:cNvPr id="32" name="Text 30"/>
          <p:cNvSpPr/>
          <p:nvPr/>
        </p:nvSpPr>
        <p:spPr>
          <a:xfrm>
            <a:off x="3008376" y="4325112"/>
            <a:ext cx="1901952" cy="164592"/>
          </a:xfrm>
          <a:prstGeom prst="rect">
            <a:avLst/>
          </a:prstGeom>
          <a:noFill/>
          <a:ln/>
        </p:spPr>
        <p:txBody>
          <a:bodyPr wrap="square" lIns="0" tIns="0" rIns="0" bIns="0" rtlCol="0" anchor="ctr">
            <a:normAutofit/>
          </a:bodyPr>
          <a:lstStyle/>
          <a:p>
            <a:pPr algn="ctr" indent="0" marL="0">
              <a:buNone/>
            </a:pPr>
            <a:r>
              <a:rPr lang="en-US" sz="800" b="1" spc="65" kern="0" dirty="0">
                <a:solidFill>
                  <a:srgbClr val="16827E"/>
                </a:solidFill>
                <a:latin typeface="Aptos" pitchFamily="34" charset="0"/>
                <a:ea typeface="Aptos" pitchFamily="34" charset="-122"/>
                <a:cs typeface="Aptos" pitchFamily="34" charset="-120"/>
              </a:rPr>
              <a:t>FRESH ENOUGH</a:t>
            </a:r>
            <a:endParaRPr lang="en-US" sz="800" dirty="0"/>
          </a:p>
        </p:txBody>
      </p:sp>
      <p:sp>
        <p:nvSpPr>
          <p:cNvPr id="33" name="Text 31"/>
          <p:cNvSpPr/>
          <p:nvPr/>
        </p:nvSpPr>
        <p:spPr>
          <a:xfrm>
            <a:off x="3008376" y="4617720"/>
            <a:ext cx="1901952" cy="210312"/>
          </a:xfrm>
          <a:prstGeom prst="rect">
            <a:avLst/>
          </a:prstGeom>
          <a:noFill/>
          <a:ln/>
        </p:spPr>
        <p:txBody>
          <a:bodyPr wrap="square" lIns="0" tIns="0" rIns="0" bIns="0" rtlCol="0" anchor="ctr">
            <a:normAutofit/>
          </a:bodyPr>
          <a:lstStyle/>
          <a:p>
            <a:pPr algn="ctr" indent="0" marL="0">
              <a:buNone/>
            </a:pPr>
            <a:r>
              <a:rPr lang="en-US" sz="900" dirty="0">
                <a:solidFill>
                  <a:srgbClr val="203B50"/>
                </a:solidFill>
                <a:latin typeface="Aptos" pitchFamily="34" charset="0"/>
                <a:ea typeface="Aptos" pitchFamily="34" charset="-122"/>
                <a:cs typeface="Aptos" pitchFamily="34" charset="-120"/>
              </a:rPr>
              <a:t>within data-loss target?</a:t>
            </a:r>
            <a:endParaRPr lang="en-US" sz="900" dirty="0"/>
          </a:p>
        </p:txBody>
      </p:sp>
      <p:sp>
        <p:nvSpPr>
          <p:cNvPr id="34" name="Shape 32"/>
          <p:cNvSpPr/>
          <p:nvPr/>
        </p:nvSpPr>
        <p:spPr>
          <a:xfrm>
            <a:off x="2916936" y="4297680"/>
            <a:ext cx="0" cy="640080"/>
          </a:xfrm>
          <a:prstGeom prst="line">
            <a:avLst/>
          </a:prstGeom>
          <a:noFill/>
          <a:ln w="10160">
            <a:solidFill>
              <a:srgbClr val="DCE6E9"/>
            </a:solidFill>
            <a:prstDash val="solid"/>
          </a:ln>
        </p:spPr>
      </p:sp>
      <p:sp>
        <p:nvSpPr>
          <p:cNvPr id="35" name="Text 33"/>
          <p:cNvSpPr/>
          <p:nvPr/>
        </p:nvSpPr>
        <p:spPr>
          <a:xfrm>
            <a:off x="5120640" y="4325112"/>
            <a:ext cx="1901952" cy="164592"/>
          </a:xfrm>
          <a:prstGeom prst="rect">
            <a:avLst/>
          </a:prstGeom>
          <a:noFill/>
          <a:ln/>
        </p:spPr>
        <p:txBody>
          <a:bodyPr wrap="square" lIns="0" tIns="0" rIns="0" bIns="0" rtlCol="0" anchor="ctr">
            <a:normAutofit/>
          </a:bodyPr>
          <a:lstStyle/>
          <a:p>
            <a:pPr algn="ctr" indent="0" marL="0">
              <a:buNone/>
            </a:pPr>
            <a:r>
              <a:rPr lang="en-US" sz="800" b="1" spc="65" kern="0" dirty="0">
                <a:solidFill>
                  <a:srgbClr val="16827E"/>
                </a:solidFill>
                <a:latin typeface="Aptos" pitchFamily="34" charset="0"/>
                <a:ea typeface="Aptos" pitchFamily="34" charset="-122"/>
                <a:cs typeface="Aptos" pitchFamily="34" charset="-120"/>
              </a:rPr>
              <a:t>FILE MATCH</a:t>
            </a:r>
            <a:endParaRPr lang="en-US" sz="800" dirty="0"/>
          </a:p>
        </p:txBody>
      </p:sp>
      <p:sp>
        <p:nvSpPr>
          <p:cNvPr id="36" name="Text 34"/>
          <p:cNvSpPr/>
          <p:nvPr/>
        </p:nvSpPr>
        <p:spPr>
          <a:xfrm>
            <a:off x="5120640" y="4617720"/>
            <a:ext cx="1901952" cy="210312"/>
          </a:xfrm>
          <a:prstGeom prst="rect">
            <a:avLst/>
          </a:prstGeom>
          <a:noFill/>
          <a:ln/>
        </p:spPr>
        <p:txBody>
          <a:bodyPr wrap="square" lIns="0" tIns="0" rIns="0" bIns="0" rtlCol="0" anchor="ctr">
            <a:normAutofit/>
          </a:bodyPr>
          <a:lstStyle/>
          <a:p>
            <a:pPr algn="ctr" indent="0" marL="0">
              <a:buNone/>
            </a:pPr>
            <a:r>
              <a:rPr lang="en-US" sz="900" dirty="0">
                <a:solidFill>
                  <a:srgbClr val="203B50"/>
                </a:solidFill>
                <a:latin typeface="Aptos" pitchFamily="34" charset="0"/>
                <a:ea typeface="Aptos" pitchFamily="34" charset="-122"/>
                <a:cs typeface="Aptos" pitchFamily="34" charset="-120"/>
              </a:rPr>
              <a:t>fingerprint matches?</a:t>
            </a:r>
            <a:endParaRPr lang="en-US" sz="900" dirty="0"/>
          </a:p>
        </p:txBody>
      </p:sp>
      <p:sp>
        <p:nvSpPr>
          <p:cNvPr id="37" name="Shape 35"/>
          <p:cNvSpPr/>
          <p:nvPr/>
        </p:nvSpPr>
        <p:spPr>
          <a:xfrm>
            <a:off x="5029200" y="4297680"/>
            <a:ext cx="0" cy="640080"/>
          </a:xfrm>
          <a:prstGeom prst="line">
            <a:avLst/>
          </a:prstGeom>
          <a:noFill/>
          <a:ln w="10160">
            <a:solidFill>
              <a:srgbClr val="DCE6E9"/>
            </a:solidFill>
            <a:prstDash val="solid"/>
          </a:ln>
        </p:spPr>
      </p:sp>
      <p:sp>
        <p:nvSpPr>
          <p:cNvPr id="38" name="Text 36"/>
          <p:cNvSpPr/>
          <p:nvPr/>
        </p:nvSpPr>
        <p:spPr>
          <a:xfrm>
            <a:off x="7232904" y="4325112"/>
            <a:ext cx="1901952" cy="164592"/>
          </a:xfrm>
          <a:prstGeom prst="rect">
            <a:avLst/>
          </a:prstGeom>
          <a:noFill/>
          <a:ln/>
        </p:spPr>
        <p:txBody>
          <a:bodyPr wrap="square" lIns="0" tIns="0" rIns="0" bIns="0" rtlCol="0" anchor="ctr">
            <a:normAutofit/>
          </a:bodyPr>
          <a:lstStyle/>
          <a:p>
            <a:pPr algn="ctr" indent="0" marL="0">
              <a:buNone/>
            </a:pPr>
            <a:r>
              <a:rPr lang="en-US" sz="800" b="1" spc="65" kern="0" dirty="0">
                <a:solidFill>
                  <a:srgbClr val="B7781E"/>
                </a:solidFill>
                <a:latin typeface="Aptos" pitchFamily="34" charset="0"/>
                <a:ea typeface="Aptos" pitchFamily="34" charset="-122"/>
                <a:cs typeface="Aptos" pitchFamily="34" charset="-120"/>
              </a:rPr>
              <a:t>MALWARE</a:t>
            </a:r>
            <a:endParaRPr lang="en-US" sz="800" dirty="0"/>
          </a:p>
        </p:txBody>
      </p:sp>
      <p:sp>
        <p:nvSpPr>
          <p:cNvPr id="39" name="Text 37"/>
          <p:cNvSpPr/>
          <p:nvPr/>
        </p:nvSpPr>
        <p:spPr>
          <a:xfrm>
            <a:off x="7232904" y="4617720"/>
            <a:ext cx="1901952" cy="210312"/>
          </a:xfrm>
          <a:prstGeom prst="rect">
            <a:avLst/>
          </a:prstGeom>
          <a:noFill/>
          <a:ln/>
        </p:spPr>
        <p:txBody>
          <a:bodyPr wrap="square" lIns="0" tIns="0" rIns="0" bIns="0" rtlCol="0" anchor="ctr">
            <a:normAutofit/>
          </a:bodyPr>
          <a:lstStyle/>
          <a:p>
            <a:pPr algn="ctr" indent="0" marL="0">
              <a:buNone/>
            </a:pPr>
            <a:r>
              <a:rPr lang="en-US" sz="900" dirty="0">
                <a:solidFill>
                  <a:srgbClr val="203B50"/>
                </a:solidFill>
                <a:latin typeface="Aptos" pitchFamily="34" charset="0"/>
                <a:ea typeface="Aptos" pitchFamily="34" charset="-122"/>
                <a:cs typeface="Aptos" pitchFamily="34" charset="-120"/>
              </a:rPr>
              <a:t>unknown unless scanned</a:t>
            </a:r>
            <a:endParaRPr lang="en-US" sz="900" dirty="0"/>
          </a:p>
        </p:txBody>
      </p:sp>
      <p:sp>
        <p:nvSpPr>
          <p:cNvPr id="40" name="Shape 38"/>
          <p:cNvSpPr/>
          <p:nvPr/>
        </p:nvSpPr>
        <p:spPr>
          <a:xfrm>
            <a:off x="7141464" y="4297680"/>
            <a:ext cx="0" cy="640080"/>
          </a:xfrm>
          <a:prstGeom prst="line">
            <a:avLst/>
          </a:prstGeom>
          <a:noFill/>
          <a:ln w="10160">
            <a:solidFill>
              <a:srgbClr val="DCE6E9"/>
            </a:solidFill>
            <a:prstDash val="solid"/>
          </a:ln>
        </p:spPr>
      </p:sp>
      <p:sp>
        <p:nvSpPr>
          <p:cNvPr id="41" name="Text 39"/>
          <p:cNvSpPr/>
          <p:nvPr/>
        </p:nvSpPr>
        <p:spPr>
          <a:xfrm>
            <a:off x="9345168" y="4325112"/>
            <a:ext cx="1901952" cy="164592"/>
          </a:xfrm>
          <a:prstGeom prst="rect">
            <a:avLst/>
          </a:prstGeom>
          <a:noFill/>
          <a:ln/>
        </p:spPr>
        <p:txBody>
          <a:bodyPr wrap="square" lIns="0" tIns="0" rIns="0" bIns="0" rtlCol="0" anchor="ctr">
            <a:normAutofit/>
          </a:bodyPr>
          <a:lstStyle/>
          <a:p>
            <a:pPr algn="ctr" indent="0" marL="0">
              <a:buNone/>
            </a:pPr>
            <a:r>
              <a:rPr lang="en-US" sz="800" b="1" spc="65" kern="0" dirty="0">
                <a:solidFill>
                  <a:srgbClr val="16827E"/>
                </a:solidFill>
                <a:latin typeface="Aptos" pitchFamily="34" charset="0"/>
                <a:ea typeface="Aptos" pitchFamily="34" charset="-122"/>
                <a:cs typeface="Aptos" pitchFamily="34" charset="-120"/>
              </a:rPr>
              <a:t>RESTORE</a:t>
            </a:r>
            <a:endParaRPr lang="en-US" sz="800" dirty="0"/>
          </a:p>
        </p:txBody>
      </p:sp>
      <p:sp>
        <p:nvSpPr>
          <p:cNvPr id="42" name="Text 40"/>
          <p:cNvSpPr/>
          <p:nvPr/>
        </p:nvSpPr>
        <p:spPr>
          <a:xfrm>
            <a:off x="9345168" y="4617720"/>
            <a:ext cx="1901952" cy="210312"/>
          </a:xfrm>
          <a:prstGeom prst="rect">
            <a:avLst/>
          </a:prstGeom>
          <a:noFill/>
          <a:ln/>
        </p:spPr>
        <p:txBody>
          <a:bodyPr wrap="square" lIns="0" tIns="0" rIns="0" bIns="0" rtlCol="0" anchor="ctr">
            <a:normAutofit/>
          </a:bodyPr>
          <a:lstStyle/>
          <a:p>
            <a:pPr algn="ctr" indent="0" marL="0">
              <a:buNone/>
            </a:pPr>
            <a:r>
              <a:rPr lang="en-US" sz="900" dirty="0">
                <a:solidFill>
                  <a:srgbClr val="203B50"/>
                </a:solidFill>
                <a:latin typeface="Aptos" pitchFamily="34" charset="0"/>
                <a:ea typeface="Aptos" pitchFamily="34" charset="-122"/>
                <a:cs typeface="Aptos" pitchFamily="34" charset="-120"/>
              </a:rPr>
              <a:t>tested only after copy</a:t>
            </a:r>
            <a:endParaRPr lang="en-US" sz="900" dirty="0"/>
          </a:p>
        </p:txBody>
      </p:sp>
      <p:sp>
        <p:nvSpPr>
          <p:cNvPr id="43" name="Shape 41"/>
          <p:cNvSpPr/>
          <p:nvPr/>
        </p:nvSpPr>
        <p:spPr>
          <a:xfrm>
            <a:off x="9253728" y="4297680"/>
            <a:ext cx="0" cy="640080"/>
          </a:xfrm>
          <a:prstGeom prst="line">
            <a:avLst/>
          </a:prstGeom>
          <a:noFill/>
          <a:ln w="10160">
            <a:solidFill>
              <a:srgbClr val="DCE6E9"/>
            </a:solidFill>
            <a:prstDash val="solid"/>
          </a:ln>
        </p:spPr>
      </p:sp>
      <p:sp>
        <p:nvSpPr>
          <p:cNvPr id="44" name="Text 42"/>
          <p:cNvSpPr/>
          <p:nvPr/>
        </p:nvSpPr>
        <p:spPr>
          <a:xfrm>
            <a:off x="914400" y="5568696"/>
            <a:ext cx="9966960" cy="256032"/>
          </a:xfrm>
          <a:prstGeom prst="rect">
            <a:avLst/>
          </a:prstGeom>
          <a:noFill/>
          <a:ln/>
        </p:spPr>
        <p:txBody>
          <a:bodyPr wrap="square" lIns="0" tIns="0" rIns="0" bIns="0" rtlCol="0" anchor="ctr">
            <a:normAutofit/>
          </a:bodyPr>
          <a:lstStyle/>
          <a:p>
            <a:pPr algn="ctr" indent="0" marL="0">
              <a:buNone/>
            </a:pPr>
            <a:r>
              <a:rPr lang="en-US" sz="1200" b="1" dirty="0">
                <a:solidFill>
                  <a:srgbClr val="142C43"/>
                </a:solidFill>
                <a:latin typeface="Aptos" pitchFamily="34" charset="0"/>
                <a:ea typeface="Aptos" pitchFamily="34" charset="-122"/>
                <a:cs typeface="Aptos" pitchFamily="34" charset="-120"/>
              </a:rPr>
              <a:t>No green hash badge is allowed to imply malware cleanliness.</a:t>
            </a:r>
            <a:endParaRPr lang="en-US" sz="1200" dirty="0"/>
          </a:p>
        </p:txBody>
      </p:sp>
      <p:sp>
        <p:nvSpPr>
          <p:cNvPr id="25" name="Slide Number Placeholder 0"/>
          <p:cNvSpPr>
            <a:spLocks noGrp="1"/>
          </p:cNvSpPr>
          <p:nvPr>
            <p:ph type="sldNum" sz="quarter" idx="4294967295"/>
          </p:nvPr>
        </p:nvSpPr>
        <p:spPr>
          <a:xfrm>
            <a:off x="11740896" y="6547104"/>
            <a:ext cx="228600" cy="146304"/>
          </a:xfrm>
          <a:prstGeom prst="rect">
            <a:avLst/>
          </a:prstGeom>
          <a:extLst>
            <a:ext uri="{C572A759-6A51-4108-AA02-DFA0A04FC94B}">
              <ma14:wrappingTextBoxFlag xmlns:ma14="http://schemas.microsoft.com/office/mac/drawingml/2011/main" val="0"/>
            </a:ext>
          </a:extLst>
        </p:spPr>
        <p:txBody>
          <a:bodyPr/>
          <a:lstStyle>
            <a:lvl1pPr>
              <a:defRPr sz="700">
                <a:solidFill>
                  <a:srgbClr val="80929D"/>
                </a:solidFill>
                <a:latin typeface="Aptos"/>
                <a:ea typeface="Aptos"/>
                <a:cs typeface="Aptos"/>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84048"/>
            <a:ext cx="10881360" cy="164592"/>
          </a:xfrm>
          <a:prstGeom prst="rect">
            <a:avLst/>
          </a:prstGeom>
          <a:noFill/>
          <a:ln/>
        </p:spPr>
        <p:txBody>
          <a:bodyPr wrap="square" lIns="0" tIns="0" rIns="0" bIns="0" rtlCol="0" anchor="ctr">
            <a:normAutofit/>
          </a:bodyPr>
          <a:lstStyle/>
          <a:p>
            <a:pPr indent="0" marL="0">
              <a:buNone/>
            </a:pPr>
            <a:r>
              <a:rPr lang="en-US" sz="800" b="1" spc="160" kern="0" dirty="0">
                <a:solidFill>
                  <a:srgbClr val="16827E"/>
                </a:solidFill>
                <a:latin typeface="Aptos" pitchFamily="34" charset="0"/>
                <a:ea typeface="Aptos" pitchFamily="34" charset="-122"/>
                <a:cs typeface="Aptos" pitchFamily="34" charset="-120"/>
              </a:rPr>
              <a:t>MARKET CONTEXT</a:t>
            </a:r>
            <a:endParaRPr lang="en-US" sz="800" dirty="0"/>
          </a:p>
        </p:txBody>
      </p:sp>
      <p:sp>
        <p:nvSpPr>
          <p:cNvPr id="3" name="Text 1"/>
          <p:cNvSpPr/>
          <p:nvPr/>
        </p:nvSpPr>
        <p:spPr>
          <a:xfrm>
            <a:off x="566928" y="694944"/>
            <a:ext cx="10972800" cy="438912"/>
          </a:xfrm>
          <a:prstGeom prst="rect">
            <a:avLst/>
          </a:prstGeom>
          <a:noFill/>
          <a:ln/>
        </p:spPr>
        <p:txBody>
          <a:bodyPr wrap="square" lIns="0" tIns="0" rIns="0" bIns="0" rtlCol="0" anchor="ctr">
            <a:normAutofit/>
          </a:bodyPr>
          <a:lstStyle/>
          <a:p>
            <a:pPr indent="0" marL="0">
              <a:buNone/>
            </a:pPr>
            <a:r>
              <a:rPr lang="en-US" sz="2500" b="1" spc="-60" kern="0" dirty="0">
                <a:solidFill>
                  <a:srgbClr val="142C43"/>
                </a:solidFill>
                <a:latin typeface="Aptos Display" pitchFamily="34" charset="0"/>
                <a:ea typeface="Aptos Display" pitchFamily="34" charset="-122"/>
                <a:cs typeface="Aptos Display" pitchFamily="34" charset="-120"/>
              </a:rPr>
              <a:t>Complement recovery platforms with a vendor-neutral evidence layer</a:t>
            </a:r>
            <a:endParaRPr lang="en-US" sz="2500" dirty="0"/>
          </a:p>
        </p:txBody>
      </p:sp>
      <p:sp>
        <p:nvSpPr>
          <p:cNvPr id="4" name="Text 2"/>
          <p:cNvSpPr/>
          <p:nvPr/>
        </p:nvSpPr>
        <p:spPr>
          <a:xfrm>
            <a:off x="585216" y="1216152"/>
            <a:ext cx="10972800" cy="256032"/>
          </a:xfrm>
          <a:prstGeom prst="rect">
            <a:avLst/>
          </a:prstGeom>
          <a:noFill/>
          <a:ln/>
        </p:spPr>
        <p:txBody>
          <a:bodyPr wrap="square" lIns="0" tIns="0" rIns="0" bIns="0" rtlCol="0" anchor="ctr">
            <a:normAutofit/>
          </a:bodyPr>
          <a:lstStyle/>
          <a:p>
            <a:pPr indent="0" marL="0">
              <a:buNone/>
            </a:pPr>
            <a:r>
              <a:rPr lang="en-US" sz="1000" dirty="0">
                <a:solidFill>
                  <a:srgbClr val="718692"/>
                </a:solidFill>
                <a:latin typeface="Aptos" pitchFamily="34" charset="0"/>
                <a:ea typeface="Aptos" pitchFamily="34" charset="-122"/>
                <a:cs typeface="Aptos" pitchFamily="34" charset="-120"/>
              </a:rPr>
              <a:t>Rubrik, Veeam and Cohesity already offer substantial recovery capabilities; ResilienceGuard targets a different entry point.</a:t>
            </a:r>
            <a:endParaRPr lang="en-US" sz="1000" dirty="0"/>
          </a:p>
        </p:txBody>
      </p:sp>
      <p:sp>
        <p:nvSpPr>
          <p:cNvPr id="5" name="Shape 3"/>
          <p:cNvSpPr/>
          <p:nvPr/>
        </p:nvSpPr>
        <p:spPr>
          <a:xfrm>
            <a:off x="658368" y="1737360"/>
            <a:ext cx="10881360" cy="448056"/>
          </a:xfrm>
          <a:prstGeom prst="roundRect">
            <a:avLst>
              <a:gd name="adj" fmla="val 16327"/>
            </a:avLst>
          </a:prstGeom>
          <a:solidFill>
            <a:srgbClr val="142C43"/>
          </a:solidFill>
          <a:ln w="10160">
            <a:solidFill>
              <a:srgbClr val="142C43"/>
            </a:solidFill>
            <a:prstDash val="solid"/>
          </a:ln>
        </p:spPr>
      </p:sp>
      <p:sp>
        <p:nvSpPr>
          <p:cNvPr id="6" name="Text 4"/>
          <p:cNvSpPr/>
          <p:nvPr/>
        </p:nvSpPr>
        <p:spPr>
          <a:xfrm>
            <a:off x="896112" y="1883664"/>
            <a:ext cx="1828800" cy="137160"/>
          </a:xfrm>
          <a:prstGeom prst="rect">
            <a:avLst/>
          </a:prstGeom>
          <a:noFill/>
          <a:ln/>
        </p:spPr>
        <p:txBody>
          <a:bodyPr wrap="square" lIns="0" tIns="0" rIns="0" bIns="0" rtlCol="0" anchor="ctr">
            <a:normAutofit/>
          </a:bodyPr>
          <a:lstStyle/>
          <a:p>
            <a:pPr indent="0" marL="0">
              <a:buNone/>
            </a:pPr>
            <a:r>
              <a:rPr lang="en-US" sz="800" b="1" spc="60" kern="0" dirty="0">
                <a:solidFill>
                  <a:srgbClr val="B6D0D6"/>
                </a:solidFill>
                <a:latin typeface="Aptos" pitchFamily="34" charset="0"/>
                <a:ea typeface="Aptos" pitchFamily="34" charset="-122"/>
                <a:cs typeface="Aptos" pitchFamily="34" charset="-120"/>
              </a:rPr>
              <a:t>EXISTING OFFERING</a:t>
            </a:r>
            <a:endParaRPr lang="en-US" sz="800" dirty="0"/>
          </a:p>
        </p:txBody>
      </p:sp>
      <p:sp>
        <p:nvSpPr>
          <p:cNvPr id="7" name="Text 5"/>
          <p:cNvSpPr/>
          <p:nvPr/>
        </p:nvSpPr>
        <p:spPr>
          <a:xfrm>
            <a:off x="2788920" y="1883664"/>
            <a:ext cx="4069080" cy="137160"/>
          </a:xfrm>
          <a:prstGeom prst="rect">
            <a:avLst/>
          </a:prstGeom>
          <a:noFill/>
          <a:ln/>
        </p:spPr>
        <p:txBody>
          <a:bodyPr wrap="square" lIns="0" tIns="0" rIns="0" bIns="0" rtlCol="0" anchor="ctr">
            <a:normAutofit/>
          </a:bodyPr>
          <a:lstStyle/>
          <a:p>
            <a:pPr indent="0" marL="0">
              <a:buNone/>
            </a:pPr>
            <a:r>
              <a:rPr lang="en-US" sz="800" b="1" spc="60" kern="0" dirty="0">
                <a:solidFill>
                  <a:srgbClr val="B6D0D6"/>
                </a:solidFill>
                <a:latin typeface="Aptos" pitchFamily="34" charset="0"/>
                <a:ea typeface="Aptos" pitchFamily="34" charset="-122"/>
                <a:cs typeface="Aptos" pitchFamily="34" charset="-120"/>
              </a:rPr>
              <a:t>OBSERVED OFFICIAL EMPHASIS</a:t>
            </a:r>
            <a:endParaRPr lang="en-US" sz="800" dirty="0"/>
          </a:p>
        </p:txBody>
      </p:sp>
      <p:sp>
        <p:nvSpPr>
          <p:cNvPr id="8" name="Text 6"/>
          <p:cNvSpPr/>
          <p:nvPr/>
        </p:nvSpPr>
        <p:spPr>
          <a:xfrm>
            <a:off x="7095744" y="1883664"/>
            <a:ext cx="4114800" cy="137160"/>
          </a:xfrm>
          <a:prstGeom prst="rect">
            <a:avLst/>
          </a:prstGeom>
          <a:noFill/>
          <a:ln/>
        </p:spPr>
        <p:txBody>
          <a:bodyPr wrap="square" lIns="0" tIns="0" rIns="0" bIns="0" rtlCol="0" anchor="ctr">
            <a:normAutofit/>
          </a:bodyPr>
          <a:lstStyle/>
          <a:p>
            <a:pPr indent="0" marL="0">
              <a:buNone/>
            </a:pPr>
            <a:r>
              <a:rPr lang="en-US" sz="800" b="1" spc="60" kern="0" dirty="0">
                <a:solidFill>
                  <a:srgbClr val="B6D0D6"/>
                </a:solidFill>
                <a:latin typeface="Aptos" pitchFamily="34" charset="0"/>
                <a:ea typeface="Aptos" pitchFamily="34" charset="-122"/>
                <a:cs typeface="Aptos" pitchFamily="34" charset="-120"/>
              </a:rPr>
              <a:t>PROPOSED RESILIENCEGUARD POSITION</a:t>
            </a:r>
            <a:endParaRPr lang="en-US" sz="800" dirty="0"/>
          </a:p>
        </p:txBody>
      </p:sp>
      <p:sp>
        <p:nvSpPr>
          <p:cNvPr id="9" name="Shape 7"/>
          <p:cNvSpPr/>
          <p:nvPr/>
        </p:nvSpPr>
        <p:spPr>
          <a:xfrm>
            <a:off x="658368" y="2286000"/>
            <a:ext cx="10881360" cy="804672"/>
          </a:xfrm>
          <a:prstGeom prst="rect">
            <a:avLst>
              <a:gd name="adj" fmla="val 9091"/>
            </a:avLst>
          </a:prstGeom>
          <a:solidFill>
            <a:srgbClr val="FFFFFF"/>
          </a:solidFill>
          <a:ln w="10160">
            <a:solidFill>
              <a:srgbClr val="DCE6E9"/>
            </a:solidFill>
            <a:prstDash val="solid"/>
          </a:ln>
        </p:spPr>
      </p:sp>
      <p:sp>
        <p:nvSpPr>
          <p:cNvPr id="10" name="Text 8"/>
          <p:cNvSpPr/>
          <p:nvPr/>
        </p:nvSpPr>
        <p:spPr>
          <a:xfrm>
            <a:off x="905256" y="2450592"/>
            <a:ext cx="1508760" cy="228600"/>
          </a:xfrm>
          <a:prstGeom prst="rect">
            <a:avLst/>
          </a:prstGeom>
          <a:noFill/>
          <a:ln/>
        </p:spPr>
        <p:txBody>
          <a:bodyPr wrap="square" lIns="0" tIns="0" rIns="0" bIns="0" rtlCol="0" anchor="ctr">
            <a:normAutofit/>
          </a:bodyPr>
          <a:lstStyle/>
          <a:p>
            <a:pPr indent="0" marL="0">
              <a:buNone/>
            </a:pPr>
            <a:r>
              <a:rPr lang="en-US" sz="1200" b="1" dirty="0">
                <a:solidFill>
                  <a:srgbClr val="142C43"/>
                </a:solidFill>
                <a:latin typeface="Aptos" pitchFamily="34" charset="0"/>
                <a:ea typeface="Aptos" pitchFamily="34" charset="-122"/>
                <a:cs typeface="Aptos" pitchFamily="34" charset="-120"/>
              </a:rPr>
              <a:t>Rubrik</a:t>
            </a:r>
            <a:endParaRPr lang="en-US" sz="1200" dirty="0"/>
          </a:p>
        </p:txBody>
      </p:sp>
      <p:sp>
        <p:nvSpPr>
          <p:cNvPr id="11" name="Text 9"/>
          <p:cNvSpPr/>
          <p:nvPr/>
        </p:nvSpPr>
        <p:spPr>
          <a:xfrm>
            <a:off x="2788920" y="2414016"/>
            <a:ext cx="3931920" cy="493776"/>
          </a:xfrm>
          <a:prstGeom prst="rect">
            <a:avLst/>
          </a:prstGeom>
          <a:noFill/>
          <a:ln/>
        </p:spPr>
        <p:txBody>
          <a:bodyPr wrap="square" lIns="0" tIns="0" rIns="0" bIns="0" rtlCol="0" anchor="ctr">
            <a:normAutofit/>
          </a:bodyPr>
          <a:lstStyle/>
          <a:p>
            <a:pPr indent="0" marL="0">
              <a:buNone/>
            </a:pPr>
            <a:r>
              <a:rPr lang="en-US" sz="900" dirty="0">
                <a:solidFill>
                  <a:srgbClr val="718692"/>
                </a:solidFill>
                <a:latin typeface="Aptos" pitchFamily="34" charset="0"/>
                <a:ea typeface="Aptos" pitchFamily="34" charset="-122"/>
                <a:cs typeface="Aptos" pitchFamily="34" charset="-120"/>
              </a:rPr>
              <a:t>Recovery simulation, isolated recovery environments, threat containment and reporting.</a:t>
            </a:r>
            <a:endParaRPr lang="en-US" sz="900" dirty="0"/>
          </a:p>
        </p:txBody>
      </p:sp>
      <p:sp>
        <p:nvSpPr>
          <p:cNvPr id="12" name="Shape 10"/>
          <p:cNvSpPr/>
          <p:nvPr/>
        </p:nvSpPr>
        <p:spPr>
          <a:xfrm>
            <a:off x="6922008" y="2414016"/>
            <a:ext cx="0" cy="539496"/>
          </a:xfrm>
          <a:prstGeom prst="line">
            <a:avLst/>
          </a:prstGeom>
          <a:noFill/>
          <a:ln w="10160">
            <a:solidFill>
              <a:srgbClr val="DCE6E9"/>
            </a:solidFill>
            <a:prstDash val="solid"/>
          </a:ln>
        </p:spPr>
      </p:sp>
      <p:sp>
        <p:nvSpPr>
          <p:cNvPr id="13" name="Text 11"/>
          <p:cNvSpPr/>
          <p:nvPr/>
        </p:nvSpPr>
        <p:spPr>
          <a:xfrm>
            <a:off x="7150608" y="2414016"/>
            <a:ext cx="4096512" cy="493776"/>
          </a:xfrm>
          <a:prstGeom prst="rect">
            <a:avLst/>
          </a:prstGeom>
          <a:noFill/>
          <a:ln/>
        </p:spPr>
        <p:txBody>
          <a:bodyPr wrap="square" lIns="0" tIns="0" rIns="0" bIns="0" rtlCol="0" anchor="ctr">
            <a:normAutofit/>
          </a:bodyPr>
          <a:lstStyle/>
          <a:p>
            <a:pPr indent="0" marL="0">
              <a:buNone/>
            </a:pPr>
            <a:r>
              <a:rPr lang="en-US" sz="900" dirty="0">
                <a:solidFill>
                  <a:srgbClr val="203B50"/>
                </a:solidFill>
                <a:latin typeface="Aptos" pitchFamily="34" charset="0"/>
                <a:ea typeface="Aptos" pitchFamily="34" charset="-122"/>
                <a:cs typeface="Aptos" pitchFamily="34" charset="-120"/>
              </a:rPr>
              <a:t>Assess evidence across current backup sources; start with a small operator-owned catalog.</a:t>
            </a:r>
            <a:endParaRPr lang="en-US" sz="900" dirty="0"/>
          </a:p>
        </p:txBody>
      </p:sp>
      <p:sp>
        <p:nvSpPr>
          <p:cNvPr id="14" name="Shape 12"/>
          <p:cNvSpPr/>
          <p:nvPr/>
        </p:nvSpPr>
        <p:spPr>
          <a:xfrm>
            <a:off x="658368" y="3218688"/>
            <a:ext cx="10881360" cy="804672"/>
          </a:xfrm>
          <a:prstGeom prst="rect">
            <a:avLst>
              <a:gd name="adj" fmla="val 9091"/>
            </a:avLst>
          </a:prstGeom>
          <a:solidFill>
            <a:srgbClr val="F0F5F7"/>
          </a:solidFill>
          <a:ln w="10160">
            <a:solidFill>
              <a:srgbClr val="DCE6E9"/>
            </a:solidFill>
            <a:prstDash val="solid"/>
          </a:ln>
        </p:spPr>
      </p:sp>
      <p:sp>
        <p:nvSpPr>
          <p:cNvPr id="15" name="Text 13"/>
          <p:cNvSpPr/>
          <p:nvPr/>
        </p:nvSpPr>
        <p:spPr>
          <a:xfrm>
            <a:off x="905256" y="3383280"/>
            <a:ext cx="1508760" cy="228600"/>
          </a:xfrm>
          <a:prstGeom prst="rect">
            <a:avLst/>
          </a:prstGeom>
          <a:noFill/>
          <a:ln/>
        </p:spPr>
        <p:txBody>
          <a:bodyPr wrap="square" lIns="0" tIns="0" rIns="0" bIns="0" rtlCol="0" anchor="ctr">
            <a:normAutofit/>
          </a:bodyPr>
          <a:lstStyle/>
          <a:p>
            <a:pPr indent="0" marL="0">
              <a:buNone/>
            </a:pPr>
            <a:r>
              <a:rPr lang="en-US" sz="1200" b="1" dirty="0">
                <a:solidFill>
                  <a:srgbClr val="142C43"/>
                </a:solidFill>
                <a:latin typeface="Aptos" pitchFamily="34" charset="0"/>
                <a:ea typeface="Aptos" pitchFamily="34" charset="-122"/>
                <a:cs typeface="Aptos" pitchFamily="34" charset="-120"/>
              </a:rPr>
              <a:t>Veeam</a:t>
            </a:r>
            <a:endParaRPr lang="en-US" sz="1200" dirty="0"/>
          </a:p>
        </p:txBody>
      </p:sp>
      <p:sp>
        <p:nvSpPr>
          <p:cNvPr id="16" name="Text 14"/>
          <p:cNvSpPr/>
          <p:nvPr/>
        </p:nvSpPr>
        <p:spPr>
          <a:xfrm>
            <a:off x="2788920" y="3346704"/>
            <a:ext cx="3931920" cy="493776"/>
          </a:xfrm>
          <a:prstGeom prst="rect">
            <a:avLst/>
          </a:prstGeom>
          <a:noFill/>
          <a:ln/>
        </p:spPr>
        <p:txBody>
          <a:bodyPr wrap="square" lIns="0" tIns="0" rIns="0" bIns="0" rtlCol="0" anchor="ctr">
            <a:normAutofit/>
          </a:bodyPr>
          <a:lstStyle/>
          <a:p>
            <a:pPr indent="0" marL="0">
              <a:buNone/>
            </a:pPr>
            <a:r>
              <a:rPr lang="en-US" sz="900" dirty="0">
                <a:solidFill>
                  <a:srgbClr val="718692"/>
                </a:solidFill>
                <a:latin typeface="Aptos" pitchFamily="34" charset="0"/>
                <a:ea typeface="Aptos" pitchFamily="34" charset="-122"/>
                <a:cs typeface="Aptos" pitchFamily="34" charset="-120"/>
              </a:rPr>
              <a:t>Recovery orchestration, plan checks, isolated labs, malware scans and RPO/RTO reports.</a:t>
            </a:r>
            <a:endParaRPr lang="en-US" sz="900" dirty="0"/>
          </a:p>
        </p:txBody>
      </p:sp>
      <p:sp>
        <p:nvSpPr>
          <p:cNvPr id="17" name="Shape 15"/>
          <p:cNvSpPr/>
          <p:nvPr/>
        </p:nvSpPr>
        <p:spPr>
          <a:xfrm>
            <a:off x="6922008" y="3346704"/>
            <a:ext cx="0" cy="539496"/>
          </a:xfrm>
          <a:prstGeom prst="line">
            <a:avLst/>
          </a:prstGeom>
          <a:noFill/>
          <a:ln w="10160">
            <a:solidFill>
              <a:srgbClr val="DCE6E9"/>
            </a:solidFill>
            <a:prstDash val="solid"/>
          </a:ln>
        </p:spPr>
      </p:sp>
      <p:sp>
        <p:nvSpPr>
          <p:cNvPr id="18" name="Text 16"/>
          <p:cNvSpPr/>
          <p:nvPr/>
        </p:nvSpPr>
        <p:spPr>
          <a:xfrm>
            <a:off x="7150608" y="3346704"/>
            <a:ext cx="4096512" cy="493776"/>
          </a:xfrm>
          <a:prstGeom prst="rect">
            <a:avLst/>
          </a:prstGeom>
          <a:noFill/>
          <a:ln/>
        </p:spPr>
        <p:txBody>
          <a:bodyPr wrap="square" lIns="0" tIns="0" rIns="0" bIns="0" rtlCol="0" anchor="ctr">
            <a:normAutofit/>
          </a:bodyPr>
          <a:lstStyle/>
          <a:p>
            <a:pPr indent="0" marL="0">
              <a:buNone/>
            </a:pPr>
            <a:r>
              <a:rPr lang="en-US" sz="900" dirty="0">
                <a:solidFill>
                  <a:srgbClr val="203B50"/>
                </a:solidFill>
                <a:latin typeface="Aptos" pitchFamily="34" charset="0"/>
                <a:ea typeface="Aptos" pitchFamily="34" charset="-122"/>
                <a:cs typeface="Aptos" pitchFamily="34" charset="-120"/>
              </a:rPr>
              <a:t>Normalize recovery prerequisites across vendors and compound physical/cyber scenarios.</a:t>
            </a:r>
            <a:endParaRPr lang="en-US" sz="900" dirty="0"/>
          </a:p>
        </p:txBody>
      </p:sp>
      <p:sp>
        <p:nvSpPr>
          <p:cNvPr id="19" name="Shape 17"/>
          <p:cNvSpPr/>
          <p:nvPr/>
        </p:nvSpPr>
        <p:spPr>
          <a:xfrm>
            <a:off x="658368" y="4151376"/>
            <a:ext cx="10881360" cy="804672"/>
          </a:xfrm>
          <a:prstGeom prst="rect">
            <a:avLst>
              <a:gd name="adj" fmla="val 9091"/>
            </a:avLst>
          </a:prstGeom>
          <a:solidFill>
            <a:srgbClr val="FFFFFF"/>
          </a:solidFill>
          <a:ln w="10160">
            <a:solidFill>
              <a:srgbClr val="DCE6E9"/>
            </a:solidFill>
            <a:prstDash val="solid"/>
          </a:ln>
        </p:spPr>
      </p:sp>
      <p:sp>
        <p:nvSpPr>
          <p:cNvPr id="20" name="Text 18"/>
          <p:cNvSpPr/>
          <p:nvPr/>
        </p:nvSpPr>
        <p:spPr>
          <a:xfrm>
            <a:off x="905256" y="4315968"/>
            <a:ext cx="1508760" cy="228600"/>
          </a:xfrm>
          <a:prstGeom prst="rect">
            <a:avLst/>
          </a:prstGeom>
          <a:noFill/>
          <a:ln/>
        </p:spPr>
        <p:txBody>
          <a:bodyPr wrap="square" lIns="0" tIns="0" rIns="0" bIns="0" rtlCol="0" anchor="ctr">
            <a:normAutofit/>
          </a:bodyPr>
          <a:lstStyle/>
          <a:p>
            <a:pPr indent="0" marL="0">
              <a:buNone/>
            </a:pPr>
            <a:r>
              <a:rPr lang="en-US" sz="1200" b="1" dirty="0">
                <a:solidFill>
                  <a:srgbClr val="142C43"/>
                </a:solidFill>
                <a:latin typeface="Aptos" pitchFamily="34" charset="0"/>
                <a:ea typeface="Aptos" pitchFamily="34" charset="-122"/>
                <a:cs typeface="Aptos" pitchFamily="34" charset="-120"/>
              </a:rPr>
              <a:t>Cohesity</a:t>
            </a:r>
            <a:endParaRPr lang="en-US" sz="1200" dirty="0"/>
          </a:p>
        </p:txBody>
      </p:sp>
      <p:sp>
        <p:nvSpPr>
          <p:cNvPr id="21" name="Text 19"/>
          <p:cNvSpPr/>
          <p:nvPr/>
        </p:nvSpPr>
        <p:spPr>
          <a:xfrm>
            <a:off x="2788920" y="4279392"/>
            <a:ext cx="3931920" cy="493776"/>
          </a:xfrm>
          <a:prstGeom prst="rect">
            <a:avLst/>
          </a:prstGeom>
          <a:noFill/>
          <a:ln/>
        </p:spPr>
        <p:txBody>
          <a:bodyPr wrap="square" lIns="0" tIns="0" rIns="0" bIns="0" rtlCol="0" anchor="ctr">
            <a:normAutofit/>
          </a:bodyPr>
          <a:lstStyle/>
          <a:p>
            <a:pPr indent="0" marL="0">
              <a:buNone/>
            </a:pPr>
            <a:r>
              <a:rPr lang="en-US" sz="900" dirty="0">
                <a:solidFill>
                  <a:srgbClr val="718692"/>
                </a:solidFill>
                <a:latin typeface="Aptos" pitchFamily="34" charset="0"/>
                <a:ea typeface="Aptos" pitchFamily="34" charset="-122"/>
                <a:cs typeface="Aptos" pitchFamily="34" charset="-120"/>
              </a:rPr>
              <a:t>Clean-room investigation, cyber vaulting, threat analytics and recovery orchestration.</a:t>
            </a:r>
            <a:endParaRPr lang="en-US" sz="900" dirty="0"/>
          </a:p>
        </p:txBody>
      </p:sp>
      <p:sp>
        <p:nvSpPr>
          <p:cNvPr id="22" name="Shape 20"/>
          <p:cNvSpPr/>
          <p:nvPr/>
        </p:nvSpPr>
        <p:spPr>
          <a:xfrm>
            <a:off x="6922008" y="4279392"/>
            <a:ext cx="0" cy="539496"/>
          </a:xfrm>
          <a:prstGeom prst="line">
            <a:avLst/>
          </a:prstGeom>
          <a:noFill/>
          <a:ln w="10160">
            <a:solidFill>
              <a:srgbClr val="DCE6E9"/>
            </a:solidFill>
            <a:prstDash val="solid"/>
          </a:ln>
        </p:spPr>
      </p:sp>
      <p:sp>
        <p:nvSpPr>
          <p:cNvPr id="23" name="Text 21"/>
          <p:cNvSpPr/>
          <p:nvPr/>
        </p:nvSpPr>
        <p:spPr>
          <a:xfrm>
            <a:off x="7150608" y="4279392"/>
            <a:ext cx="4096512" cy="493776"/>
          </a:xfrm>
          <a:prstGeom prst="rect">
            <a:avLst/>
          </a:prstGeom>
          <a:noFill/>
          <a:ln/>
        </p:spPr>
        <p:txBody>
          <a:bodyPr wrap="square" lIns="0" tIns="0" rIns="0" bIns="0" rtlCol="0" anchor="ctr">
            <a:normAutofit/>
          </a:bodyPr>
          <a:lstStyle/>
          <a:p>
            <a:pPr indent="0" marL="0">
              <a:buNone/>
            </a:pPr>
            <a:r>
              <a:rPr lang="en-US" sz="900" dirty="0">
                <a:solidFill>
                  <a:srgbClr val="203B50"/>
                </a:solidFill>
                <a:latin typeface="Aptos" pitchFamily="34" charset="0"/>
                <a:ea typeface="Aptos" pitchFamily="34" charset="-122"/>
                <a:cs typeface="Aptos" pitchFamily="34" charset="-120"/>
              </a:rPr>
              <a:t>Lightweight readiness assessment layer; integrate rather than replace mature platforms.</a:t>
            </a:r>
            <a:endParaRPr lang="en-US" sz="900" dirty="0"/>
          </a:p>
        </p:txBody>
      </p:sp>
      <p:sp>
        <p:nvSpPr>
          <p:cNvPr id="24" name="Shape 22"/>
          <p:cNvSpPr/>
          <p:nvPr/>
        </p:nvSpPr>
        <p:spPr>
          <a:xfrm>
            <a:off x="685800" y="5276088"/>
            <a:ext cx="2414016" cy="246888"/>
          </a:xfrm>
          <a:prstGeom prst="roundRect">
            <a:avLst>
              <a:gd name="adj" fmla="val 29630"/>
            </a:avLst>
          </a:prstGeom>
          <a:solidFill>
            <a:srgbClr val="FBF3E6"/>
          </a:solidFill>
          <a:ln w="10160">
            <a:solidFill>
              <a:srgbClr val="FBF3E6"/>
            </a:solidFill>
            <a:prstDash val="solid"/>
          </a:ln>
        </p:spPr>
      </p:sp>
      <p:sp>
        <p:nvSpPr>
          <p:cNvPr id="25" name="Text 23"/>
          <p:cNvSpPr/>
          <p:nvPr/>
        </p:nvSpPr>
        <p:spPr>
          <a:xfrm>
            <a:off x="740664" y="5289804"/>
            <a:ext cx="2304288" cy="201168"/>
          </a:xfrm>
          <a:prstGeom prst="rect">
            <a:avLst/>
          </a:prstGeom>
          <a:noFill/>
          <a:ln/>
        </p:spPr>
        <p:txBody>
          <a:bodyPr wrap="square" lIns="0" tIns="0" rIns="0" bIns="0" rtlCol="0" anchor="ctr">
            <a:normAutofit/>
          </a:bodyPr>
          <a:lstStyle/>
          <a:p>
            <a:pPr algn="ctr" indent="0" marL="0">
              <a:buNone/>
            </a:pPr>
            <a:r>
              <a:rPr lang="en-US" sz="700" b="1" spc="50" kern="0" dirty="0">
                <a:solidFill>
                  <a:srgbClr val="B7781E"/>
                </a:solidFill>
                <a:latin typeface="Aptos" pitchFamily="34" charset="0"/>
                <a:ea typeface="Aptos" pitchFamily="34" charset="-122"/>
                <a:cs typeface="Aptos" pitchFamily="34" charset="-120"/>
              </a:rPr>
              <a:t>HYPOTHESIS · NOT MARKET-VALIDATED</a:t>
            </a:r>
            <a:endParaRPr lang="en-US" sz="700" dirty="0"/>
          </a:p>
        </p:txBody>
      </p:sp>
      <p:sp>
        <p:nvSpPr>
          <p:cNvPr id="26" name="Text 24"/>
          <p:cNvSpPr/>
          <p:nvPr/>
        </p:nvSpPr>
        <p:spPr>
          <a:xfrm>
            <a:off x="3383280" y="5303520"/>
            <a:ext cx="7909560" cy="256032"/>
          </a:xfrm>
          <a:prstGeom prst="rect">
            <a:avLst/>
          </a:prstGeom>
          <a:noFill/>
          <a:ln/>
        </p:spPr>
        <p:txBody>
          <a:bodyPr wrap="square" lIns="0" tIns="0" rIns="0" bIns="0" rtlCol="0" anchor="ctr">
            <a:normAutofit/>
          </a:bodyPr>
          <a:lstStyle/>
          <a:p>
            <a:pPr indent="0" marL="0">
              <a:buNone/>
            </a:pPr>
            <a:r>
              <a:rPr lang="en-US" sz="1100" b="1" dirty="0">
                <a:solidFill>
                  <a:srgbClr val="142C43"/>
                </a:solidFill>
                <a:latin typeface="Aptos" pitchFamily="34" charset="0"/>
                <a:ea typeface="Aptos" pitchFamily="34" charset="-122"/>
                <a:cs typeface="Aptos" pitchFamily="34" charset="-120"/>
              </a:rPr>
              <a:t>Differentiation to test: cross-source evidence normalization for simultaneous physical and cyber disruption.</a:t>
            </a:r>
            <a:endParaRPr lang="en-US" sz="1100" dirty="0"/>
          </a:p>
        </p:txBody>
      </p:sp>
      <p:sp>
        <p:nvSpPr>
          <p:cNvPr id="27" name="Text 25"/>
          <p:cNvSpPr/>
          <p:nvPr/>
        </p:nvSpPr>
        <p:spPr>
          <a:xfrm>
            <a:off x="685800" y="5879592"/>
            <a:ext cx="10881360" cy="182880"/>
          </a:xfrm>
          <a:prstGeom prst="rect">
            <a:avLst/>
          </a:prstGeom>
          <a:noFill/>
          <a:ln/>
        </p:spPr>
        <p:txBody>
          <a:bodyPr wrap="square" lIns="0" tIns="0" rIns="0" bIns="0" rtlCol="0" anchor="ctr">
            <a:normAutofit/>
          </a:bodyPr>
          <a:lstStyle/>
          <a:p>
            <a:pPr indent="0" marL="0">
              <a:buNone/>
            </a:pPr>
            <a:r>
              <a:rPr lang="en-US" sz="700" dirty="0">
                <a:solidFill>
                  <a:srgbClr val="718692"/>
                </a:solidFill>
                <a:latin typeface="Aptos" pitchFamily="34" charset="0"/>
                <a:ea typeface="Aptos" pitchFamily="34" charset="-122"/>
                <a:cs typeface="Aptos" pitchFamily="34" charset="-120"/>
              </a:rPr>
              <a:t>Official references: rubrik.com/products/cyber-recovery · helpcenter.veeam.com/docs/vro/userguide/overview.html · cohesity.com/solutions/clean-room</a:t>
            </a:r>
            <a:endParaRPr lang="en-US" sz="700" dirty="0"/>
          </a:p>
        </p:txBody>
      </p:sp>
      <p:sp>
        <p:nvSpPr>
          <p:cNvPr id="25" name="Slide Number Placeholder 0"/>
          <p:cNvSpPr>
            <a:spLocks noGrp="1"/>
          </p:cNvSpPr>
          <p:nvPr>
            <p:ph type="sldNum" sz="quarter" idx="4294967295"/>
          </p:nvPr>
        </p:nvSpPr>
        <p:spPr>
          <a:xfrm>
            <a:off x="11740896" y="6547104"/>
            <a:ext cx="228600" cy="146304"/>
          </a:xfrm>
          <a:prstGeom prst="rect">
            <a:avLst/>
          </a:prstGeom>
          <a:extLst>
            <a:ext uri="{C572A759-6A51-4108-AA02-DFA0A04FC94B}">
              <ma14:wrappingTextBoxFlag xmlns:ma14="http://schemas.microsoft.com/office/mac/drawingml/2011/main" val="0"/>
            </a:ext>
          </a:extLst>
        </p:spPr>
        <p:txBody>
          <a:bodyPr/>
          <a:lstStyle>
            <a:lvl1pPr>
              <a:defRPr sz="700">
                <a:solidFill>
                  <a:srgbClr val="80929D"/>
                </a:solidFill>
                <a:latin typeface="Aptos"/>
                <a:ea typeface="Aptos"/>
                <a:cs typeface="Aptos"/>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84048"/>
            <a:ext cx="10881360" cy="164592"/>
          </a:xfrm>
          <a:prstGeom prst="rect">
            <a:avLst/>
          </a:prstGeom>
          <a:noFill/>
          <a:ln/>
        </p:spPr>
        <p:txBody>
          <a:bodyPr wrap="square" lIns="0" tIns="0" rIns="0" bIns="0" rtlCol="0" anchor="ctr">
            <a:normAutofit/>
          </a:bodyPr>
          <a:lstStyle/>
          <a:p>
            <a:pPr indent="0" marL="0">
              <a:buNone/>
            </a:pPr>
            <a:r>
              <a:rPr lang="en-US" sz="800" b="1" spc="160" kern="0" dirty="0">
                <a:solidFill>
                  <a:srgbClr val="16827E"/>
                </a:solidFill>
                <a:latin typeface="Aptos" pitchFamily="34" charset="0"/>
                <a:ea typeface="Aptos" pitchFamily="34" charset="-122"/>
                <a:cs typeface="Aptos" pitchFamily="34" charset="-120"/>
              </a:rPr>
              <a:t>HOW IT WORKS</a:t>
            </a:r>
            <a:endParaRPr lang="en-US" sz="800" dirty="0"/>
          </a:p>
        </p:txBody>
      </p:sp>
      <p:sp>
        <p:nvSpPr>
          <p:cNvPr id="3" name="Text 1"/>
          <p:cNvSpPr/>
          <p:nvPr/>
        </p:nvSpPr>
        <p:spPr>
          <a:xfrm>
            <a:off x="566928" y="694944"/>
            <a:ext cx="10972800" cy="438912"/>
          </a:xfrm>
          <a:prstGeom prst="rect">
            <a:avLst/>
          </a:prstGeom>
          <a:noFill/>
          <a:ln/>
        </p:spPr>
        <p:txBody>
          <a:bodyPr wrap="square" lIns="0" tIns="0" rIns="0" bIns="0" rtlCol="0" anchor="ctr">
            <a:normAutofit/>
          </a:bodyPr>
          <a:lstStyle/>
          <a:p>
            <a:pPr indent="0" marL="0">
              <a:buNone/>
            </a:pPr>
            <a:r>
              <a:rPr lang="en-US" sz="2500" b="1" spc="-60" kern="0" dirty="0">
                <a:solidFill>
                  <a:srgbClr val="142C43"/>
                </a:solidFill>
                <a:latin typeface="Aptos Display" pitchFamily="34" charset="0"/>
                <a:ea typeface="Aptos Display" pitchFamily="34" charset="-122"/>
                <a:cs typeface="Aptos Display" pitchFamily="34" charset="-120"/>
              </a:rPr>
              <a:t>Rules decide recovery; optional AI explains results</a:t>
            </a:r>
            <a:endParaRPr lang="en-US" sz="2500" dirty="0"/>
          </a:p>
        </p:txBody>
      </p:sp>
      <p:sp>
        <p:nvSpPr>
          <p:cNvPr id="4" name="Text 2"/>
          <p:cNvSpPr/>
          <p:nvPr/>
        </p:nvSpPr>
        <p:spPr>
          <a:xfrm>
            <a:off x="585216" y="1216152"/>
            <a:ext cx="10972800" cy="256032"/>
          </a:xfrm>
          <a:prstGeom prst="rect">
            <a:avLst/>
          </a:prstGeom>
          <a:noFill/>
          <a:ln/>
        </p:spPr>
        <p:txBody>
          <a:bodyPr wrap="square" lIns="0" tIns="0" rIns="0" bIns="0" rtlCol="0" anchor="ctr">
            <a:normAutofit/>
          </a:bodyPr>
          <a:lstStyle/>
          <a:p>
            <a:pPr indent="0" marL="0">
              <a:buNone/>
            </a:pPr>
            <a:r>
              <a:rPr lang="en-US" sz="1000" dirty="0">
                <a:solidFill>
                  <a:srgbClr val="718692"/>
                </a:solidFill>
                <a:latin typeface="Aptos" pitchFamily="34" charset="0"/>
                <a:ea typeface="Aptos" pitchFamily="34" charset="-122"/>
                <a:cs typeface="Aptos" pitchFamily="34" charset="-120"/>
              </a:rPr>
              <a:t>The original sample files stay read-only; test copies go to a separate folder.</a:t>
            </a:r>
            <a:endParaRPr lang="en-US" sz="1000" dirty="0"/>
          </a:p>
        </p:txBody>
      </p:sp>
      <p:sp>
        <p:nvSpPr>
          <p:cNvPr id="5" name="Shape 3"/>
          <p:cNvSpPr/>
          <p:nvPr/>
        </p:nvSpPr>
        <p:spPr>
          <a:xfrm>
            <a:off x="658368" y="1847088"/>
            <a:ext cx="2304288" cy="2450592"/>
          </a:xfrm>
          <a:prstGeom prst="roundRect">
            <a:avLst>
              <a:gd name="adj" fmla="val 3175"/>
            </a:avLst>
          </a:prstGeom>
          <a:solidFill>
            <a:srgbClr val="EAF3F4"/>
          </a:solidFill>
          <a:ln w="10160">
            <a:solidFill>
              <a:srgbClr val="16827E"/>
            </a:solidFill>
            <a:prstDash val="solid"/>
          </a:ln>
        </p:spPr>
      </p:sp>
      <p:sp>
        <p:nvSpPr>
          <p:cNvPr id="6" name="Text 4"/>
          <p:cNvSpPr/>
          <p:nvPr/>
        </p:nvSpPr>
        <p:spPr>
          <a:xfrm>
            <a:off x="841248" y="2048256"/>
            <a:ext cx="1938528" cy="201168"/>
          </a:xfrm>
          <a:prstGeom prst="rect">
            <a:avLst/>
          </a:prstGeom>
          <a:noFill/>
          <a:ln/>
        </p:spPr>
        <p:txBody>
          <a:bodyPr wrap="square" lIns="0" tIns="0" rIns="0" bIns="0" rtlCol="0" anchor="ctr">
            <a:normAutofit/>
          </a:bodyPr>
          <a:lstStyle/>
          <a:p>
            <a:pPr indent="0" marL="0">
              <a:buNone/>
            </a:pPr>
            <a:r>
              <a:rPr lang="en-US" sz="800" b="1" spc="90" kern="0" dirty="0">
                <a:solidFill>
                  <a:srgbClr val="16827E"/>
                </a:solidFill>
                <a:latin typeface="Aptos" pitchFamily="34" charset="0"/>
                <a:ea typeface="Aptos" pitchFamily="34" charset="-122"/>
                <a:cs typeface="Aptos" pitchFamily="34" charset="-120"/>
              </a:rPr>
              <a:t>DASHBOARD</a:t>
            </a:r>
            <a:endParaRPr lang="en-US" sz="800" dirty="0"/>
          </a:p>
        </p:txBody>
      </p:sp>
      <p:sp>
        <p:nvSpPr>
          <p:cNvPr id="7" name="Text 5"/>
          <p:cNvSpPr/>
          <p:nvPr/>
        </p:nvSpPr>
        <p:spPr>
          <a:xfrm>
            <a:off x="841248" y="2514600"/>
            <a:ext cx="1938528" cy="1389888"/>
          </a:xfrm>
          <a:prstGeom prst="rect">
            <a:avLst/>
          </a:prstGeom>
          <a:noFill/>
          <a:ln/>
        </p:spPr>
        <p:txBody>
          <a:bodyPr wrap="square" lIns="0" tIns="0" rIns="0" bIns="0" rtlCol="0" anchor="t">
            <a:normAutofit/>
          </a:bodyPr>
          <a:lstStyle/>
          <a:p>
            <a:pPr indent="0" marL="0">
              <a:lnSpc>
                <a:spcPct val="116000"/>
              </a:lnSpc>
              <a:buNone/>
            </a:pPr>
            <a:r>
              <a:rPr lang="en-US" sz="1200" b="1" dirty="0">
                <a:solidFill>
                  <a:srgbClr val="142C43"/>
                </a:solidFill>
                <a:latin typeface="Aptos" pitchFamily="34" charset="0"/>
                <a:ea typeface="Aptos" pitchFamily="34" charset="-122"/>
                <a:cs typeface="Aptos" pitchFamily="34" charset="-120"/>
              </a:rPr>
              <a:t>Choose a disruption</a:t>
            </a:r>
            <a:endParaRPr lang="en-US" sz="1200" dirty="0"/>
          </a:p>
          <a:p>
            <a:pPr indent="0" marL="0">
              <a:lnSpc>
                <a:spcPct val="116000"/>
              </a:lnSpc>
              <a:buNone/>
            </a:pPr>
            <a:r>
              <a:rPr lang="en-US" sz="1200" b="1" dirty="0">
                <a:solidFill>
                  <a:srgbClr val="142C43"/>
                </a:solidFill>
                <a:latin typeface="Aptos" pitchFamily="34" charset="0"/>
                <a:ea typeface="Aptos" pitchFamily="34" charset="-122"/>
                <a:cs typeface="Aptos" pitchFamily="34" charset="-120"/>
              </a:rPr>
              <a:t>See service status</a:t>
            </a:r>
            <a:endParaRPr lang="en-US" sz="1200" dirty="0"/>
          </a:p>
          <a:p>
            <a:pPr indent="0" marL="0">
              <a:lnSpc>
                <a:spcPct val="116000"/>
              </a:lnSpc>
              <a:buNone/>
            </a:pPr>
            <a:r>
              <a:rPr lang="en-US" sz="1200" b="1" dirty="0">
                <a:solidFill>
                  <a:srgbClr val="142C43"/>
                </a:solidFill>
                <a:latin typeface="Aptos" pitchFamily="34" charset="0"/>
                <a:ea typeface="Aptos" pitchFamily="34" charset="-122"/>
                <a:cs typeface="Aptos" pitchFamily="34" charset="-120"/>
              </a:rPr>
              <a:t>Review evidence</a:t>
            </a:r>
            <a:endParaRPr lang="en-US" sz="1200" dirty="0"/>
          </a:p>
          <a:p>
            <a:pPr indent="0" marL="0">
              <a:lnSpc>
                <a:spcPct val="116000"/>
              </a:lnSpc>
              <a:buNone/>
            </a:pPr>
            <a:r>
              <a:rPr lang="en-US" sz="1200" b="1" dirty="0">
                <a:solidFill>
                  <a:srgbClr val="142C43"/>
                </a:solidFill>
                <a:latin typeface="Aptos" pitchFamily="34" charset="0"/>
                <a:ea typeface="Aptos" pitchFamily="34" charset="-122"/>
                <a:cs typeface="Aptos" pitchFamily="34" charset="-120"/>
              </a:rPr>
              <a:t>Human approval</a:t>
            </a:r>
            <a:endParaRPr lang="en-US" sz="1200" dirty="0"/>
          </a:p>
        </p:txBody>
      </p:sp>
      <p:sp>
        <p:nvSpPr>
          <p:cNvPr id="8" name="Shape 6"/>
          <p:cNvSpPr/>
          <p:nvPr/>
        </p:nvSpPr>
        <p:spPr>
          <a:xfrm>
            <a:off x="3319272" y="1847088"/>
            <a:ext cx="2834640" cy="2450592"/>
          </a:xfrm>
          <a:prstGeom prst="roundRect">
            <a:avLst>
              <a:gd name="adj" fmla="val 2985"/>
            </a:avLst>
          </a:prstGeom>
          <a:solidFill>
            <a:srgbClr val="FFFFFF"/>
          </a:solidFill>
          <a:ln w="10160">
            <a:solidFill>
              <a:srgbClr val="142C43"/>
            </a:solidFill>
            <a:prstDash val="solid"/>
          </a:ln>
        </p:spPr>
      </p:sp>
      <p:sp>
        <p:nvSpPr>
          <p:cNvPr id="9" name="Text 7"/>
          <p:cNvSpPr/>
          <p:nvPr/>
        </p:nvSpPr>
        <p:spPr>
          <a:xfrm>
            <a:off x="3502152" y="2048256"/>
            <a:ext cx="2468880" cy="201168"/>
          </a:xfrm>
          <a:prstGeom prst="rect">
            <a:avLst/>
          </a:prstGeom>
          <a:noFill/>
          <a:ln/>
        </p:spPr>
        <p:txBody>
          <a:bodyPr wrap="square" lIns="0" tIns="0" rIns="0" bIns="0" rtlCol="0" anchor="ctr">
            <a:normAutofit/>
          </a:bodyPr>
          <a:lstStyle/>
          <a:p>
            <a:pPr indent="0" marL="0">
              <a:buNone/>
            </a:pPr>
            <a:r>
              <a:rPr lang="en-US" sz="800" b="1" spc="90" kern="0" dirty="0">
                <a:solidFill>
                  <a:srgbClr val="142C43"/>
                </a:solidFill>
                <a:latin typeface="Aptos" pitchFamily="34" charset="0"/>
                <a:ea typeface="Aptos" pitchFamily="34" charset="-122"/>
                <a:cs typeface="Aptos" pitchFamily="34" charset="-120"/>
              </a:rPr>
              <a:t>RULES ENGINE</a:t>
            </a:r>
            <a:endParaRPr lang="en-US" sz="800" dirty="0"/>
          </a:p>
        </p:txBody>
      </p:sp>
      <p:sp>
        <p:nvSpPr>
          <p:cNvPr id="10" name="Text 8"/>
          <p:cNvSpPr/>
          <p:nvPr/>
        </p:nvSpPr>
        <p:spPr>
          <a:xfrm>
            <a:off x="3502152" y="2514600"/>
            <a:ext cx="2468880" cy="1389888"/>
          </a:xfrm>
          <a:prstGeom prst="rect">
            <a:avLst/>
          </a:prstGeom>
          <a:noFill/>
          <a:ln/>
        </p:spPr>
        <p:txBody>
          <a:bodyPr wrap="square" lIns="0" tIns="0" rIns="0" bIns="0" rtlCol="0" anchor="t">
            <a:normAutofit/>
          </a:bodyPr>
          <a:lstStyle/>
          <a:p>
            <a:pPr indent="0" marL="0">
              <a:lnSpc>
                <a:spcPct val="116000"/>
              </a:lnSpc>
              <a:buNone/>
            </a:pPr>
            <a:r>
              <a:rPr lang="en-US" sz="1200" b="1" dirty="0">
                <a:solidFill>
                  <a:srgbClr val="142C43"/>
                </a:solidFill>
                <a:latin typeface="Aptos" pitchFamily="34" charset="0"/>
                <a:ea typeface="Aptos" pitchFamily="34" charset="-122"/>
                <a:cs typeface="Aptos" pitchFamily="34" charset="-120"/>
              </a:rPr>
              <a:t>File fingerprint + age</a:t>
            </a:r>
            <a:endParaRPr lang="en-US" sz="1200" dirty="0"/>
          </a:p>
          <a:p>
            <a:pPr indent="0" marL="0">
              <a:lnSpc>
                <a:spcPct val="116000"/>
              </a:lnSpc>
              <a:buNone/>
            </a:pPr>
            <a:r>
              <a:rPr lang="en-US" sz="1200" b="1" dirty="0">
                <a:solidFill>
                  <a:srgbClr val="142C43"/>
                </a:solidFill>
                <a:latin typeface="Aptos" pitchFamily="34" charset="0"/>
                <a:ea typeface="Aptos" pitchFamily="34" charset="-122"/>
                <a:cs typeface="Aptos" pitchFamily="34" charset="-120"/>
              </a:rPr>
              <a:t>Service dependencies</a:t>
            </a:r>
            <a:endParaRPr lang="en-US" sz="1200" dirty="0"/>
          </a:p>
          <a:p>
            <a:pPr indent="0" marL="0">
              <a:lnSpc>
                <a:spcPct val="116000"/>
              </a:lnSpc>
              <a:buNone/>
            </a:pPr>
            <a:r>
              <a:rPr lang="en-US" sz="1200" b="1" dirty="0">
                <a:solidFill>
                  <a:srgbClr val="142C43"/>
                </a:solidFill>
                <a:latin typeface="Aptos" pitchFamily="34" charset="0"/>
                <a:ea typeface="Aptos" pitchFamily="34" charset="-122"/>
                <a:cs typeface="Aptos" pitchFamily="34" charset="-120"/>
              </a:rPr>
              <a:t>Data-loss / return-time targets</a:t>
            </a:r>
            <a:endParaRPr lang="en-US" sz="1200" dirty="0"/>
          </a:p>
          <a:p>
            <a:pPr indent="0" marL="0">
              <a:lnSpc>
                <a:spcPct val="116000"/>
              </a:lnSpc>
              <a:buNone/>
            </a:pPr>
            <a:r>
              <a:rPr lang="en-US" sz="1200" b="1" dirty="0">
                <a:solidFill>
                  <a:srgbClr val="142C43"/>
                </a:solidFill>
                <a:latin typeface="Aptos" pitchFamily="34" charset="0"/>
                <a:ea typeface="Aptos" pitchFamily="34" charset="-122"/>
                <a:cs typeface="Aptos" pitchFamily="34" charset="-120"/>
              </a:rPr>
              <a:t>Recovery proposal</a:t>
            </a:r>
            <a:endParaRPr lang="en-US" sz="1200" dirty="0"/>
          </a:p>
        </p:txBody>
      </p:sp>
      <p:sp>
        <p:nvSpPr>
          <p:cNvPr id="11" name="Shape 9"/>
          <p:cNvSpPr/>
          <p:nvPr/>
        </p:nvSpPr>
        <p:spPr>
          <a:xfrm>
            <a:off x="6510528" y="1847088"/>
            <a:ext cx="2240280" cy="2450592"/>
          </a:xfrm>
          <a:prstGeom prst="roundRect">
            <a:avLst>
              <a:gd name="adj" fmla="val 3265"/>
            </a:avLst>
          </a:prstGeom>
          <a:solidFill>
            <a:srgbClr val="FFFFFF"/>
          </a:solidFill>
          <a:ln w="10160">
            <a:solidFill>
              <a:srgbClr val="557E9C"/>
            </a:solidFill>
            <a:prstDash val="solid"/>
          </a:ln>
        </p:spPr>
      </p:sp>
      <p:sp>
        <p:nvSpPr>
          <p:cNvPr id="12" name="Text 10"/>
          <p:cNvSpPr/>
          <p:nvPr/>
        </p:nvSpPr>
        <p:spPr>
          <a:xfrm>
            <a:off x="6693408" y="2048256"/>
            <a:ext cx="1874520" cy="201168"/>
          </a:xfrm>
          <a:prstGeom prst="rect">
            <a:avLst/>
          </a:prstGeom>
          <a:noFill/>
          <a:ln/>
        </p:spPr>
        <p:txBody>
          <a:bodyPr wrap="square" lIns="0" tIns="0" rIns="0" bIns="0" rtlCol="0" anchor="ctr">
            <a:normAutofit/>
          </a:bodyPr>
          <a:lstStyle/>
          <a:p>
            <a:pPr indent="0" marL="0">
              <a:buNone/>
            </a:pPr>
            <a:r>
              <a:rPr lang="en-US" sz="800" b="1" spc="90" kern="0" dirty="0">
                <a:solidFill>
                  <a:srgbClr val="557E9C"/>
                </a:solidFill>
                <a:latin typeface="Aptos" pitchFamily="34" charset="0"/>
                <a:ea typeface="Aptos" pitchFamily="34" charset="-122"/>
                <a:cs typeface="Aptos" pitchFamily="34" charset="-120"/>
              </a:rPr>
              <a:t>SAVED RECORDS</a:t>
            </a:r>
            <a:endParaRPr lang="en-US" sz="800" dirty="0"/>
          </a:p>
        </p:txBody>
      </p:sp>
      <p:sp>
        <p:nvSpPr>
          <p:cNvPr id="13" name="Text 11"/>
          <p:cNvSpPr/>
          <p:nvPr/>
        </p:nvSpPr>
        <p:spPr>
          <a:xfrm>
            <a:off x="6693408" y="2514600"/>
            <a:ext cx="1874520" cy="1389888"/>
          </a:xfrm>
          <a:prstGeom prst="rect">
            <a:avLst/>
          </a:prstGeom>
          <a:noFill/>
          <a:ln/>
        </p:spPr>
        <p:txBody>
          <a:bodyPr wrap="square" lIns="0" tIns="0" rIns="0" bIns="0" rtlCol="0" anchor="t">
            <a:normAutofit/>
          </a:bodyPr>
          <a:lstStyle/>
          <a:p>
            <a:pPr indent="0" marL="0">
              <a:lnSpc>
                <a:spcPct val="116000"/>
              </a:lnSpc>
              <a:buNone/>
            </a:pPr>
            <a:r>
              <a:rPr lang="en-US" sz="1200" b="1" dirty="0">
                <a:solidFill>
                  <a:srgbClr val="142C43"/>
                </a:solidFill>
                <a:latin typeface="Aptos" pitchFamily="34" charset="0"/>
                <a:ea typeface="Aptos" pitchFamily="34" charset="-122"/>
                <a:cs typeface="Aptos" pitchFamily="34" charset="-120"/>
              </a:rPr>
              <a:t>PostgreSQL 18</a:t>
            </a:r>
            <a:endParaRPr lang="en-US" sz="1200" dirty="0"/>
          </a:p>
          <a:p>
            <a:pPr indent="0" marL="0">
              <a:lnSpc>
                <a:spcPct val="116000"/>
              </a:lnSpc>
              <a:buNone/>
            </a:pPr>
            <a:r>
              <a:rPr lang="en-US" sz="1200" b="1" dirty="0">
                <a:solidFill>
                  <a:srgbClr val="142C43"/>
                </a:solidFill>
                <a:latin typeface="Aptos" pitchFamily="34" charset="0"/>
                <a:ea typeface="Aptos" pitchFamily="34" charset="-122"/>
                <a:cs typeface="Aptos" pitchFamily="34" charset="-120"/>
              </a:rPr>
              <a:t>Decisions</a:t>
            </a:r>
            <a:endParaRPr lang="en-US" sz="1200" dirty="0"/>
          </a:p>
          <a:p>
            <a:pPr indent="0" marL="0">
              <a:lnSpc>
                <a:spcPct val="116000"/>
              </a:lnSpc>
              <a:buNone/>
            </a:pPr>
            <a:r>
              <a:rPr lang="en-US" sz="1200" b="1" dirty="0">
                <a:solidFill>
                  <a:srgbClr val="142C43"/>
                </a:solidFill>
                <a:latin typeface="Aptos" pitchFamily="34" charset="0"/>
                <a:ea typeface="Aptos" pitchFamily="34" charset="-122"/>
                <a:cs typeface="Aptos" pitchFamily="34" charset="-120"/>
              </a:rPr>
              <a:t>Test results</a:t>
            </a:r>
            <a:endParaRPr lang="en-US" sz="1200" dirty="0"/>
          </a:p>
          <a:p>
            <a:pPr indent="0" marL="0">
              <a:lnSpc>
                <a:spcPct val="116000"/>
              </a:lnSpc>
              <a:buNone/>
            </a:pPr>
            <a:r>
              <a:rPr lang="en-US" sz="1200" b="1" dirty="0">
                <a:solidFill>
                  <a:srgbClr val="142C43"/>
                </a:solidFill>
                <a:latin typeface="Aptos" pitchFamily="34" charset="0"/>
                <a:ea typeface="Aptos" pitchFamily="34" charset="-122"/>
                <a:cs typeface="Aptos" pitchFamily="34" charset="-120"/>
              </a:rPr>
              <a:t>Audit history</a:t>
            </a:r>
            <a:endParaRPr lang="en-US" sz="1200" dirty="0"/>
          </a:p>
        </p:txBody>
      </p:sp>
      <p:sp>
        <p:nvSpPr>
          <p:cNvPr id="14" name="Shape 12"/>
          <p:cNvSpPr/>
          <p:nvPr/>
        </p:nvSpPr>
        <p:spPr>
          <a:xfrm>
            <a:off x="9125712" y="1847088"/>
            <a:ext cx="2395728" cy="2450592"/>
          </a:xfrm>
          <a:prstGeom prst="roundRect">
            <a:avLst>
              <a:gd name="adj" fmla="val 3053"/>
            </a:avLst>
          </a:prstGeom>
          <a:solidFill>
            <a:srgbClr val="E4F2EC"/>
          </a:solidFill>
          <a:ln w="10160">
            <a:solidFill>
              <a:srgbClr val="27826B"/>
            </a:solidFill>
            <a:prstDash val="solid"/>
          </a:ln>
        </p:spPr>
      </p:sp>
      <p:sp>
        <p:nvSpPr>
          <p:cNvPr id="15" name="Text 13"/>
          <p:cNvSpPr/>
          <p:nvPr/>
        </p:nvSpPr>
        <p:spPr>
          <a:xfrm>
            <a:off x="9308592" y="2048256"/>
            <a:ext cx="2029968" cy="201168"/>
          </a:xfrm>
          <a:prstGeom prst="rect">
            <a:avLst/>
          </a:prstGeom>
          <a:noFill/>
          <a:ln/>
        </p:spPr>
        <p:txBody>
          <a:bodyPr wrap="square" lIns="0" tIns="0" rIns="0" bIns="0" rtlCol="0" anchor="ctr">
            <a:normAutofit/>
          </a:bodyPr>
          <a:lstStyle/>
          <a:p>
            <a:pPr indent="0" marL="0">
              <a:buNone/>
            </a:pPr>
            <a:r>
              <a:rPr lang="en-US" sz="800" b="1" spc="90" kern="0" dirty="0">
                <a:solidFill>
                  <a:srgbClr val="27826B"/>
                </a:solidFill>
                <a:latin typeface="Aptos" pitchFamily="34" charset="0"/>
                <a:ea typeface="Aptos" pitchFamily="34" charset="-122"/>
                <a:cs typeface="Aptos" pitchFamily="34" charset="-120"/>
              </a:rPr>
              <a:t>EVIDENCE / TEST</a:t>
            </a:r>
            <a:endParaRPr lang="en-US" sz="800" dirty="0"/>
          </a:p>
        </p:txBody>
      </p:sp>
      <p:sp>
        <p:nvSpPr>
          <p:cNvPr id="16" name="Text 14"/>
          <p:cNvSpPr/>
          <p:nvPr/>
        </p:nvSpPr>
        <p:spPr>
          <a:xfrm>
            <a:off x="9308592" y="2514600"/>
            <a:ext cx="2029968" cy="1389888"/>
          </a:xfrm>
          <a:prstGeom prst="rect">
            <a:avLst/>
          </a:prstGeom>
          <a:noFill/>
          <a:ln/>
        </p:spPr>
        <p:txBody>
          <a:bodyPr wrap="square" lIns="0" tIns="0" rIns="0" bIns="0" rtlCol="0" anchor="t">
            <a:normAutofit/>
          </a:bodyPr>
          <a:lstStyle/>
          <a:p>
            <a:pPr indent="0" marL="0">
              <a:lnSpc>
                <a:spcPct val="116000"/>
              </a:lnSpc>
              <a:buNone/>
            </a:pPr>
            <a:r>
              <a:rPr lang="en-US" sz="1200" b="1" dirty="0">
                <a:solidFill>
                  <a:srgbClr val="142C43"/>
                </a:solidFill>
                <a:latin typeface="Aptos" pitchFamily="34" charset="0"/>
                <a:ea typeface="Aptos" pitchFamily="34" charset="-122"/>
                <a:cs typeface="Aptos" pitchFamily="34" charset="-120"/>
              </a:rPr>
              <a:t>Original files read-only</a:t>
            </a:r>
            <a:endParaRPr lang="en-US" sz="1200" dirty="0"/>
          </a:p>
          <a:p>
            <a:pPr indent="0" marL="0">
              <a:lnSpc>
                <a:spcPct val="116000"/>
              </a:lnSpc>
              <a:buNone/>
            </a:pPr>
            <a:r>
              <a:rPr lang="en-US" sz="1200" b="1" dirty="0">
                <a:solidFill>
                  <a:srgbClr val="142C43"/>
                </a:solidFill>
                <a:latin typeface="Aptos" pitchFamily="34" charset="0"/>
                <a:ea typeface="Aptos" pitchFamily="34" charset="-122"/>
                <a:cs typeface="Aptos" pitchFamily="34" charset="-120"/>
              </a:rPr>
              <a:t>Separate test folder</a:t>
            </a:r>
            <a:endParaRPr lang="en-US" sz="1200" dirty="0"/>
          </a:p>
          <a:p>
            <a:pPr indent="0" marL="0">
              <a:lnSpc>
                <a:spcPct val="116000"/>
              </a:lnSpc>
              <a:buNone/>
            </a:pPr>
            <a:r>
              <a:rPr lang="en-US" sz="1200" b="1" dirty="0">
                <a:solidFill>
                  <a:srgbClr val="142C43"/>
                </a:solidFill>
                <a:latin typeface="Aptos" pitchFamily="34" charset="0"/>
                <a:ea typeface="Aptos" pitchFamily="34" charset="-122"/>
                <a:cs typeface="Aptos" pitchFamily="34" charset="-120"/>
              </a:rPr>
              <a:t>File + structure check</a:t>
            </a:r>
            <a:endParaRPr lang="en-US" sz="1200" dirty="0"/>
          </a:p>
          <a:p>
            <a:pPr indent="0" marL="0">
              <a:lnSpc>
                <a:spcPct val="116000"/>
              </a:lnSpc>
              <a:buNone/>
            </a:pPr>
            <a:r>
              <a:rPr lang="en-US" sz="1200" b="1" dirty="0">
                <a:solidFill>
                  <a:srgbClr val="142C43"/>
                </a:solidFill>
                <a:latin typeface="Aptos" pitchFamily="34" charset="0"/>
                <a:ea typeface="Aptos" pitchFamily="34" charset="-122"/>
                <a:cs typeface="Aptos" pitchFamily="34" charset="-120"/>
              </a:rPr>
              <a:t>PDF report</a:t>
            </a:r>
            <a:endParaRPr lang="en-US" sz="1200" dirty="0"/>
          </a:p>
        </p:txBody>
      </p:sp>
      <p:sp>
        <p:nvSpPr>
          <p:cNvPr id="17" name="Shape 15"/>
          <p:cNvSpPr/>
          <p:nvPr/>
        </p:nvSpPr>
        <p:spPr>
          <a:xfrm>
            <a:off x="2971800" y="3054096"/>
            <a:ext cx="283464" cy="0"/>
          </a:xfrm>
          <a:prstGeom prst="line">
            <a:avLst/>
          </a:prstGeom>
          <a:noFill/>
          <a:ln w="22860">
            <a:solidFill>
              <a:srgbClr val="77A6A4"/>
            </a:solidFill>
            <a:prstDash val="solid"/>
            <a:tailEnd type="triangle"/>
          </a:ln>
        </p:spPr>
      </p:sp>
      <p:sp>
        <p:nvSpPr>
          <p:cNvPr id="18" name="Shape 16"/>
          <p:cNvSpPr/>
          <p:nvPr/>
        </p:nvSpPr>
        <p:spPr>
          <a:xfrm>
            <a:off x="6163056" y="3054096"/>
            <a:ext cx="283464" cy="0"/>
          </a:xfrm>
          <a:prstGeom prst="line">
            <a:avLst/>
          </a:prstGeom>
          <a:noFill/>
          <a:ln w="22860">
            <a:solidFill>
              <a:srgbClr val="77A6A4"/>
            </a:solidFill>
            <a:prstDash val="solid"/>
            <a:tailEnd type="triangle"/>
          </a:ln>
        </p:spPr>
      </p:sp>
      <p:sp>
        <p:nvSpPr>
          <p:cNvPr id="19" name="Shape 17"/>
          <p:cNvSpPr/>
          <p:nvPr/>
        </p:nvSpPr>
        <p:spPr>
          <a:xfrm>
            <a:off x="8759952" y="3054096"/>
            <a:ext cx="301752" cy="0"/>
          </a:xfrm>
          <a:prstGeom prst="line">
            <a:avLst/>
          </a:prstGeom>
          <a:noFill/>
          <a:ln w="22860">
            <a:solidFill>
              <a:srgbClr val="77A6A4"/>
            </a:solidFill>
            <a:prstDash val="solid"/>
            <a:tailEnd type="triangle"/>
          </a:ln>
        </p:spPr>
      </p:sp>
      <p:sp>
        <p:nvSpPr>
          <p:cNvPr id="20" name="Shape 18"/>
          <p:cNvSpPr/>
          <p:nvPr/>
        </p:nvSpPr>
        <p:spPr>
          <a:xfrm>
            <a:off x="3319272" y="4663440"/>
            <a:ext cx="5440680" cy="758952"/>
          </a:xfrm>
          <a:prstGeom prst="roundRect">
            <a:avLst>
              <a:gd name="adj" fmla="val 9639"/>
            </a:avLst>
          </a:prstGeom>
          <a:solidFill>
            <a:srgbClr val="E9F4F1"/>
          </a:solidFill>
          <a:ln w="10160">
            <a:solidFill>
              <a:srgbClr val="D5EAE2"/>
            </a:solidFill>
            <a:prstDash val="solid"/>
          </a:ln>
        </p:spPr>
      </p:sp>
      <p:sp>
        <p:nvSpPr>
          <p:cNvPr id="21" name="Text 19"/>
          <p:cNvSpPr/>
          <p:nvPr/>
        </p:nvSpPr>
        <p:spPr>
          <a:xfrm>
            <a:off x="3566160" y="4818888"/>
            <a:ext cx="2514600" cy="155448"/>
          </a:xfrm>
          <a:prstGeom prst="rect">
            <a:avLst/>
          </a:prstGeom>
          <a:noFill/>
          <a:ln/>
        </p:spPr>
        <p:txBody>
          <a:bodyPr wrap="square" lIns="0" tIns="0" rIns="0" bIns="0" rtlCol="0" anchor="ctr">
            <a:normAutofit/>
          </a:bodyPr>
          <a:lstStyle/>
          <a:p>
            <a:pPr indent="0" marL="0">
              <a:buNone/>
            </a:pPr>
            <a:r>
              <a:rPr lang="en-US" sz="800" b="1" spc="60" kern="0" dirty="0">
                <a:solidFill>
                  <a:srgbClr val="27826B"/>
                </a:solidFill>
                <a:latin typeface="Aptos" pitchFamily="34" charset="0"/>
                <a:ea typeface="Aptos" pitchFamily="34" charset="-122"/>
                <a:cs typeface="Aptos" pitchFamily="34" charset="-120"/>
              </a:rPr>
              <a:t>OPTIONAL LOCAL AI MODEL</a:t>
            </a:r>
            <a:endParaRPr lang="en-US" sz="800" dirty="0"/>
          </a:p>
        </p:txBody>
      </p:sp>
      <p:sp>
        <p:nvSpPr>
          <p:cNvPr id="22" name="Text 20"/>
          <p:cNvSpPr/>
          <p:nvPr/>
        </p:nvSpPr>
        <p:spPr>
          <a:xfrm>
            <a:off x="5989320" y="4809744"/>
            <a:ext cx="2514600" cy="182880"/>
          </a:xfrm>
          <a:prstGeom prst="rect">
            <a:avLst/>
          </a:prstGeom>
          <a:noFill/>
          <a:ln/>
        </p:spPr>
        <p:txBody>
          <a:bodyPr wrap="square" lIns="0" tIns="0" rIns="0" bIns="0" rtlCol="0" anchor="ctr">
            <a:normAutofit/>
          </a:bodyPr>
          <a:lstStyle/>
          <a:p>
            <a:pPr algn="r" indent="0" marL="0">
              <a:buNone/>
            </a:pPr>
            <a:r>
              <a:rPr lang="en-US" sz="800" dirty="0">
                <a:solidFill>
                  <a:srgbClr val="203B50"/>
                </a:solidFill>
                <a:latin typeface="Aptos" pitchFamily="34" charset="0"/>
                <a:ea typeface="Aptos" pitchFamily="34" charset="-122"/>
                <a:cs typeface="Aptos" pitchFamily="34" charset="-120"/>
              </a:rPr>
              <a:t>Explains supplied evidence; cannot approve or run a restore</a:t>
            </a:r>
            <a:endParaRPr lang="en-US" sz="800" dirty="0"/>
          </a:p>
        </p:txBody>
      </p:sp>
      <p:sp>
        <p:nvSpPr>
          <p:cNvPr id="23" name="Shape 21"/>
          <p:cNvSpPr/>
          <p:nvPr/>
        </p:nvSpPr>
        <p:spPr>
          <a:xfrm>
            <a:off x="6035040" y="4325112"/>
            <a:ext cx="0" cy="265176"/>
          </a:xfrm>
          <a:prstGeom prst="line">
            <a:avLst/>
          </a:prstGeom>
          <a:noFill/>
          <a:ln w="15240">
            <a:solidFill>
              <a:srgbClr val="79A8A1"/>
            </a:solidFill>
            <a:prstDash val="dash"/>
            <a:tailEnd type="triangle"/>
          </a:ln>
        </p:spPr>
      </p:sp>
      <p:sp>
        <p:nvSpPr>
          <p:cNvPr id="24" name="Shape 22"/>
          <p:cNvSpPr/>
          <p:nvPr/>
        </p:nvSpPr>
        <p:spPr>
          <a:xfrm>
            <a:off x="676656" y="5605272"/>
            <a:ext cx="10826496" cy="438912"/>
          </a:xfrm>
          <a:prstGeom prst="roundRect">
            <a:avLst>
              <a:gd name="adj" fmla="val 16667"/>
            </a:avLst>
          </a:prstGeom>
          <a:solidFill>
            <a:srgbClr val="142C43"/>
          </a:solidFill>
          <a:ln w="10160">
            <a:solidFill>
              <a:srgbClr val="142C43"/>
            </a:solidFill>
            <a:prstDash val="solid"/>
          </a:ln>
        </p:spPr>
      </p:sp>
      <p:sp>
        <p:nvSpPr>
          <p:cNvPr id="25" name="Text 23"/>
          <p:cNvSpPr/>
          <p:nvPr/>
        </p:nvSpPr>
        <p:spPr>
          <a:xfrm>
            <a:off x="914400" y="5742432"/>
            <a:ext cx="10332720" cy="137160"/>
          </a:xfrm>
          <a:prstGeom prst="rect">
            <a:avLst/>
          </a:prstGeom>
          <a:noFill/>
          <a:ln/>
        </p:spPr>
        <p:txBody>
          <a:bodyPr wrap="square" lIns="0" tIns="0" rIns="0" bIns="0" rtlCol="0" anchor="ctr">
            <a:normAutofit/>
          </a:bodyPr>
          <a:lstStyle/>
          <a:p>
            <a:pPr algn="ctr" indent="0" marL="0">
              <a:buNone/>
            </a:pPr>
            <a:r>
              <a:rPr lang="en-US" sz="800" b="1" spc="55" kern="0" dirty="0">
                <a:solidFill>
                  <a:srgbClr val="C5D8DE"/>
                </a:solidFill>
                <a:latin typeface="Aptos" pitchFamily="34" charset="0"/>
                <a:ea typeface="Aptos" pitchFamily="34" charset="-122"/>
                <a:cs typeface="Aptos" pitchFamily="34" charset="-120"/>
              </a:rPr>
              <a:t>NO PRODUCTION CONNECTOR  ·  NO MODEL-EXECUTED ACTION  ·  SOURCE FILES READ-ONLY</a:t>
            </a:r>
            <a:endParaRPr lang="en-US" sz="800" dirty="0"/>
          </a:p>
        </p:txBody>
      </p:sp>
      <p:sp>
        <p:nvSpPr>
          <p:cNvPr id="25" name="Slide Number Placeholder 0"/>
          <p:cNvSpPr>
            <a:spLocks noGrp="1"/>
          </p:cNvSpPr>
          <p:nvPr>
            <p:ph type="sldNum" sz="quarter" idx="4294967295"/>
          </p:nvPr>
        </p:nvSpPr>
        <p:spPr>
          <a:xfrm>
            <a:off x="11740896" y="6547104"/>
            <a:ext cx="228600" cy="146304"/>
          </a:xfrm>
          <a:prstGeom prst="rect">
            <a:avLst/>
          </a:prstGeom>
          <a:extLst>
            <a:ext uri="{C572A759-6A51-4108-AA02-DFA0A04FC94B}">
              <ma14:wrappingTextBoxFlag xmlns:ma14="http://schemas.microsoft.com/office/mac/drawingml/2011/main" val="0"/>
            </a:ext>
          </a:extLst>
        </p:spPr>
        <p:txBody>
          <a:bodyPr/>
          <a:lstStyle>
            <a:lvl1pPr>
              <a:defRPr sz="700">
                <a:solidFill>
                  <a:srgbClr val="80929D"/>
                </a:solidFill>
                <a:latin typeface="Aptos"/>
                <a:ea typeface="Aptos"/>
                <a:cs typeface="Aptos"/>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84048"/>
            <a:ext cx="10881360" cy="164592"/>
          </a:xfrm>
          <a:prstGeom prst="rect">
            <a:avLst/>
          </a:prstGeom>
          <a:noFill/>
          <a:ln/>
        </p:spPr>
        <p:txBody>
          <a:bodyPr wrap="square" lIns="0" tIns="0" rIns="0" bIns="0" rtlCol="0" anchor="ctr">
            <a:normAutofit/>
          </a:bodyPr>
          <a:lstStyle/>
          <a:p>
            <a:pPr indent="0" marL="0">
              <a:buNone/>
            </a:pPr>
            <a:r>
              <a:rPr lang="en-US" sz="800" b="1" spc="160" kern="0" dirty="0">
                <a:solidFill>
                  <a:srgbClr val="16827E"/>
                </a:solidFill>
                <a:latin typeface="Aptos" pitchFamily="34" charset="0"/>
                <a:ea typeface="Aptos" pitchFamily="34" charset="-122"/>
                <a:cs typeface="Aptos" pitchFamily="34" charset="-120"/>
              </a:rPr>
              <a:t>POSSIBLE DISRUPTIONS</a:t>
            </a:r>
            <a:endParaRPr lang="en-US" sz="800" dirty="0"/>
          </a:p>
        </p:txBody>
      </p:sp>
      <p:sp>
        <p:nvSpPr>
          <p:cNvPr id="3" name="Text 1"/>
          <p:cNvSpPr/>
          <p:nvPr/>
        </p:nvSpPr>
        <p:spPr>
          <a:xfrm>
            <a:off x="566928" y="694944"/>
            <a:ext cx="10972800" cy="438912"/>
          </a:xfrm>
          <a:prstGeom prst="rect">
            <a:avLst/>
          </a:prstGeom>
          <a:noFill/>
          <a:ln/>
        </p:spPr>
        <p:txBody>
          <a:bodyPr wrap="square" lIns="0" tIns="0" rIns="0" bIns="0" rtlCol="0" anchor="ctr">
            <a:normAutofit/>
          </a:bodyPr>
          <a:lstStyle/>
          <a:p>
            <a:pPr indent="0" marL="0">
              <a:buNone/>
            </a:pPr>
            <a:r>
              <a:rPr lang="en-US" sz="2500" b="1" spc="-60" kern="0" dirty="0">
                <a:solidFill>
                  <a:srgbClr val="142C43"/>
                </a:solidFill>
                <a:latin typeface="Aptos Display" pitchFamily="34" charset="0"/>
                <a:ea typeface="Aptos Display" pitchFamily="34" charset="-122"/>
                <a:cs typeface="Aptos Display" pitchFamily="34" charset="-120"/>
              </a:rPr>
              <a:t>Test three ways a critical service could fail</a:t>
            </a:r>
            <a:endParaRPr lang="en-US" sz="2500" dirty="0"/>
          </a:p>
        </p:txBody>
      </p:sp>
      <p:sp>
        <p:nvSpPr>
          <p:cNvPr id="4" name="Text 2"/>
          <p:cNvSpPr/>
          <p:nvPr/>
        </p:nvSpPr>
        <p:spPr>
          <a:xfrm>
            <a:off x="585216" y="1216152"/>
            <a:ext cx="10972800" cy="256032"/>
          </a:xfrm>
          <a:prstGeom prst="rect">
            <a:avLst/>
          </a:prstGeom>
          <a:noFill/>
          <a:ln/>
        </p:spPr>
        <p:txBody>
          <a:bodyPr wrap="square" lIns="0" tIns="0" rIns="0" bIns="0" rtlCol="0" anchor="ctr">
            <a:normAutofit/>
          </a:bodyPr>
          <a:lstStyle/>
          <a:p>
            <a:pPr indent="0" marL="0">
              <a:buNone/>
            </a:pPr>
            <a:r>
              <a:rPr lang="en-US" sz="1000" dirty="0">
                <a:solidFill>
                  <a:srgbClr val="718692"/>
                </a:solidFill>
                <a:latin typeface="Aptos" pitchFamily="34" charset="0"/>
                <a:ea typeface="Aptos" pitchFamily="34" charset="-122"/>
                <a:cs typeface="Aptos" pitchFamily="34" charset="-120"/>
              </a:rPr>
              <a:t>The same inventory is checked against each scenario; the demo does not simulate a real attack or disaster.</a:t>
            </a:r>
            <a:endParaRPr lang="en-US" sz="1000" dirty="0"/>
          </a:p>
        </p:txBody>
      </p:sp>
      <p:sp>
        <p:nvSpPr>
          <p:cNvPr id="5" name="Shape 3"/>
          <p:cNvSpPr/>
          <p:nvPr/>
        </p:nvSpPr>
        <p:spPr>
          <a:xfrm>
            <a:off x="658368" y="1828800"/>
            <a:ext cx="3401568" cy="3136392"/>
          </a:xfrm>
          <a:prstGeom prst="roundRect">
            <a:avLst>
              <a:gd name="adj" fmla="val 2332"/>
            </a:avLst>
          </a:prstGeom>
          <a:solidFill>
            <a:srgbClr val="FFFFFF"/>
          </a:solidFill>
          <a:ln w="10160">
            <a:solidFill>
              <a:srgbClr val="DCE6E9"/>
            </a:solidFill>
            <a:prstDash val="solid"/>
          </a:ln>
        </p:spPr>
      </p:sp>
      <p:sp>
        <p:nvSpPr>
          <p:cNvPr id="6" name="Shape 4"/>
          <p:cNvSpPr/>
          <p:nvPr/>
        </p:nvSpPr>
        <p:spPr>
          <a:xfrm>
            <a:off x="841248" y="2029968"/>
            <a:ext cx="438912" cy="438912"/>
          </a:xfrm>
          <a:prstGeom prst="ellipse">
            <a:avLst/>
          </a:prstGeom>
          <a:solidFill>
            <a:srgbClr val="F8EBE9"/>
          </a:solidFill>
          <a:ln w="12700">
            <a:solidFill>
              <a:srgbClr val="F8EBE9"/>
            </a:solidFill>
            <a:prstDash val="solid"/>
          </a:ln>
        </p:spPr>
      </p:sp>
      <p:sp>
        <p:nvSpPr>
          <p:cNvPr id="7" name="Text 5"/>
          <p:cNvSpPr/>
          <p:nvPr/>
        </p:nvSpPr>
        <p:spPr>
          <a:xfrm>
            <a:off x="841248" y="2148840"/>
            <a:ext cx="438912" cy="164592"/>
          </a:xfrm>
          <a:prstGeom prst="rect">
            <a:avLst/>
          </a:prstGeom>
          <a:noFill/>
          <a:ln/>
        </p:spPr>
        <p:txBody>
          <a:bodyPr wrap="square" lIns="0" tIns="0" rIns="0" bIns="0" rtlCol="0" anchor="ctr">
            <a:normAutofit/>
          </a:bodyPr>
          <a:lstStyle/>
          <a:p>
            <a:pPr algn="ctr" indent="0" marL="0">
              <a:buNone/>
            </a:pPr>
            <a:r>
              <a:rPr lang="en-US" sz="900" b="1" dirty="0">
                <a:solidFill>
                  <a:srgbClr val="BF5851"/>
                </a:solidFill>
                <a:latin typeface="Aptos" pitchFamily="34" charset="0"/>
                <a:ea typeface="Aptos" pitchFamily="34" charset="-122"/>
                <a:cs typeface="Aptos" pitchFamily="34" charset="-120"/>
              </a:rPr>
              <a:t>01</a:t>
            </a:r>
            <a:endParaRPr lang="en-US" sz="900" dirty="0"/>
          </a:p>
        </p:txBody>
      </p:sp>
      <p:sp>
        <p:nvSpPr>
          <p:cNvPr id="8" name="Text 6"/>
          <p:cNvSpPr/>
          <p:nvPr/>
        </p:nvSpPr>
        <p:spPr>
          <a:xfrm>
            <a:off x="1408176" y="2048256"/>
            <a:ext cx="2377440" cy="164592"/>
          </a:xfrm>
          <a:prstGeom prst="rect">
            <a:avLst/>
          </a:prstGeom>
          <a:noFill/>
          <a:ln/>
        </p:spPr>
        <p:txBody>
          <a:bodyPr wrap="square" lIns="0" tIns="0" rIns="0" bIns="0" rtlCol="0" anchor="ctr">
            <a:normAutofit/>
          </a:bodyPr>
          <a:lstStyle/>
          <a:p>
            <a:pPr indent="0" marL="0">
              <a:buNone/>
            </a:pPr>
            <a:r>
              <a:rPr lang="en-US" sz="800" b="1" spc="75" kern="0" dirty="0">
                <a:solidFill>
                  <a:srgbClr val="BF5851"/>
                </a:solidFill>
                <a:latin typeface="Aptos" pitchFamily="34" charset="0"/>
                <a:ea typeface="Aptos" pitchFamily="34" charset="-122"/>
                <a:cs typeface="Aptos" pitchFamily="34" charset="-120"/>
              </a:rPr>
              <a:t>PRIMARY SITE LOST</a:t>
            </a:r>
            <a:endParaRPr lang="en-US" sz="800" dirty="0"/>
          </a:p>
        </p:txBody>
      </p:sp>
      <p:sp>
        <p:nvSpPr>
          <p:cNvPr id="9" name="Text 7"/>
          <p:cNvSpPr/>
          <p:nvPr/>
        </p:nvSpPr>
        <p:spPr>
          <a:xfrm>
            <a:off x="859536" y="2724912"/>
            <a:ext cx="2944368" cy="320040"/>
          </a:xfrm>
          <a:prstGeom prst="rect">
            <a:avLst/>
          </a:prstGeom>
          <a:noFill/>
          <a:ln/>
        </p:spPr>
        <p:txBody>
          <a:bodyPr wrap="square" lIns="0" tIns="0" rIns="0" bIns="0" rtlCol="0" anchor="ctr">
            <a:normAutofit/>
          </a:bodyPr>
          <a:lstStyle/>
          <a:p>
            <a:pPr indent="0" marL="0">
              <a:buNone/>
            </a:pPr>
            <a:r>
              <a:rPr lang="en-US" sz="1500" b="1" dirty="0">
                <a:solidFill>
                  <a:srgbClr val="142C43"/>
                </a:solidFill>
                <a:latin typeface="Aptos Display" pitchFamily="34" charset="0"/>
                <a:ea typeface="Aptos Display" pitchFamily="34" charset="-122"/>
                <a:cs typeface="Aptos Display" pitchFamily="34" charset="-120"/>
              </a:rPr>
              <a:t>Physical disaster</a:t>
            </a:r>
            <a:endParaRPr lang="en-US" sz="1500" dirty="0"/>
          </a:p>
        </p:txBody>
      </p:sp>
      <p:sp>
        <p:nvSpPr>
          <p:cNvPr id="10" name="Text 8"/>
          <p:cNvSpPr/>
          <p:nvPr/>
        </p:nvSpPr>
        <p:spPr>
          <a:xfrm>
            <a:off x="859536" y="3236976"/>
            <a:ext cx="2944368" cy="841248"/>
          </a:xfrm>
          <a:prstGeom prst="rect">
            <a:avLst/>
          </a:prstGeom>
          <a:noFill/>
          <a:ln/>
        </p:spPr>
        <p:txBody>
          <a:bodyPr wrap="square" lIns="0" tIns="0" rIns="0" bIns="0" rtlCol="0" anchor="t">
            <a:normAutofit/>
          </a:bodyPr>
          <a:lstStyle/>
          <a:p>
            <a:pPr indent="0" marL="0">
              <a:buNone/>
            </a:pPr>
            <a:r>
              <a:rPr lang="en-US" sz="1000" dirty="0">
                <a:solidFill>
                  <a:srgbClr val="718692"/>
                </a:solidFill>
                <a:latin typeface="Aptos" pitchFamily="34" charset="0"/>
                <a:ea typeface="Aptos" pitchFamily="34" charset="-122"/>
                <a:cs typeface="Aptos" pitchFamily="34" charset="-120"/>
              </a:rPr>
              <a:t>Primary building, systems and East backup location are unavailable. West and recovery sites remain.</a:t>
            </a:r>
            <a:endParaRPr lang="en-US" sz="1000" dirty="0"/>
          </a:p>
        </p:txBody>
      </p:sp>
      <p:sp>
        <p:nvSpPr>
          <p:cNvPr id="11" name="Shape 9"/>
          <p:cNvSpPr/>
          <p:nvPr/>
        </p:nvSpPr>
        <p:spPr>
          <a:xfrm>
            <a:off x="859536" y="4453128"/>
            <a:ext cx="1463040" cy="246888"/>
          </a:xfrm>
          <a:prstGeom prst="roundRect">
            <a:avLst>
              <a:gd name="adj" fmla="val 29630"/>
            </a:avLst>
          </a:prstGeom>
          <a:solidFill>
            <a:srgbClr val="F8EBE9"/>
          </a:solidFill>
          <a:ln w="10160">
            <a:solidFill>
              <a:srgbClr val="F8EBE9"/>
            </a:solidFill>
            <a:prstDash val="solid"/>
          </a:ln>
        </p:spPr>
      </p:sp>
      <p:sp>
        <p:nvSpPr>
          <p:cNvPr id="12" name="Text 10"/>
          <p:cNvSpPr/>
          <p:nvPr/>
        </p:nvSpPr>
        <p:spPr>
          <a:xfrm>
            <a:off x="914400" y="4466844"/>
            <a:ext cx="1353312" cy="201168"/>
          </a:xfrm>
          <a:prstGeom prst="rect">
            <a:avLst/>
          </a:prstGeom>
          <a:noFill/>
          <a:ln/>
        </p:spPr>
        <p:txBody>
          <a:bodyPr wrap="square" lIns="0" tIns="0" rIns="0" bIns="0" rtlCol="0" anchor="ctr">
            <a:normAutofit/>
          </a:bodyPr>
          <a:lstStyle/>
          <a:p>
            <a:pPr algn="ctr" indent="0" marL="0">
              <a:buNone/>
            </a:pPr>
            <a:r>
              <a:rPr lang="en-US" sz="700" b="1" spc="50" kern="0" dirty="0">
                <a:solidFill>
                  <a:srgbClr val="BF5851"/>
                </a:solidFill>
                <a:latin typeface="Aptos" pitchFamily="34" charset="0"/>
                <a:ea typeface="Aptos" pitchFamily="34" charset="-122"/>
                <a:cs typeface="Aptos" pitchFamily="34" charset="-120"/>
              </a:rPr>
              <a:t>DOMAIN FILTERED</a:t>
            </a:r>
            <a:endParaRPr lang="en-US" sz="700" dirty="0"/>
          </a:p>
        </p:txBody>
      </p:sp>
      <p:sp>
        <p:nvSpPr>
          <p:cNvPr id="13" name="Shape 11"/>
          <p:cNvSpPr/>
          <p:nvPr/>
        </p:nvSpPr>
        <p:spPr>
          <a:xfrm>
            <a:off x="4389120" y="1828800"/>
            <a:ext cx="3401568" cy="3136392"/>
          </a:xfrm>
          <a:prstGeom prst="roundRect">
            <a:avLst>
              <a:gd name="adj" fmla="val 2332"/>
            </a:avLst>
          </a:prstGeom>
          <a:solidFill>
            <a:srgbClr val="FFFFFF"/>
          </a:solidFill>
          <a:ln w="10160">
            <a:solidFill>
              <a:srgbClr val="DCE6E9"/>
            </a:solidFill>
            <a:prstDash val="solid"/>
          </a:ln>
        </p:spPr>
      </p:sp>
      <p:sp>
        <p:nvSpPr>
          <p:cNvPr id="14" name="Shape 12"/>
          <p:cNvSpPr/>
          <p:nvPr/>
        </p:nvSpPr>
        <p:spPr>
          <a:xfrm>
            <a:off x="4572000" y="2029968"/>
            <a:ext cx="438912" cy="438912"/>
          </a:xfrm>
          <a:prstGeom prst="ellipse">
            <a:avLst/>
          </a:prstGeom>
          <a:solidFill>
            <a:srgbClr val="FBF3E6"/>
          </a:solidFill>
          <a:ln w="12700">
            <a:solidFill>
              <a:srgbClr val="FBF3E6"/>
            </a:solidFill>
            <a:prstDash val="solid"/>
          </a:ln>
        </p:spPr>
      </p:sp>
      <p:sp>
        <p:nvSpPr>
          <p:cNvPr id="15" name="Text 13"/>
          <p:cNvSpPr/>
          <p:nvPr/>
        </p:nvSpPr>
        <p:spPr>
          <a:xfrm>
            <a:off x="4572000" y="2148840"/>
            <a:ext cx="438912" cy="164592"/>
          </a:xfrm>
          <a:prstGeom prst="rect">
            <a:avLst/>
          </a:prstGeom>
          <a:noFill/>
          <a:ln/>
        </p:spPr>
        <p:txBody>
          <a:bodyPr wrap="square" lIns="0" tIns="0" rIns="0" bIns="0" rtlCol="0" anchor="ctr">
            <a:normAutofit/>
          </a:bodyPr>
          <a:lstStyle/>
          <a:p>
            <a:pPr algn="ctr" indent="0" marL="0">
              <a:buNone/>
            </a:pPr>
            <a:r>
              <a:rPr lang="en-US" sz="900" b="1" dirty="0">
                <a:solidFill>
                  <a:srgbClr val="B7781E"/>
                </a:solidFill>
                <a:latin typeface="Aptos" pitchFamily="34" charset="0"/>
                <a:ea typeface="Aptos" pitchFamily="34" charset="-122"/>
                <a:cs typeface="Aptos" pitchFamily="34" charset="-120"/>
              </a:rPr>
              <a:t>02</a:t>
            </a:r>
            <a:endParaRPr lang="en-US" sz="900" dirty="0"/>
          </a:p>
        </p:txBody>
      </p:sp>
      <p:sp>
        <p:nvSpPr>
          <p:cNvPr id="16" name="Text 14"/>
          <p:cNvSpPr/>
          <p:nvPr/>
        </p:nvSpPr>
        <p:spPr>
          <a:xfrm>
            <a:off x="5138928" y="2048256"/>
            <a:ext cx="2377440" cy="164592"/>
          </a:xfrm>
          <a:prstGeom prst="rect">
            <a:avLst/>
          </a:prstGeom>
          <a:noFill/>
          <a:ln/>
        </p:spPr>
        <p:txBody>
          <a:bodyPr wrap="square" lIns="0" tIns="0" rIns="0" bIns="0" rtlCol="0" anchor="ctr">
            <a:normAutofit/>
          </a:bodyPr>
          <a:lstStyle/>
          <a:p>
            <a:pPr indent="0" marL="0">
              <a:buNone/>
            </a:pPr>
            <a:r>
              <a:rPr lang="en-US" sz="800" b="1" spc="75" kern="0" dirty="0">
                <a:solidFill>
                  <a:srgbClr val="B7781E"/>
                </a:solidFill>
                <a:latin typeface="Aptos" pitchFamily="34" charset="0"/>
                <a:ea typeface="Aptos" pitchFamily="34" charset="-122"/>
                <a:cs typeface="Aptos" pitchFamily="34" charset="-120"/>
              </a:rPr>
              <a:t>RANSOMWARE</a:t>
            </a:r>
            <a:endParaRPr lang="en-US" sz="800" dirty="0"/>
          </a:p>
        </p:txBody>
      </p:sp>
      <p:sp>
        <p:nvSpPr>
          <p:cNvPr id="17" name="Text 15"/>
          <p:cNvSpPr/>
          <p:nvPr/>
        </p:nvSpPr>
        <p:spPr>
          <a:xfrm>
            <a:off x="4590288" y="2724912"/>
            <a:ext cx="2944368" cy="320040"/>
          </a:xfrm>
          <a:prstGeom prst="rect">
            <a:avLst/>
          </a:prstGeom>
          <a:noFill/>
          <a:ln/>
        </p:spPr>
        <p:txBody>
          <a:bodyPr wrap="square" lIns="0" tIns="0" rIns="0" bIns="0" rtlCol="0" anchor="ctr">
            <a:normAutofit/>
          </a:bodyPr>
          <a:lstStyle/>
          <a:p>
            <a:pPr indent="0" marL="0">
              <a:buNone/>
            </a:pPr>
            <a:r>
              <a:rPr lang="en-US" sz="1500" b="1" dirty="0">
                <a:solidFill>
                  <a:srgbClr val="142C43"/>
                </a:solidFill>
                <a:latin typeface="Aptos Display" pitchFamily="34" charset="0"/>
                <a:ea typeface="Aptos Display" pitchFamily="34" charset="-122"/>
                <a:cs typeface="Aptos Display" pitchFamily="34" charset="-120"/>
              </a:rPr>
              <a:t>New copy is altered</a:t>
            </a:r>
            <a:endParaRPr lang="en-US" sz="1500" dirty="0"/>
          </a:p>
        </p:txBody>
      </p:sp>
      <p:sp>
        <p:nvSpPr>
          <p:cNvPr id="18" name="Text 16"/>
          <p:cNvSpPr/>
          <p:nvPr/>
        </p:nvSpPr>
        <p:spPr>
          <a:xfrm>
            <a:off x="4590288" y="3236976"/>
            <a:ext cx="2944368" cy="841248"/>
          </a:xfrm>
          <a:prstGeom prst="rect">
            <a:avLst/>
          </a:prstGeom>
          <a:noFill/>
          <a:ln/>
        </p:spPr>
        <p:txBody>
          <a:bodyPr wrap="square" lIns="0" tIns="0" rIns="0" bIns="0" rtlCol="0" anchor="t">
            <a:normAutofit/>
          </a:bodyPr>
          <a:lstStyle/>
          <a:p>
            <a:pPr indent="0" marL="0">
              <a:buNone/>
            </a:pPr>
            <a:r>
              <a:rPr lang="en-US" sz="1000" dirty="0">
                <a:solidFill>
                  <a:srgbClr val="718692"/>
                </a:solidFill>
                <a:latin typeface="Aptos" pitchFamily="34" charset="0"/>
                <a:ea typeface="Aptos" pitchFamily="34" charset="-122"/>
                <a:cs typeface="Aptos" pitchFamily="34" charset="-120"/>
              </a:rPr>
              <a:t>Newest database file is present and recent, but its fingerprint fails and the scenario distrusts it.</a:t>
            </a:r>
            <a:endParaRPr lang="en-US" sz="1000" dirty="0"/>
          </a:p>
        </p:txBody>
      </p:sp>
      <p:sp>
        <p:nvSpPr>
          <p:cNvPr id="19" name="Shape 17"/>
          <p:cNvSpPr/>
          <p:nvPr/>
        </p:nvSpPr>
        <p:spPr>
          <a:xfrm>
            <a:off x="4590288" y="4453128"/>
            <a:ext cx="1508760" cy="246888"/>
          </a:xfrm>
          <a:prstGeom prst="roundRect">
            <a:avLst>
              <a:gd name="adj" fmla="val 29630"/>
            </a:avLst>
          </a:prstGeom>
          <a:solidFill>
            <a:srgbClr val="FBF3E6"/>
          </a:solidFill>
          <a:ln w="10160">
            <a:solidFill>
              <a:srgbClr val="FBF3E6"/>
            </a:solidFill>
            <a:prstDash val="solid"/>
          </a:ln>
        </p:spPr>
      </p:sp>
      <p:sp>
        <p:nvSpPr>
          <p:cNvPr id="20" name="Text 18"/>
          <p:cNvSpPr/>
          <p:nvPr/>
        </p:nvSpPr>
        <p:spPr>
          <a:xfrm>
            <a:off x="4645152" y="4466844"/>
            <a:ext cx="1399032" cy="201168"/>
          </a:xfrm>
          <a:prstGeom prst="rect">
            <a:avLst/>
          </a:prstGeom>
          <a:noFill/>
          <a:ln/>
        </p:spPr>
        <p:txBody>
          <a:bodyPr wrap="square" lIns="0" tIns="0" rIns="0" bIns="0" rtlCol="0" anchor="ctr">
            <a:normAutofit/>
          </a:bodyPr>
          <a:lstStyle/>
          <a:p>
            <a:pPr algn="ctr" indent="0" marL="0">
              <a:buNone/>
            </a:pPr>
            <a:r>
              <a:rPr lang="en-US" sz="700" b="1" spc="50" kern="0" dirty="0">
                <a:solidFill>
                  <a:srgbClr val="B7781E"/>
                </a:solidFill>
                <a:latin typeface="Aptos" pitchFamily="34" charset="0"/>
                <a:ea typeface="Aptos" pitchFamily="34" charset="-122"/>
                <a:cs typeface="Aptos" pitchFamily="34" charset="-120"/>
              </a:rPr>
              <a:t>INTEGRITY FAILURE</a:t>
            </a:r>
            <a:endParaRPr lang="en-US" sz="700" dirty="0"/>
          </a:p>
        </p:txBody>
      </p:sp>
      <p:sp>
        <p:nvSpPr>
          <p:cNvPr id="21" name="Shape 19"/>
          <p:cNvSpPr/>
          <p:nvPr/>
        </p:nvSpPr>
        <p:spPr>
          <a:xfrm>
            <a:off x="8119872" y="1828800"/>
            <a:ext cx="3401568" cy="3136392"/>
          </a:xfrm>
          <a:prstGeom prst="roundRect">
            <a:avLst>
              <a:gd name="adj" fmla="val 2332"/>
            </a:avLst>
          </a:prstGeom>
          <a:solidFill>
            <a:srgbClr val="FFFFFF"/>
          </a:solidFill>
          <a:ln w="10160">
            <a:solidFill>
              <a:srgbClr val="DCE6E9"/>
            </a:solidFill>
            <a:prstDash val="solid"/>
          </a:ln>
        </p:spPr>
      </p:sp>
      <p:sp>
        <p:nvSpPr>
          <p:cNvPr id="22" name="Shape 20"/>
          <p:cNvSpPr/>
          <p:nvPr/>
        </p:nvSpPr>
        <p:spPr>
          <a:xfrm>
            <a:off x="8302752" y="2029968"/>
            <a:ext cx="438912" cy="438912"/>
          </a:xfrm>
          <a:prstGeom prst="ellipse">
            <a:avLst/>
          </a:prstGeom>
          <a:solidFill>
            <a:srgbClr val="EAF3F6"/>
          </a:solidFill>
          <a:ln w="12700">
            <a:solidFill>
              <a:srgbClr val="EAF3F6"/>
            </a:solidFill>
            <a:prstDash val="solid"/>
          </a:ln>
        </p:spPr>
      </p:sp>
      <p:sp>
        <p:nvSpPr>
          <p:cNvPr id="23" name="Text 21"/>
          <p:cNvSpPr/>
          <p:nvPr/>
        </p:nvSpPr>
        <p:spPr>
          <a:xfrm>
            <a:off x="8302752" y="2148840"/>
            <a:ext cx="438912" cy="164592"/>
          </a:xfrm>
          <a:prstGeom prst="rect">
            <a:avLst/>
          </a:prstGeom>
          <a:noFill/>
          <a:ln/>
        </p:spPr>
        <p:txBody>
          <a:bodyPr wrap="square" lIns="0" tIns="0" rIns="0" bIns="0" rtlCol="0" anchor="ctr">
            <a:normAutofit/>
          </a:bodyPr>
          <a:lstStyle/>
          <a:p>
            <a:pPr algn="ctr" indent="0" marL="0">
              <a:buNone/>
            </a:pPr>
            <a:r>
              <a:rPr lang="en-US" sz="900" b="1" dirty="0">
                <a:solidFill>
                  <a:srgbClr val="557E9C"/>
                </a:solidFill>
                <a:latin typeface="Aptos" pitchFamily="34" charset="0"/>
                <a:ea typeface="Aptos" pitchFamily="34" charset="-122"/>
                <a:cs typeface="Aptos" pitchFamily="34" charset="-120"/>
              </a:rPr>
              <a:t>03</a:t>
            </a:r>
            <a:endParaRPr lang="en-US" sz="900" dirty="0"/>
          </a:p>
        </p:txBody>
      </p:sp>
      <p:sp>
        <p:nvSpPr>
          <p:cNvPr id="24" name="Text 22"/>
          <p:cNvSpPr/>
          <p:nvPr/>
        </p:nvSpPr>
        <p:spPr>
          <a:xfrm>
            <a:off x="8869680" y="2048256"/>
            <a:ext cx="2377440" cy="164592"/>
          </a:xfrm>
          <a:prstGeom prst="rect">
            <a:avLst/>
          </a:prstGeom>
          <a:noFill/>
          <a:ln/>
        </p:spPr>
        <p:txBody>
          <a:bodyPr wrap="square" lIns="0" tIns="0" rIns="0" bIns="0" rtlCol="0" anchor="ctr">
            <a:normAutofit/>
          </a:bodyPr>
          <a:lstStyle/>
          <a:p>
            <a:pPr indent="0" marL="0">
              <a:buNone/>
            </a:pPr>
            <a:r>
              <a:rPr lang="en-US" sz="800" b="1" spc="75" kern="0" dirty="0">
                <a:solidFill>
                  <a:srgbClr val="557E9C"/>
                </a:solidFill>
                <a:latin typeface="Aptos" pitchFamily="34" charset="0"/>
                <a:ea typeface="Aptos" pitchFamily="34" charset="-122"/>
                <a:cs typeface="Aptos" pitchFamily="34" charset="-120"/>
              </a:rPr>
              <a:t>COMBINED FAILURE</a:t>
            </a:r>
            <a:endParaRPr lang="en-US" sz="800" dirty="0"/>
          </a:p>
        </p:txBody>
      </p:sp>
      <p:sp>
        <p:nvSpPr>
          <p:cNvPr id="25" name="Text 23"/>
          <p:cNvSpPr/>
          <p:nvPr/>
        </p:nvSpPr>
        <p:spPr>
          <a:xfrm>
            <a:off x="8321040" y="2724912"/>
            <a:ext cx="2944368" cy="320040"/>
          </a:xfrm>
          <a:prstGeom prst="rect">
            <a:avLst/>
          </a:prstGeom>
          <a:noFill/>
          <a:ln/>
        </p:spPr>
        <p:txBody>
          <a:bodyPr wrap="square" lIns="0" tIns="0" rIns="0" bIns="0" rtlCol="0" anchor="ctr">
            <a:normAutofit/>
          </a:bodyPr>
          <a:lstStyle/>
          <a:p>
            <a:pPr indent="0" marL="0">
              <a:buNone/>
            </a:pPr>
            <a:r>
              <a:rPr lang="en-US" sz="1500" b="1" dirty="0">
                <a:solidFill>
                  <a:srgbClr val="142C43"/>
                </a:solidFill>
                <a:latin typeface="Aptos Display" pitchFamily="34" charset="0"/>
                <a:ea typeface="Aptos Display" pitchFamily="34" charset="-122"/>
                <a:cs typeface="Aptos Display" pitchFamily="34" charset="-120"/>
              </a:rPr>
              <a:t>Power, network, site</a:t>
            </a:r>
            <a:endParaRPr lang="en-US" sz="1500" dirty="0"/>
          </a:p>
        </p:txBody>
      </p:sp>
      <p:sp>
        <p:nvSpPr>
          <p:cNvPr id="26" name="Text 24"/>
          <p:cNvSpPr/>
          <p:nvPr/>
        </p:nvSpPr>
        <p:spPr>
          <a:xfrm>
            <a:off x="8321040" y="3236976"/>
            <a:ext cx="2944368" cy="841248"/>
          </a:xfrm>
          <a:prstGeom prst="rect">
            <a:avLst/>
          </a:prstGeom>
          <a:noFill/>
          <a:ln/>
        </p:spPr>
        <p:txBody>
          <a:bodyPr wrap="square" lIns="0" tIns="0" rIns="0" bIns="0" rtlCol="0" anchor="t">
            <a:normAutofit/>
          </a:bodyPr>
          <a:lstStyle/>
          <a:p>
            <a:pPr indent="0" marL="0">
              <a:buNone/>
            </a:pPr>
            <a:r>
              <a:rPr lang="en-US" sz="1000" dirty="0">
                <a:solidFill>
                  <a:srgbClr val="718692"/>
                </a:solidFill>
                <a:latin typeface="Aptos" pitchFamily="34" charset="0"/>
                <a:ea typeface="Aptos" pitchFamily="34" charset="-122"/>
                <a:cs typeface="Aptos" pitchFamily="34" charset="-120"/>
              </a:rPr>
              <a:t>Primary power and network fail, along with the East backup location. West remains reachable.</a:t>
            </a:r>
            <a:endParaRPr lang="en-US" sz="1000" dirty="0"/>
          </a:p>
        </p:txBody>
      </p:sp>
      <p:sp>
        <p:nvSpPr>
          <p:cNvPr id="27" name="Shape 25"/>
          <p:cNvSpPr/>
          <p:nvPr/>
        </p:nvSpPr>
        <p:spPr>
          <a:xfrm>
            <a:off x="8321040" y="4453128"/>
            <a:ext cx="1463040" cy="246888"/>
          </a:xfrm>
          <a:prstGeom prst="roundRect">
            <a:avLst>
              <a:gd name="adj" fmla="val 29630"/>
            </a:avLst>
          </a:prstGeom>
          <a:solidFill>
            <a:srgbClr val="EAF3F6"/>
          </a:solidFill>
          <a:ln w="10160">
            <a:solidFill>
              <a:srgbClr val="EAF3F6"/>
            </a:solidFill>
            <a:prstDash val="solid"/>
          </a:ln>
        </p:spPr>
      </p:sp>
      <p:sp>
        <p:nvSpPr>
          <p:cNvPr id="28" name="Text 26"/>
          <p:cNvSpPr/>
          <p:nvPr/>
        </p:nvSpPr>
        <p:spPr>
          <a:xfrm>
            <a:off x="8375904" y="4466844"/>
            <a:ext cx="1353312" cy="201168"/>
          </a:xfrm>
          <a:prstGeom prst="rect">
            <a:avLst/>
          </a:prstGeom>
          <a:noFill/>
          <a:ln/>
        </p:spPr>
        <p:txBody>
          <a:bodyPr wrap="square" lIns="0" tIns="0" rIns="0" bIns="0" rtlCol="0" anchor="ctr">
            <a:normAutofit/>
          </a:bodyPr>
          <a:lstStyle/>
          <a:p>
            <a:pPr algn="ctr" indent="0" marL="0">
              <a:buNone/>
            </a:pPr>
            <a:r>
              <a:rPr lang="en-US" sz="700" b="1" spc="50" kern="0" dirty="0">
                <a:solidFill>
                  <a:srgbClr val="557E9C"/>
                </a:solidFill>
                <a:latin typeface="Aptos" pitchFamily="34" charset="0"/>
                <a:ea typeface="Aptos" pitchFamily="34" charset="-122"/>
                <a:cs typeface="Aptos" pitchFamily="34" charset="-120"/>
              </a:rPr>
              <a:t>DOMAIN FILTERED</a:t>
            </a:r>
            <a:endParaRPr lang="en-US" sz="700" dirty="0"/>
          </a:p>
        </p:txBody>
      </p:sp>
      <p:sp>
        <p:nvSpPr>
          <p:cNvPr id="29" name="Text 27"/>
          <p:cNvSpPr/>
          <p:nvPr/>
        </p:nvSpPr>
        <p:spPr>
          <a:xfrm>
            <a:off x="960120" y="5468112"/>
            <a:ext cx="10241280" cy="274320"/>
          </a:xfrm>
          <a:prstGeom prst="rect">
            <a:avLst/>
          </a:prstGeom>
          <a:noFill/>
          <a:ln/>
        </p:spPr>
        <p:txBody>
          <a:bodyPr wrap="square" lIns="0" tIns="0" rIns="0" bIns="0" rtlCol="0" anchor="ctr">
            <a:normAutofit/>
          </a:bodyPr>
          <a:lstStyle/>
          <a:p>
            <a:pPr algn="ctr" indent="0" marL="0">
              <a:buNone/>
            </a:pPr>
            <a:r>
              <a:rPr lang="en-US" sz="1200" b="1" dirty="0">
                <a:solidFill>
                  <a:srgbClr val="142C43"/>
                </a:solidFill>
                <a:latin typeface="Aptos" pitchFamily="34" charset="0"/>
                <a:ea typeface="Aptos" pitchFamily="34" charset="-122"/>
                <a:cs typeface="Aptos" pitchFamily="34" charset="-120"/>
              </a:rPr>
              <a:t>For each: Is a copy reachable? Is it within the data-loss target? What else is missing?</a:t>
            </a:r>
            <a:endParaRPr lang="en-US" sz="1200" dirty="0"/>
          </a:p>
        </p:txBody>
      </p:sp>
      <p:sp>
        <p:nvSpPr>
          <p:cNvPr id="25" name="Slide Number Placeholder 0"/>
          <p:cNvSpPr>
            <a:spLocks noGrp="1"/>
          </p:cNvSpPr>
          <p:nvPr>
            <p:ph type="sldNum" sz="quarter" idx="4294967295"/>
          </p:nvPr>
        </p:nvSpPr>
        <p:spPr>
          <a:xfrm>
            <a:off x="11740896" y="6547104"/>
            <a:ext cx="228600" cy="146304"/>
          </a:xfrm>
          <a:prstGeom prst="rect">
            <a:avLst/>
          </a:prstGeom>
          <a:extLst>
            <a:ext uri="{C572A759-6A51-4108-AA02-DFA0A04FC94B}">
              <ma14:wrappingTextBoxFlag xmlns:ma14="http://schemas.microsoft.com/office/mac/drawingml/2011/main" val="0"/>
            </a:ext>
          </a:extLst>
        </p:spPr>
        <p:txBody>
          <a:bodyPr/>
          <a:lstStyle>
            <a:lvl1pPr>
              <a:defRPr sz="700">
                <a:solidFill>
                  <a:srgbClr val="80929D"/>
                </a:solidFill>
                <a:latin typeface="Aptos"/>
                <a:ea typeface="Aptos"/>
                <a:cs typeface="Aptos"/>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84048"/>
            <a:ext cx="10881360" cy="164592"/>
          </a:xfrm>
          <a:prstGeom prst="rect">
            <a:avLst/>
          </a:prstGeom>
          <a:noFill/>
          <a:ln/>
        </p:spPr>
        <p:txBody>
          <a:bodyPr wrap="square" lIns="0" tIns="0" rIns="0" bIns="0" rtlCol="0" anchor="ctr">
            <a:normAutofit/>
          </a:bodyPr>
          <a:lstStyle/>
          <a:p>
            <a:pPr indent="0" marL="0">
              <a:buNone/>
            </a:pPr>
            <a:r>
              <a:rPr lang="en-US" sz="800" b="1" spc="160" kern="0" dirty="0">
                <a:solidFill>
                  <a:srgbClr val="16827E"/>
                </a:solidFill>
                <a:latin typeface="Aptos" pitchFamily="34" charset="0"/>
                <a:ea typeface="Aptos" pitchFamily="34" charset="-122"/>
                <a:cs typeface="Aptos" pitchFamily="34" charset="-120"/>
              </a:rPr>
              <a:t>SERVICE DEPENDENCIES</a:t>
            </a:r>
            <a:endParaRPr lang="en-US" sz="800" dirty="0"/>
          </a:p>
        </p:txBody>
      </p:sp>
      <p:sp>
        <p:nvSpPr>
          <p:cNvPr id="3" name="Text 1"/>
          <p:cNvSpPr/>
          <p:nvPr/>
        </p:nvSpPr>
        <p:spPr>
          <a:xfrm>
            <a:off x="566928" y="694944"/>
            <a:ext cx="10972800" cy="438912"/>
          </a:xfrm>
          <a:prstGeom prst="rect">
            <a:avLst/>
          </a:prstGeom>
          <a:noFill/>
          <a:ln/>
        </p:spPr>
        <p:txBody>
          <a:bodyPr wrap="square" lIns="0" tIns="0" rIns="0" bIns="0" rtlCol="0" anchor="ctr">
            <a:normAutofit/>
          </a:bodyPr>
          <a:lstStyle/>
          <a:p>
            <a:pPr indent="0" marL="0">
              <a:buNone/>
            </a:pPr>
            <a:r>
              <a:rPr lang="en-US" sz="2500" b="1" spc="-60" kern="0" dirty="0">
                <a:solidFill>
                  <a:srgbClr val="142C43"/>
                </a:solidFill>
                <a:latin typeface="Aptos Display" pitchFamily="34" charset="0"/>
                <a:ea typeface="Aptos Display" pitchFamily="34" charset="-122"/>
                <a:cs typeface="Aptos Display" pitchFamily="34" charset="-120"/>
              </a:rPr>
              <a:t>Restore prerequisites before the hospital app</a:t>
            </a:r>
            <a:endParaRPr lang="en-US" sz="2500" dirty="0"/>
          </a:p>
        </p:txBody>
      </p:sp>
      <p:sp>
        <p:nvSpPr>
          <p:cNvPr id="4" name="Text 2"/>
          <p:cNvSpPr/>
          <p:nvPr/>
        </p:nvSpPr>
        <p:spPr>
          <a:xfrm>
            <a:off x="585216" y="1216152"/>
            <a:ext cx="10972800" cy="256032"/>
          </a:xfrm>
          <a:prstGeom prst="rect">
            <a:avLst/>
          </a:prstGeom>
          <a:noFill/>
          <a:ln/>
        </p:spPr>
        <p:txBody>
          <a:bodyPr wrap="square" lIns="0" tIns="0" rIns="0" bIns="0" rtlCol="0" anchor="ctr">
            <a:normAutofit/>
          </a:bodyPr>
          <a:lstStyle/>
          <a:p>
            <a:pPr indent="0" marL="0">
              <a:buNone/>
            </a:pPr>
            <a:r>
              <a:rPr lang="en-US" sz="1000" dirty="0">
                <a:solidFill>
                  <a:srgbClr val="718692"/>
                </a:solidFill>
                <a:latin typeface="Aptos" pitchFamily="34" charset="0"/>
                <a:ea typeface="Aptos" pitchFamily="34" charset="-122"/>
                <a:cs typeface="Aptos" pitchFamily="34" charset="-120"/>
              </a:rPr>
              <a:t>The app needs its database and identity service; identity needs directory data.</a:t>
            </a:r>
            <a:endParaRPr lang="en-US" sz="1000" dirty="0"/>
          </a:p>
        </p:txBody>
      </p:sp>
      <p:sp>
        <p:nvSpPr>
          <p:cNvPr id="5" name="Shape 3"/>
          <p:cNvSpPr/>
          <p:nvPr/>
        </p:nvSpPr>
        <p:spPr>
          <a:xfrm>
            <a:off x="3200400" y="2450592"/>
            <a:ext cx="640080" cy="0"/>
          </a:xfrm>
          <a:prstGeom prst="line">
            <a:avLst/>
          </a:prstGeom>
          <a:noFill/>
          <a:ln w="22860">
            <a:solidFill>
              <a:srgbClr val="95B4B5"/>
            </a:solidFill>
            <a:prstDash val="solid"/>
            <a:tailEnd type="triangle"/>
          </a:ln>
        </p:spPr>
      </p:sp>
      <p:sp>
        <p:nvSpPr>
          <p:cNvPr id="6" name="Shape 4"/>
          <p:cNvSpPr/>
          <p:nvPr/>
        </p:nvSpPr>
        <p:spPr>
          <a:xfrm>
            <a:off x="3200400" y="2523744"/>
            <a:ext cx="640080" cy="1453896"/>
          </a:xfrm>
          <a:prstGeom prst="line">
            <a:avLst/>
          </a:prstGeom>
          <a:noFill/>
          <a:ln w="22860">
            <a:solidFill>
              <a:srgbClr val="95B4B5"/>
            </a:solidFill>
            <a:prstDash val="solid"/>
            <a:tailEnd type="triangle"/>
          </a:ln>
        </p:spPr>
      </p:sp>
      <p:sp>
        <p:nvSpPr>
          <p:cNvPr id="7" name="Shape 5"/>
          <p:cNvSpPr/>
          <p:nvPr/>
        </p:nvSpPr>
        <p:spPr>
          <a:xfrm>
            <a:off x="6217920" y="4096512"/>
            <a:ext cx="1005840" cy="0"/>
          </a:xfrm>
          <a:prstGeom prst="line">
            <a:avLst/>
          </a:prstGeom>
          <a:noFill/>
          <a:ln w="22860">
            <a:solidFill>
              <a:srgbClr val="D3A956"/>
            </a:solidFill>
            <a:prstDash val="dash"/>
            <a:tailEnd type="triangle"/>
          </a:ln>
        </p:spPr>
      </p:sp>
      <p:sp>
        <p:nvSpPr>
          <p:cNvPr id="8" name="Shape 6"/>
          <p:cNvSpPr/>
          <p:nvPr/>
        </p:nvSpPr>
        <p:spPr>
          <a:xfrm>
            <a:off x="914400" y="2084832"/>
            <a:ext cx="2240280" cy="713232"/>
          </a:xfrm>
          <a:prstGeom prst="roundRect">
            <a:avLst>
              <a:gd name="adj" fmla="val 10256"/>
            </a:avLst>
          </a:prstGeom>
          <a:solidFill>
            <a:srgbClr val="FFFFFF"/>
          </a:solidFill>
          <a:ln w="10160">
            <a:solidFill>
              <a:srgbClr val="DCE6E9"/>
            </a:solidFill>
            <a:prstDash val="solid"/>
          </a:ln>
        </p:spPr>
      </p:sp>
      <p:sp>
        <p:nvSpPr>
          <p:cNvPr id="9" name="Text 7"/>
          <p:cNvSpPr/>
          <p:nvPr/>
        </p:nvSpPr>
        <p:spPr>
          <a:xfrm>
            <a:off x="1060704" y="2194560"/>
            <a:ext cx="1947672" cy="164592"/>
          </a:xfrm>
          <a:prstGeom prst="rect">
            <a:avLst/>
          </a:prstGeom>
          <a:noFill/>
          <a:ln/>
        </p:spPr>
        <p:txBody>
          <a:bodyPr wrap="square" lIns="0" tIns="0" rIns="0" bIns="0" rtlCol="0" anchor="ctr">
            <a:normAutofit/>
          </a:bodyPr>
          <a:lstStyle/>
          <a:p>
            <a:pPr indent="0" marL="0">
              <a:buNone/>
            </a:pPr>
            <a:r>
              <a:rPr lang="en-US" sz="900" b="1" spc="35" kern="0" dirty="0">
                <a:solidFill>
                  <a:srgbClr val="142C43"/>
                </a:solidFill>
                <a:latin typeface="Aptos" pitchFamily="34" charset="0"/>
                <a:ea typeface="Aptos" pitchFamily="34" charset="-122"/>
                <a:cs typeface="Aptos" pitchFamily="34" charset="-120"/>
              </a:rPr>
              <a:t>HOSPITAL APP</a:t>
            </a:r>
            <a:endParaRPr lang="en-US" sz="900" dirty="0"/>
          </a:p>
        </p:txBody>
      </p:sp>
      <p:sp>
        <p:nvSpPr>
          <p:cNvPr id="10" name="Shape 8"/>
          <p:cNvSpPr/>
          <p:nvPr/>
        </p:nvSpPr>
        <p:spPr>
          <a:xfrm>
            <a:off x="1060704" y="2468880"/>
            <a:ext cx="1143000" cy="246888"/>
          </a:xfrm>
          <a:prstGeom prst="roundRect">
            <a:avLst>
              <a:gd name="adj" fmla="val 29630"/>
            </a:avLst>
          </a:prstGeom>
          <a:solidFill>
            <a:srgbClr val="FBF3E6"/>
          </a:solidFill>
          <a:ln w="10160">
            <a:solidFill>
              <a:srgbClr val="FBF3E6"/>
            </a:solidFill>
            <a:prstDash val="solid"/>
          </a:ln>
        </p:spPr>
      </p:sp>
      <p:sp>
        <p:nvSpPr>
          <p:cNvPr id="11" name="Text 9"/>
          <p:cNvSpPr/>
          <p:nvPr/>
        </p:nvSpPr>
        <p:spPr>
          <a:xfrm>
            <a:off x="1115568" y="2482596"/>
            <a:ext cx="1033272" cy="201168"/>
          </a:xfrm>
          <a:prstGeom prst="rect">
            <a:avLst/>
          </a:prstGeom>
          <a:noFill/>
          <a:ln/>
        </p:spPr>
        <p:txBody>
          <a:bodyPr wrap="square" lIns="0" tIns="0" rIns="0" bIns="0" rtlCol="0" anchor="ctr">
            <a:normAutofit/>
          </a:bodyPr>
          <a:lstStyle/>
          <a:p>
            <a:pPr algn="ctr" indent="0" marL="0">
              <a:buNone/>
            </a:pPr>
            <a:r>
              <a:rPr lang="en-US" sz="700" b="1" spc="50" kern="0" dirty="0">
                <a:solidFill>
                  <a:srgbClr val="B7781E"/>
                </a:solidFill>
                <a:latin typeface="Aptos" pitchFamily="34" charset="0"/>
                <a:ea typeface="Aptos" pitchFamily="34" charset="-122"/>
                <a:cs typeface="Aptos" pitchFamily="34" charset="-120"/>
              </a:rPr>
              <a:t>BLOCKED</a:t>
            </a:r>
            <a:endParaRPr lang="en-US" sz="700" dirty="0"/>
          </a:p>
        </p:txBody>
      </p:sp>
      <p:sp>
        <p:nvSpPr>
          <p:cNvPr id="12" name="Shape 10"/>
          <p:cNvSpPr/>
          <p:nvPr/>
        </p:nvSpPr>
        <p:spPr>
          <a:xfrm>
            <a:off x="3931920" y="2084832"/>
            <a:ext cx="2240280" cy="713232"/>
          </a:xfrm>
          <a:prstGeom prst="roundRect">
            <a:avLst>
              <a:gd name="adj" fmla="val 10256"/>
            </a:avLst>
          </a:prstGeom>
          <a:solidFill>
            <a:srgbClr val="FFFFFF"/>
          </a:solidFill>
          <a:ln w="10160">
            <a:solidFill>
              <a:srgbClr val="DCE6E9"/>
            </a:solidFill>
            <a:prstDash val="solid"/>
          </a:ln>
        </p:spPr>
      </p:sp>
      <p:sp>
        <p:nvSpPr>
          <p:cNvPr id="13" name="Text 11"/>
          <p:cNvSpPr/>
          <p:nvPr/>
        </p:nvSpPr>
        <p:spPr>
          <a:xfrm>
            <a:off x="4078224" y="2194560"/>
            <a:ext cx="1947672" cy="164592"/>
          </a:xfrm>
          <a:prstGeom prst="rect">
            <a:avLst/>
          </a:prstGeom>
          <a:noFill/>
          <a:ln/>
        </p:spPr>
        <p:txBody>
          <a:bodyPr wrap="square" lIns="0" tIns="0" rIns="0" bIns="0" rtlCol="0" anchor="ctr">
            <a:normAutofit/>
          </a:bodyPr>
          <a:lstStyle/>
          <a:p>
            <a:pPr indent="0" marL="0">
              <a:buNone/>
            </a:pPr>
            <a:r>
              <a:rPr lang="en-US" sz="900" b="1" spc="35" kern="0" dirty="0">
                <a:solidFill>
                  <a:srgbClr val="142C43"/>
                </a:solidFill>
                <a:latin typeface="Aptos" pitchFamily="34" charset="0"/>
                <a:ea typeface="Aptos" pitchFamily="34" charset="-122"/>
                <a:cs typeface="Aptos" pitchFamily="34" charset="-120"/>
              </a:rPr>
              <a:t>CLINICAL DB</a:t>
            </a:r>
            <a:endParaRPr lang="en-US" sz="900" dirty="0"/>
          </a:p>
        </p:txBody>
      </p:sp>
      <p:sp>
        <p:nvSpPr>
          <p:cNvPr id="14" name="Shape 12"/>
          <p:cNvSpPr/>
          <p:nvPr/>
        </p:nvSpPr>
        <p:spPr>
          <a:xfrm>
            <a:off x="4078224" y="2468880"/>
            <a:ext cx="1143000" cy="246888"/>
          </a:xfrm>
          <a:prstGeom prst="roundRect">
            <a:avLst>
              <a:gd name="adj" fmla="val 29630"/>
            </a:avLst>
          </a:prstGeom>
          <a:solidFill>
            <a:srgbClr val="E4F2EC"/>
          </a:solidFill>
          <a:ln w="10160">
            <a:solidFill>
              <a:srgbClr val="E4F2EC"/>
            </a:solidFill>
            <a:prstDash val="solid"/>
          </a:ln>
        </p:spPr>
      </p:sp>
      <p:sp>
        <p:nvSpPr>
          <p:cNvPr id="15" name="Text 13"/>
          <p:cNvSpPr/>
          <p:nvPr/>
        </p:nvSpPr>
        <p:spPr>
          <a:xfrm>
            <a:off x="4133088" y="2482596"/>
            <a:ext cx="1033272" cy="201168"/>
          </a:xfrm>
          <a:prstGeom prst="rect">
            <a:avLst/>
          </a:prstGeom>
          <a:noFill/>
          <a:ln/>
        </p:spPr>
        <p:txBody>
          <a:bodyPr wrap="square" lIns="0" tIns="0" rIns="0" bIns="0" rtlCol="0" anchor="ctr">
            <a:normAutofit/>
          </a:bodyPr>
          <a:lstStyle/>
          <a:p>
            <a:pPr algn="ctr" indent="0" marL="0">
              <a:buNone/>
            </a:pPr>
            <a:r>
              <a:rPr lang="en-US" sz="700" b="1" spc="50" kern="0" dirty="0">
                <a:solidFill>
                  <a:srgbClr val="27826B"/>
                </a:solidFill>
                <a:latin typeface="Aptos" pitchFamily="34" charset="0"/>
                <a:ea typeface="Aptos" pitchFamily="34" charset="-122"/>
                <a:cs typeface="Aptos" pitchFamily="34" charset="-120"/>
              </a:rPr>
              <a:t>TESTABLE · OLD</a:t>
            </a:r>
            <a:endParaRPr lang="en-US" sz="700" dirty="0"/>
          </a:p>
        </p:txBody>
      </p:sp>
      <p:sp>
        <p:nvSpPr>
          <p:cNvPr id="16" name="Shape 14"/>
          <p:cNvSpPr/>
          <p:nvPr/>
        </p:nvSpPr>
        <p:spPr>
          <a:xfrm>
            <a:off x="3931920" y="3776472"/>
            <a:ext cx="2240280" cy="713232"/>
          </a:xfrm>
          <a:prstGeom prst="roundRect">
            <a:avLst>
              <a:gd name="adj" fmla="val 10256"/>
            </a:avLst>
          </a:prstGeom>
          <a:solidFill>
            <a:srgbClr val="FFFFFF"/>
          </a:solidFill>
          <a:ln w="10160">
            <a:solidFill>
              <a:srgbClr val="DCE6E9"/>
            </a:solidFill>
            <a:prstDash val="solid"/>
          </a:ln>
        </p:spPr>
      </p:sp>
      <p:sp>
        <p:nvSpPr>
          <p:cNvPr id="17" name="Text 15"/>
          <p:cNvSpPr/>
          <p:nvPr/>
        </p:nvSpPr>
        <p:spPr>
          <a:xfrm>
            <a:off x="4078224" y="3886200"/>
            <a:ext cx="1947672" cy="164592"/>
          </a:xfrm>
          <a:prstGeom prst="rect">
            <a:avLst/>
          </a:prstGeom>
          <a:noFill/>
          <a:ln/>
        </p:spPr>
        <p:txBody>
          <a:bodyPr wrap="square" lIns="0" tIns="0" rIns="0" bIns="0" rtlCol="0" anchor="ctr">
            <a:normAutofit/>
          </a:bodyPr>
          <a:lstStyle/>
          <a:p>
            <a:pPr indent="0" marL="0">
              <a:buNone/>
            </a:pPr>
            <a:r>
              <a:rPr lang="en-US" sz="900" b="1" spc="35" kern="0" dirty="0">
                <a:solidFill>
                  <a:srgbClr val="142C43"/>
                </a:solidFill>
                <a:latin typeface="Aptos" pitchFamily="34" charset="0"/>
                <a:ea typeface="Aptos" pitchFamily="34" charset="-122"/>
                <a:cs typeface="Aptos" pitchFamily="34" charset="-120"/>
              </a:rPr>
              <a:t>IDENTITY</a:t>
            </a:r>
            <a:endParaRPr lang="en-US" sz="900" dirty="0"/>
          </a:p>
        </p:txBody>
      </p:sp>
      <p:sp>
        <p:nvSpPr>
          <p:cNvPr id="18" name="Shape 16"/>
          <p:cNvSpPr/>
          <p:nvPr/>
        </p:nvSpPr>
        <p:spPr>
          <a:xfrm>
            <a:off x="4078224" y="4160520"/>
            <a:ext cx="1143000" cy="246888"/>
          </a:xfrm>
          <a:prstGeom prst="roundRect">
            <a:avLst>
              <a:gd name="adj" fmla="val 29630"/>
            </a:avLst>
          </a:prstGeom>
          <a:solidFill>
            <a:srgbClr val="FBF3E6"/>
          </a:solidFill>
          <a:ln w="10160">
            <a:solidFill>
              <a:srgbClr val="FBF3E6"/>
            </a:solidFill>
            <a:prstDash val="solid"/>
          </a:ln>
        </p:spPr>
      </p:sp>
      <p:sp>
        <p:nvSpPr>
          <p:cNvPr id="19" name="Text 17"/>
          <p:cNvSpPr/>
          <p:nvPr/>
        </p:nvSpPr>
        <p:spPr>
          <a:xfrm>
            <a:off x="4133088" y="4174236"/>
            <a:ext cx="1033272" cy="201168"/>
          </a:xfrm>
          <a:prstGeom prst="rect">
            <a:avLst/>
          </a:prstGeom>
          <a:noFill/>
          <a:ln/>
        </p:spPr>
        <p:txBody>
          <a:bodyPr wrap="square" lIns="0" tIns="0" rIns="0" bIns="0" rtlCol="0" anchor="ctr">
            <a:normAutofit/>
          </a:bodyPr>
          <a:lstStyle/>
          <a:p>
            <a:pPr algn="ctr" indent="0" marL="0">
              <a:buNone/>
            </a:pPr>
            <a:r>
              <a:rPr lang="en-US" sz="700" b="1" spc="50" kern="0" dirty="0">
                <a:solidFill>
                  <a:srgbClr val="B7781E"/>
                </a:solidFill>
                <a:latin typeface="Aptos" pitchFamily="34" charset="0"/>
                <a:ea typeface="Aptos" pitchFamily="34" charset="-122"/>
                <a:cs typeface="Aptos" pitchFamily="34" charset="-120"/>
              </a:rPr>
              <a:t>BLOCKED</a:t>
            </a:r>
            <a:endParaRPr lang="en-US" sz="700" dirty="0"/>
          </a:p>
        </p:txBody>
      </p:sp>
      <p:sp>
        <p:nvSpPr>
          <p:cNvPr id="20" name="Shape 18"/>
          <p:cNvSpPr/>
          <p:nvPr/>
        </p:nvSpPr>
        <p:spPr>
          <a:xfrm>
            <a:off x="7315200" y="3776472"/>
            <a:ext cx="2240280" cy="713232"/>
          </a:xfrm>
          <a:prstGeom prst="roundRect">
            <a:avLst>
              <a:gd name="adj" fmla="val 10256"/>
            </a:avLst>
          </a:prstGeom>
          <a:solidFill>
            <a:srgbClr val="FFFFFF"/>
          </a:solidFill>
          <a:ln w="10160">
            <a:solidFill>
              <a:srgbClr val="DCE6E9"/>
            </a:solidFill>
            <a:prstDash val="solid"/>
          </a:ln>
        </p:spPr>
      </p:sp>
      <p:sp>
        <p:nvSpPr>
          <p:cNvPr id="21" name="Text 19"/>
          <p:cNvSpPr/>
          <p:nvPr/>
        </p:nvSpPr>
        <p:spPr>
          <a:xfrm>
            <a:off x="7461504" y="3886200"/>
            <a:ext cx="1947672" cy="164592"/>
          </a:xfrm>
          <a:prstGeom prst="rect">
            <a:avLst/>
          </a:prstGeom>
          <a:noFill/>
          <a:ln/>
        </p:spPr>
        <p:txBody>
          <a:bodyPr wrap="square" lIns="0" tIns="0" rIns="0" bIns="0" rtlCol="0" anchor="ctr">
            <a:normAutofit/>
          </a:bodyPr>
          <a:lstStyle/>
          <a:p>
            <a:pPr indent="0" marL="0">
              <a:buNone/>
            </a:pPr>
            <a:r>
              <a:rPr lang="en-US" sz="900" b="1" spc="35" kern="0" dirty="0">
                <a:solidFill>
                  <a:srgbClr val="142C43"/>
                </a:solidFill>
                <a:latin typeface="Aptos" pitchFamily="34" charset="0"/>
                <a:ea typeface="Aptos" pitchFamily="34" charset="-122"/>
                <a:cs typeface="Aptos" pitchFamily="34" charset="-120"/>
              </a:rPr>
              <a:t>DIRECTORY STORE</a:t>
            </a:r>
            <a:endParaRPr lang="en-US" sz="900" dirty="0"/>
          </a:p>
        </p:txBody>
      </p:sp>
      <p:sp>
        <p:nvSpPr>
          <p:cNvPr id="22" name="Shape 20"/>
          <p:cNvSpPr/>
          <p:nvPr/>
        </p:nvSpPr>
        <p:spPr>
          <a:xfrm>
            <a:off x="7461504" y="4160520"/>
            <a:ext cx="1143000" cy="246888"/>
          </a:xfrm>
          <a:prstGeom prst="roundRect">
            <a:avLst>
              <a:gd name="adj" fmla="val 29630"/>
            </a:avLst>
          </a:prstGeom>
          <a:solidFill>
            <a:srgbClr val="F8EBE9"/>
          </a:solidFill>
          <a:ln w="10160">
            <a:solidFill>
              <a:srgbClr val="F8EBE9"/>
            </a:solidFill>
            <a:prstDash val="solid"/>
          </a:ln>
        </p:spPr>
      </p:sp>
      <p:sp>
        <p:nvSpPr>
          <p:cNvPr id="23" name="Text 21"/>
          <p:cNvSpPr/>
          <p:nvPr/>
        </p:nvSpPr>
        <p:spPr>
          <a:xfrm>
            <a:off x="7516368" y="4174236"/>
            <a:ext cx="1033272" cy="201168"/>
          </a:xfrm>
          <a:prstGeom prst="rect">
            <a:avLst/>
          </a:prstGeom>
          <a:noFill/>
          <a:ln/>
        </p:spPr>
        <p:txBody>
          <a:bodyPr wrap="square" lIns="0" tIns="0" rIns="0" bIns="0" rtlCol="0" anchor="ctr">
            <a:normAutofit/>
          </a:bodyPr>
          <a:lstStyle/>
          <a:p>
            <a:pPr algn="ctr" indent="0" marL="0">
              <a:buNone/>
            </a:pPr>
            <a:r>
              <a:rPr lang="en-US" sz="700" b="1" spc="50" kern="0" dirty="0">
                <a:solidFill>
                  <a:srgbClr val="BF5851"/>
                </a:solidFill>
                <a:latin typeface="Aptos" pitchFamily="34" charset="0"/>
                <a:ea typeface="Aptos" pitchFamily="34" charset="-122"/>
                <a:cs typeface="Aptos" pitchFamily="34" charset="-120"/>
              </a:rPr>
              <a:t>NO BACKUP</a:t>
            </a:r>
            <a:endParaRPr lang="en-US" sz="700" dirty="0"/>
          </a:p>
        </p:txBody>
      </p:sp>
      <p:sp>
        <p:nvSpPr>
          <p:cNvPr id="24" name="Shape 22"/>
          <p:cNvSpPr/>
          <p:nvPr/>
        </p:nvSpPr>
        <p:spPr>
          <a:xfrm>
            <a:off x="7315200" y="4983480"/>
            <a:ext cx="2240280" cy="530352"/>
          </a:xfrm>
          <a:prstGeom prst="roundRect">
            <a:avLst>
              <a:gd name="adj" fmla="val 13793"/>
            </a:avLst>
          </a:prstGeom>
          <a:solidFill>
            <a:srgbClr val="FFFFFF"/>
          </a:solidFill>
          <a:ln w="10160">
            <a:solidFill>
              <a:srgbClr val="DCE6E9"/>
            </a:solidFill>
            <a:prstDash val="solid"/>
          </a:ln>
        </p:spPr>
      </p:sp>
      <p:sp>
        <p:nvSpPr>
          <p:cNvPr id="25" name="Text 23"/>
          <p:cNvSpPr/>
          <p:nvPr/>
        </p:nvSpPr>
        <p:spPr>
          <a:xfrm>
            <a:off x="7461504" y="5093208"/>
            <a:ext cx="1947672" cy="164592"/>
          </a:xfrm>
          <a:prstGeom prst="rect">
            <a:avLst/>
          </a:prstGeom>
          <a:noFill/>
          <a:ln/>
        </p:spPr>
        <p:txBody>
          <a:bodyPr wrap="square" lIns="0" tIns="0" rIns="0" bIns="0" rtlCol="0" anchor="ctr">
            <a:normAutofit/>
          </a:bodyPr>
          <a:lstStyle/>
          <a:p>
            <a:pPr indent="0" marL="0">
              <a:buNone/>
            </a:pPr>
            <a:r>
              <a:rPr lang="en-US" sz="900" b="1" spc="35" kern="0" dirty="0">
                <a:solidFill>
                  <a:srgbClr val="142C43"/>
                </a:solidFill>
                <a:latin typeface="Aptos" pitchFamily="34" charset="0"/>
                <a:ea typeface="Aptos" pitchFamily="34" charset="-122"/>
                <a:cs typeface="Aptos" pitchFamily="34" charset="-120"/>
              </a:rPr>
              <a:t>RECOVERY NETWORK</a:t>
            </a:r>
            <a:endParaRPr lang="en-US" sz="900" dirty="0"/>
          </a:p>
        </p:txBody>
      </p:sp>
      <p:sp>
        <p:nvSpPr>
          <p:cNvPr id="26" name="Shape 24"/>
          <p:cNvSpPr/>
          <p:nvPr/>
        </p:nvSpPr>
        <p:spPr>
          <a:xfrm>
            <a:off x="7461504" y="5367528"/>
            <a:ext cx="1143000" cy="246888"/>
          </a:xfrm>
          <a:prstGeom prst="roundRect">
            <a:avLst>
              <a:gd name="adj" fmla="val 29630"/>
            </a:avLst>
          </a:prstGeom>
          <a:solidFill>
            <a:srgbClr val="EAF3F6"/>
          </a:solidFill>
          <a:ln w="10160">
            <a:solidFill>
              <a:srgbClr val="EAF3F6"/>
            </a:solidFill>
            <a:prstDash val="solid"/>
          </a:ln>
        </p:spPr>
      </p:sp>
      <p:sp>
        <p:nvSpPr>
          <p:cNvPr id="27" name="Text 25"/>
          <p:cNvSpPr/>
          <p:nvPr/>
        </p:nvSpPr>
        <p:spPr>
          <a:xfrm>
            <a:off x="7516368" y="5381244"/>
            <a:ext cx="1033272" cy="201168"/>
          </a:xfrm>
          <a:prstGeom prst="rect">
            <a:avLst/>
          </a:prstGeom>
          <a:noFill/>
          <a:ln/>
        </p:spPr>
        <p:txBody>
          <a:bodyPr wrap="square" lIns="0" tIns="0" rIns="0" bIns="0" rtlCol="0" anchor="ctr">
            <a:normAutofit/>
          </a:bodyPr>
          <a:lstStyle/>
          <a:p>
            <a:pPr algn="ctr" indent="0" marL="0">
              <a:buNone/>
            </a:pPr>
            <a:r>
              <a:rPr lang="en-US" sz="700" b="1" spc="50" kern="0" dirty="0">
                <a:solidFill>
                  <a:srgbClr val="557E9C"/>
                </a:solidFill>
                <a:latin typeface="Aptos" pitchFamily="34" charset="0"/>
                <a:ea typeface="Aptos" pitchFamily="34" charset="-122"/>
                <a:cs typeface="Aptos" pitchFamily="34" charset="-120"/>
              </a:rPr>
              <a:t>AVAILABLE</a:t>
            </a:r>
            <a:endParaRPr lang="en-US" sz="700" dirty="0"/>
          </a:p>
        </p:txBody>
      </p:sp>
      <p:sp>
        <p:nvSpPr>
          <p:cNvPr id="28" name="Shape 26"/>
          <p:cNvSpPr/>
          <p:nvPr/>
        </p:nvSpPr>
        <p:spPr>
          <a:xfrm>
            <a:off x="9921240" y="2084832"/>
            <a:ext cx="1600200" cy="1874520"/>
          </a:xfrm>
          <a:prstGeom prst="roundRect">
            <a:avLst>
              <a:gd name="adj" fmla="val 4571"/>
            </a:avLst>
          </a:prstGeom>
          <a:solidFill>
            <a:srgbClr val="142C43"/>
          </a:solidFill>
          <a:ln w="10160">
            <a:solidFill>
              <a:srgbClr val="142C43"/>
            </a:solidFill>
            <a:prstDash val="solid"/>
          </a:ln>
        </p:spPr>
      </p:sp>
      <p:sp>
        <p:nvSpPr>
          <p:cNvPr id="29" name="Text 27"/>
          <p:cNvSpPr/>
          <p:nvPr/>
        </p:nvSpPr>
        <p:spPr>
          <a:xfrm>
            <a:off x="10131552" y="2331720"/>
            <a:ext cx="1143000" cy="155448"/>
          </a:xfrm>
          <a:prstGeom prst="rect">
            <a:avLst/>
          </a:prstGeom>
          <a:noFill/>
          <a:ln/>
        </p:spPr>
        <p:txBody>
          <a:bodyPr wrap="square" lIns="0" tIns="0" rIns="0" bIns="0" rtlCol="0" anchor="ctr">
            <a:normAutofit/>
          </a:bodyPr>
          <a:lstStyle/>
          <a:p>
            <a:pPr algn="ctr" indent="0" marL="0">
              <a:buNone/>
            </a:pPr>
            <a:r>
              <a:rPr lang="en-US" sz="800" b="1" spc="70" kern="0" dirty="0">
                <a:solidFill>
                  <a:srgbClr val="9DDCCF"/>
                </a:solidFill>
                <a:latin typeface="Aptos" pitchFamily="34" charset="0"/>
                <a:ea typeface="Aptos" pitchFamily="34" charset="-122"/>
                <a:cs typeface="Aptos" pitchFamily="34" charset="-120"/>
              </a:rPr>
              <a:t>BLOCKER</a:t>
            </a:r>
            <a:endParaRPr lang="en-US" sz="800" dirty="0"/>
          </a:p>
        </p:txBody>
      </p:sp>
      <p:sp>
        <p:nvSpPr>
          <p:cNvPr id="30" name="Text 28"/>
          <p:cNvSpPr/>
          <p:nvPr/>
        </p:nvSpPr>
        <p:spPr>
          <a:xfrm>
            <a:off x="10104120" y="2697480"/>
            <a:ext cx="1234440" cy="658368"/>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Aptos" pitchFamily="34" charset="0"/>
                <a:ea typeface="Aptos" pitchFamily="34" charset="-122"/>
                <a:cs typeface="Aptos" pitchFamily="34" charset="-120"/>
              </a:rPr>
              <a:t>No Directory Store backup record</a:t>
            </a:r>
            <a:endParaRPr lang="en-US" sz="1200" dirty="0"/>
          </a:p>
        </p:txBody>
      </p:sp>
      <p:sp>
        <p:nvSpPr>
          <p:cNvPr id="31" name="Text 29"/>
          <p:cNvSpPr/>
          <p:nvPr/>
        </p:nvSpPr>
        <p:spPr>
          <a:xfrm>
            <a:off x="10030968" y="3474720"/>
            <a:ext cx="1371600" cy="365760"/>
          </a:xfrm>
          <a:prstGeom prst="rect">
            <a:avLst/>
          </a:prstGeom>
          <a:noFill/>
          <a:ln/>
        </p:spPr>
        <p:txBody>
          <a:bodyPr wrap="square" lIns="0" tIns="0" rIns="0" bIns="0" rtlCol="0" anchor="t">
            <a:normAutofit/>
          </a:bodyPr>
          <a:lstStyle/>
          <a:p>
            <a:pPr algn="ctr" indent="0" marL="0">
              <a:buNone/>
            </a:pPr>
            <a:r>
              <a:rPr lang="en-US" sz="800" dirty="0">
                <a:solidFill>
                  <a:srgbClr val="B8CAD2"/>
                </a:solidFill>
                <a:latin typeface="Aptos" pitchFamily="34" charset="0"/>
                <a:ea typeface="Aptos" pitchFamily="34" charset="-122"/>
                <a:cs typeface="Aptos" pitchFamily="34" charset="-120"/>
              </a:rPr>
              <a:t>Identity cannot be rebuilt; app remains blocked.</a:t>
            </a:r>
            <a:endParaRPr lang="en-US" sz="800" dirty="0"/>
          </a:p>
        </p:txBody>
      </p:sp>
      <p:sp>
        <p:nvSpPr>
          <p:cNvPr id="32" name="Shape 30"/>
          <p:cNvSpPr/>
          <p:nvPr/>
        </p:nvSpPr>
        <p:spPr>
          <a:xfrm>
            <a:off x="850392" y="5824728"/>
            <a:ext cx="2450592" cy="246888"/>
          </a:xfrm>
          <a:prstGeom prst="roundRect">
            <a:avLst>
              <a:gd name="adj" fmla="val 29630"/>
            </a:avLst>
          </a:prstGeom>
          <a:solidFill>
            <a:srgbClr val="E9F1F5"/>
          </a:solidFill>
          <a:ln w="10160">
            <a:solidFill>
              <a:srgbClr val="E9F1F5"/>
            </a:solidFill>
            <a:prstDash val="solid"/>
          </a:ln>
        </p:spPr>
      </p:sp>
      <p:sp>
        <p:nvSpPr>
          <p:cNvPr id="33" name="Text 31"/>
          <p:cNvSpPr/>
          <p:nvPr/>
        </p:nvSpPr>
        <p:spPr>
          <a:xfrm>
            <a:off x="905256" y="5838444"/>
            <a:ext cx="2340864" cy="201168"/>
          </a:xfrm>
          <a:prstGeom prst="rect">
            <a:avLst/>
          </a:prstGeom>
          <a:noFill/>
          <a:ln/>
        </p:spPr>
        <p:txBody>
          <a:bodyPr wrap="square" lIns="0" tIns="0" rIns="0" bIns="0" rtlCol="0" anchor="ctr">
            <a:normAutofit/>
          </a:bodyPr>
          <a:lstStyle/>
          <a:p>
            <a:pPr algn="ctr" indent="0" marL="0">
              <a:buNone/>
            </a:pPr>
            <a:r>
              <a:rPr lang="en-US" sz="700" b="1" spc="50" kern="0" dirty="0">
                <a:solidFill>
                  <a:srgbClr val="557E9C"/>
                </a:solidFill>
                <a:latin typeface="Aptos" pitchFamily="34" charset="0"/>
                <a:ea typeface="Aptos" pitchFamily="34" charset="-122"/>
                <a:cs typeface="Aptos" pitchFamily="34" charset="-120"/>
              </a:rPr>
              <a:t>RULE-BASED RECOVERY ORDER</a:t>
            </a:r>
            <a:endParaRPr lang="en-US" sz="700" dirty="0"/>
          </a:p>
        </p:txBody>
      </p:sp>
      <p:sp>
        <p:nvSpPr>
          <p:cNvPr id="34" name="Text 32"/>
          <p:cNvSpPr/>
          <p:nvPr/>
        </p:nvSpPr>
        <p:spPr>
          <a:xfrm>
            <a:off x="3547872" y="5815584"/>
            <a:ext cx="7589520" cy="228600"/>
          </a:xfrm>
          <a:prstGeom prst="rect">
            <a:avLst/>
          </a:prstGeom>
          <a:noFill/>
          <a:ln/>
        </p:spPr>
        <p:txBody>
          <a:bodyPr wrap="square" lIns="0" tIns="0" rIns="0" bIns="0" rtlCol="0" anchor="ctr">
            <a:normAutofit/>
          </a:bodyPr>
          <a:lstStyle/>
          <a:p>
            <a:pPr indent="0" marL="0">
              <a:buNone/>
            </a:pPr>
            <a:r>
              <a:rPr lang="en-US" sz="900" dirty="0">
                <a:solidFill>
                  <a:srgbClr val="718692"/>
                </a:solidFill>
                <a:latin typeface="Aptos" pitchFamily="34" charset="0"/>
                <a:ea typeface="Aptos" pitchFamily="34" charset="-122"/>
                <a:cs typeface="Aptos" pitchFamily="34" charset="-120"/>
              </a:rPr>
              <a:t>Example at 08:00: the 05:00 database file is one hour beyond its two-hour data-loss target.</a:t>
            </a:r>
            <a:endParaRPr lang="en-US" sz="900" dirty="0"/>
          </a:p>
        </p:txBody>
      </p:sp>
      <p:sp>
        <p:nvSpPr>
          <p:cNvPr id="25" name="Slide Number Placeholder 0"/>
          <p:cNvSpPr>
            <a:spLocks noGrp="1"/>
          </p:cNvSpPr>
          <p:nvPr>
            <p:ph type="sldNum" sz="quarter" idx="4294967295"/>
          </p:nvPr>
        </p:nvSpPr>
        <p:spPr>
          <a:xfrm>
            <a:off x="11740896" y="6547104"/>
            <a:ext cx="228600" cy="146304"/>
          </a:xfrm>
          <a:prstGeom prst="rect">
            <a:avLst/>
          </a:prstGeom>
          <a:extLst>
            <a:ext uri="{C572A759-6A51-4108-AA02-DFA0A04FC94B}">
              <ma14:wrappingTextBoxFlag xmlns:ma14="http://schemas.microsoft.com/office/mac/drawingml/2011/main" val="0"/>
            </a:ext>
          </a:extLst>
        </p:spPr>
        <p:txBody>
          <a:bodyPr/>
          <a:lstStyle>
            <a:lvl1pPr>
              <a:defRPr sz="700">
                <a:solidFill>
                  <a:srgbClr val="80929D"/>
                </a:solidFill>
                <a:latin typeface="Aptos"/>
                <a:ea typeface="Aptos"/>
                <a:cs typeface="Aptos"/>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84048"/>
            <a:ext cx="10881360" cy="164592"/>
          </a:xfrm>
          <a:prstGeom prst="rect">
            <a:avLst/>
          </a:prstGeom>
          <a:noFill/>
          <a:ln/>
        </p:spPr>
        <p:txBody>
          <a:bodyPr wrap="square" lIns="0" tIns="0" rIns="0" bIns="0" rtlCol="0" anchor="ctr">
            <a:normAutofit/>
          </a:bodyPr>
          <a:lstStyle/>
          <a:p>
            <a:pPr indent="0" marL="0">
              <a:buNone/>
            </a:pPr>
            <a:r>
              <a:rPr lang="en-US" sz="800" b="1" spc="160" kern="0" dirty="0">
                <a:solidFill>
                  <a:srgbClr val="16827E"/>
                </a:solidFill>
                <a:latin typeface="Aptos" pitchFamily="34" charset="0"/>
                <a:ea typeface="Aptos" pitchFamily="34" charset="-122"/>
                <a:cs typeface="Aptos" pitchFamily="34" charset="-120"/>
              </a:rPr>
              <a:t>AI ASSISTANT</a:t>
            </a:r>
            <a:endParaRPr lang="en-US" sz="800" dirty="0"/>
          </a:p>
        </p:txBody>
      </p:sp>
      <p:sp>
        <p:nvSpPr>
          <p:cNvPr id="3" name="Text 1"/>
          <p:cNvSpPr/>
          <p:nvPr/>
        </p:nvSpPr>
        <p:spPr>
          <a:xfrm>
            <a:off x="566928" y="694944"/>
            <a:ext cx="10972800" cy="438912"/>
          </a:xfrm>
          <a:prstGeom prst="rect">
            <a:avLst/>
          </a:prstGeom>
          <a:noFill/>
          <a:ln/>
        </p:spPr>
        <p:txBody>
          <a:bodyPr wrap="square" lIns="0" tIns="0" rIns="0" bIns="0" rtlCol="0" anchor="ctr">
            <a:normAutofit/>
          </a:bodyPr>
          <a:lstStyle/>
          <a:p>
            <a:pPr indent="0" marL="0">
              <a:buNone/>
            </a:pPr>
            <a:r>
              <a:rPr lang="en-US" sz="2500" b="1" spc="-60" kern="0" dirty="0">
                <a:solidFill>
                  <a:srgbClr val="142C43"/>
                </a:solidFill>
                <a:latin typeface="Aptos Display" pitchFamily="34" charset="0"/>
                <a:ea typeface="Aptos Display" pitchFamily="34" charset="-122"/>
                <a:cs typeface="Aptos Display" pitchFamily="34" charset="-120"/>
              </a:rPr>
              <a:t>AI explains evidence; a person controls action</a:t>
            </a:r>
            <a:endParaRPr lang="en-US" sz="2500" dirty="0"/>
          </a:p>
        </p:txBody>
      </p:sp>
      <p:sp>
        <p:nvSpPr>
          <p:cNvPr id="4" name="Text 2"/>
          <p:cNvSpPr/>
          <p:nvPr/>
        </p:nvSpPr>
        <p:spPr>
          <a:xfrm>
            <a:off x="585216" y="1216152"/>
            <a:ext cx="10972800" cy="256032"/>
          </a:xfrm>
          <a:prstGeom prst="rect">
            <a:avLst/>
          </a:prstGeom>
          <a:noFill/>
          <a:ln/>
        </p:spPr>
        <p:txBody>
          <a:bodyPr wrap="square" lIns="0" tIns="0" rIns="0" bIns="0" rtlCol="0" anchor="ctr">
            <a:normAutofit/>
          </a:bodyPr>
          <a:lstStyle/>
          <a:p>
            <a:pPr indent="0" marL="0">
              <a:buNone/>
            </a:pPr>
            <a:r>
              <a:rPr lang="en-US" sz="1000" dirty="0">
                <a:solidFill>
                  <a:srgbClr val="718692"/>
                </a:solidFill>
                <a:latin typeface="Aptos" pitchFamily="34" charset="0"/>
                <a:ea typeface="Aptos" pitchFamily="34" charset="-122"/>
                <a:cs typeface="Aptos" pitchFamily="34" charset="-120"/>
              </a:rPr>
              <a:t>Fixed rules decide what may be tested. The optional model cannot approve or run a restore.</a:t>
            </a:r>
            <a:endParaRPr lang="en-US" sz="1000" dirty="0"/>
          </a:p>
        </p:txBody>
      </p:sp>
      <p:sp>
        <p:nvSpPr>
          <p:cNvPr id="5" name="Shape 3"/>
          <p:cNvSpPr/>
          <p:nvPr/>
        </p:nvSpPr>
        <p:spPr>
          <a:xfrm>
            <a:off x="685800" y="1828800"/>
            <a:ext cx="3886200" cy="3246120"/>
          </a:xfrm>
          <a:prstGeom prst="roundRect">
            <a:avLst>
              <a:gd name="adj" fmla="val 2254"/>
            </a:avLst>
          </a:prstGeom>
          <a:solidFill>
            <a:srgbClr val="142C43"/>
          </a:solidFill>
          <a:ln w="10160">
            <a:solidFill>
              <a:srgbClr val="142C43"/>
            </a:solidFill>
            <a:prstDash val="solid"/>
          </a:ln>
        </p:spPr>
      </p:sp>
      <p:sp>
        <p:nvSpPr>
          <p:cNvPr id="6" name="Shape 4"/>
          <p:cNvSpPr/>
          <p:nvPr/>
        </p:nvSpPr>
        <p:spPr>
          <a:xfrm>
            <a:off x="914400" y="2048256"/>
            <a:ext cx="1645920" cy="246888"/>
          </a:xfrm>
          <a:prstGeom prst="roundRect">
            <a:avLst>
              <a:gd name="adj" fmla="val 29630"/>
            </a:avLst>
          </a:prstGeom>
          <a:solidFill>
            <a:srgbClr val="21495C"/>
          </a:solidFill>
          <a:ln w="10160">
            <a:solidFill>
              <a:srgbClr val="21495C"/>
            </a:solidFill>
            <a:prstDash val="solid"/>
          </a:ln>
        </p:spPr>
      </p:sp>
      <p:sp>
        <p:nvSpPr>
          <p:cNvPr id="7" name="Text 5"/>
          <p:cNvSpPr/>
          <p:nvPr/>
        </p:nvSpPr>
        <p:spPr>
          <a:xfrm>
            <a:off x="969264" y="2061972"/>
            <a:ext cx="1536192" cy="201168"/>
          </a:xfrm>
          <a:prstGeom prst="rect">
            <a:avLst/>
          </a:prstGeom>
          <a:noFill/>
          <a:ln/>
        </p:spPr>
        <p:txBody>
          <a:bodyPr wrap="square" lIns="0" tIns="0" rIns="0" bIns="0" rtlCol="0" anchor="ctr">
            <a:normAutofit/>
          </a:bodyPr>
          <a:lstStyle/>
          <a:p>
            <a:pPr algn="ctr" indent="0" marL="0">
              <a:buNone/>
            </a:pPr>
            <a:r>
              <a:rPr lang="en-US" sz="700" b="1" spc="50" kern="0" dirty="0">
                <a:solidFill>
                  <a:srgbClr val="A9E7DB"/>
                </a:solidFill>
                <a:latin typeface="Aptos" pitchFamily="34" charset="0"/>
                <a:ea typeface="Aptos" pitchFamily="34" charset="-122"/>
                <a:cs typeface="Aptos" pitchFamily="34" charset="-120"/>
              </a:rPr>
              <a:t>OPTIONAL LOCAL MODEL</a:t>
            </a:r>
            <a:endParaRPr lang="en-US" sz="700" dirty="0"/>
          </a:p>
        </p:txBody>
      </p:sp>
      <p:sp>
        <p:nvSpPr>
          <p:cNvPr id="8" name="Text 6"/>
          <p:cNvSpPr/>
          <p:nvPr/>
        </p:nvSpPr>
        <p:spPr>
          <a:xfrm>
            <a:off x="932688" y="2651760"/>
            <a:ext cx="2377440" cy="25603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Evidence in</a:t>
            </a:r>
            <a:endParaRPr lang="en-US" sz="1500" dirty="0"/>
          </a:p>
        </p:txBody>
      </p:sp>
      <p:sp>
        <p:nvSpPr>
          <p:cNvPr id="9" name="Text 7"/>
          <p:cNvSpPr/>
          <p:nvPr/>
        </p:nvSpPr>
        <p:spPr>
          <a:xfrm>
            <a:off x="960120" y="3081528"/>
            <a:ext cx="3063240" cy="841248"/>
          </a:xfrm>
          <a:prstGeom prst="rect">
            <a:avLst/>
          </a:prstGeom>
          <a:noFill/>
          <a:ln/>
        </p:spPr>
        <p:txBody>
          <a:bodyPr wrap="square" lIns="0" tIns="0" rIns="0" bIns="0" rtlCol="0" anchor="t">
            <a:normAutofit/>
          </a:bodyPr>
          <a:lstStyle/>
          <a:p>
            <a:pPr indent="0" marL="0">
              <a:buNone/>
            </a:pPr>
            <a:r>
              <a:rPr lang="en-US" sz="1100" dirty="0">
                <a:solidFill>
                  <a:srgbClr val="B6C8D1"/>
                </a:solidFill>
                <a:latin typeface="Aptos" pitchFamily="34" charset="0"/>
                <a:ea typeface="Aptos" pitchFamily="34" charset="-122"/>
                <a:cs typeface="Aptos" pitchFamily="34" charset="-120"/>
              </a:rPr>
              <a:t>Scenario findings</a:t>
            </a:r>
            <a:endParaRPr lang="en-US" sz="1100" dirty="0"/>
          </a:p>
          <a:p>
            <a:pPr indent="0" marL="0">
              <a:buNone/>
            </a:pPr>
            <a:r>
              <a:rPr lang="en-US" sz="1100" dirty="0">
                <a:solidFill>
                  <a:srgbClr val="B6C8D1"/>
                </a:solidFill>
                <a:latin typeface="Aptos" pitchFamily="34" charset="0"/>
                <a:ea typeface="Aptos" pitchFamily="34" charset="-122"/>
                <a:cs typeface="Aptos" pitchFamily="34" charset="-120"/>
              </a:rPr>
              <a:t>permitted evidence IDs</a:t>
            </a:r>
            <a:endParaRPr lang="en-US" sz="1100" dirty="0"/>
          </a:p>
          <a:p>
            <a:pPr indent="0" marL="0">
              <a:buNone/>
            </a:pPr>
            <a:r>
              <a:rPr lang="en-US" sz="1100" dirty="0">
                <a:solidFill>
                  <a:srgbClr val="B6C8D1"/>
                </a:solidFill>
                <a:latin typeface="Aptos" pitchFamily="34" charset="0"/>
                <a:ea typeface="Aptos" pitchFamily="34" charset="-122"/>
                <a:cs typeface="Aptos" pitchFamily="34" charset="-120"/>
              </a:rPr>
              <a:t>rule-only baseline plan</a:t>
            </a:r>
            <a:endParaRPr lang="en-US" sz="1100" dirty="0"/>
          </a:p>
        </p:txBody>
      </p:sp>
      <p:sp>
        <p:nvSpPr>
          <p:cNvPr id="10" name="Shape 8"/>
          <p:cNvSpPr/>
          <p:nvPr/>
        </p:nvSpPr>
        <p:spPr>
          <a:xfrm>
            <a:off x="960120" y="4133088"/>
            <a:ext cx="3136392" cy="0"/>
          </a:xfrm>
          <a:prstGeom prst="line">
            <a:avLst/>
          </a:prstGeom>
          <a:noFill/>
          <a:ln w="12700">
            <a:solidFill>
              <a:srgbClr val="35596A"/>
            </a:solidFill>
            <a:prstDash val="solid"/>
          </a:ln>
        </p:spPr>
      </p:sp>
      <p:sp>
        <p:nvSpPr>
          <p:cNvPr id="11" name="Text 9"/>
          <p:cNvSpPr/>
          <p:nvPr/>
        </p:nvSpPr>
        <p:spPr>
          <a:xfrm>
            <a:off x="960120" y="4370832"/>
            <a:ext cx="3108960" cy="228600"/>
          </a:xfrm>
          <a:prstGeom prst="rect">
            <a:avLst/>
          </a:prstGeom>
          <a:noFill/>
          <a:ln/>
        </p:spPr>
        <p:txBody>
          <a:bodyPr wrap="square" lIns="0" tIns="0" rIns="0" bIns="0" rtlCol="0" anchor="ctr">
            <a:normAutofit/>
          </a:bodyPr>
          <a:lstStyle/>
          <a:p>
            <a:pPr indent="0" marL="0">
              <a:buNone/>
            </a:pPr>
            <a:r>
              <a:rPr lang="en-US" sz="1100" b="1" dirty="0">
                <a:solidFill>
                  <a:srgbClr val="C5EEE4"/>
                </a:solidFill>
                <a:latin typeface="Aptos" pitchFamily="34" charset="0"/>
                <a:ea typeface="Aptos" pitchFamily="34" charset="-122"/>
                <a:cs typeface="Aptos" pitchFamily="34" charset="-120"/>
              </a:rPr>
              <a:t>Ollama 0.40.11 · Qwen3 8B</a:t>
            </a:r>
            <a:endParaRPr lang="en-US" sz="1100" dirty="0"/>
          </a:p>
        </p:txBody>
      </p:sp>
      <p:sp>
        <p:nvSpPr>
          <p:cNvPr id="12" name="Text 10"/>
          <p:cNvSpPr/>
          <p:nvPr/>
        </p:nvSpPr>
        <p:spPr>
          <a:xfrm>
            <a:off x="960120" y="4663440"/>
            <a:ext cx="3063240" cy="164592"/>
          </a:xfrm>
          <a:prstGeom prst="rect">
            <a:avLst/>
          </a:prstGeom>
          <a:noFill/>
          <a:ln/>
        </p:spPr>
        <p:txBody>
          <a:bodyPr wrap="square" lIns="0" tIns="0" rIns="0" bIns="0" rtlCol="0" anchor="ctr">
            <a:normAutofit/>
          </a:bodyPr>
          <a:lstStyle/>
          <a:p>
            <a:pPr indent="0" marL="0">
              <a:buNone/>
            </a:pPr>
            <a:r>
              <a:rPr lang="en-US" sz="800" dirty="0">
                <a:solidFill>
                  <a:srgbClr val="92AEB9"/>
                </a:solidFill>
                <a:latin typeface="Aptos" pitchFamily="34" charset="0"/>
                <a:ea typeface="Aptos" pitchFamily="34" charset="-122"/>
                <a:cs typeface="Aptos" pitchFamily="34" charset="-120"/>
              </a:rPr>
              <a:t>Local and optional · Apache-2.0 model</a:t>
            </a:r>
            <a:endParaRPr lang="en-US" sz="800" dirty="0"/>
          </a:p>
        </p:txBody>
      </p:sp>
      <p:sp>
        <p:nvSpPr>
          <p:cNvPr id="13" name="Shape 11"/>
          <p:cNvSpPr/>
          <p:nvPr/>
        </p:nvSpPr>
        <p:spPr>
          <a:xfrm>
            <a:off x="5138928" y="1929384"/>
            <a:ext cx="310896" cy="310896"/>
          </a:xfrm>
          <a:prstGeom prst="ellipse">
            <a:avLst/>
          </a:prstGeom>
          <a:solidFill>
            <a:srgbClr val="E4F2EC"/>
          </a:solidFill>
          <a:ln w="12700">
            <a:solidFill>
              <a:srgbClr val="E4F2EC"/>
            </a:solidFill>
            <a:prstDash val="solid"/>
          </a:ln>
        </p:spPr>
      </p:sp>
      <p:sp>
        <p:nvSpPr>
          <p:cNvPr id="14" name="Text 12"/>
          <p:cNvSpPr/>
          <p:nvPr/>
        </p:nvSpPr>
        <p:spPr>
          <a:xfrm>
            <a:off x="5138928" y="1993392"/>
            <a:ext cx="310896" cy="128016"/>
          </a:xfrm>
          <a:prstGeom prst="rect">
            <a:avLst/>
          </a:prstGeom>
          <a:noFill/>
          <a:ln/>
        </p:spPr>
        <p:txBody>
          <a:bodyPr wrap="square" lIns="0" tIns="0" rIns="0" bIns="0" rtlCol="0" anchor="ctr">
            <a:normAutofit/>
          </a:bodyPr>
          <a:lstStyle/>
          <a:p>
            <a:pPr algn="ctr" indent="0" marL="0">
              <a:buNone/>
            </a:pPr>
            <a:r>
              <a:rPr lang="en-US" sz="700" b="1" dirty="0">
                <a:solidFill>
                  <a:srgbClr val="16827E"/>
                </a:solidFill>
                <a:latin typeface="Aptos" pitchFamily="34" charset="0"/>
                <a:ea typeface="Aptos" pitchFamily="34" charset="-122"/>
                <a:cs typeface="Aptos" pitchFamily="34" charset="-120"/>
              </a:rPr>
              <a:t>01</a:t>
            </a:r>
            <a:endParaRPr lang="en-US" sz="700" dirty="0"/>
          </a:p>
        </p:txBody>
      </p:sp>
      <p:sp>
        <p:nvSpPr>
          <p:cNvPr id="15" name="Text 13"/>
          <p:cNvSpPr/>
          <p:nvPr/>
        </p:nvSpPr>
        <p:spPr>
          <a:xfrm>
            <a:off x="5605272" y="1911096"/>
            <a:ext cx="4206240" cy="201168"/>
          </a:xfrm>
          <a:prstGeom prst="rect">
            <a:avLst/>
          </a:prstGeom>
          <a:noFill/>
          <a:ln/>
        </p:spPr>
        <p:txBody>
          <a:bodyPr wrap="square" lIns="0" tIns="0" rIns="0" bIns="0" rtlCol="0" anchor="ctr">
            <a:normAutofit/>
          </a:bodyPr>
          <a:lstStyle/>
          <a:p>
            <a:pPr indent="0" marL="0">
              <a:buNone/>
            </a:pPr>
            <a:r>
              <a:rPr lang="en-US" sz="1100" b="1" dirty="0">
                <a:solidFill>
                  <a:srgbClr val="142C43"/>
                </a:solidFill>
                <a:latin typeface="Aptos" pitchFamily="34" charset="0"/>
                <a:ea typeface="Aptos" pitchFamily="34" charset="-122"/>
                <a:cs typeface="Aptos" pitchFamily="34" charset="-120"/>
              </a:rPr>
              <a:t>Use only supplied facts</a:t>
            </a:r>
            <a:endParaRPr lang="en-US" sz="1100" dirty="0"/>
          </a:p>
        </p:txBody>
      </p:sp>
      <p:sp>
        <p:nvSpPr>
          <p:cNvPr id="16" name="Text 14"/>
          <p:cNvSpPr/>
          <p:nvPr/>
        </p:nvSpPr>
        <p:spPr>
          <a:xfrm>
            <a:off x="5605272" y="2203704"/>
            <a:ext cx="4206240" cy="192024"/>
          </a:xfrm>
          <a:prstGeom prst="rect">
            <a:avLst/>
          </a:prstGeom>
          <a:noFill/>
          <a:ln/>
        </p:spPr>
        <p:txBody>
          <a:bodyPr wrap="square" lIns="0" tIns="0" rIns="0" bIns="0" rtlCol="0" anchor="ctr">
            <a:normAutofit/>
          </a:bodyPr>
          <a:lstStyle/>
          <a:p>
            <a:pPr indent="0" marL="0">
              <a:buNone/>
            </a:pPr>
            <a:r>
              <a:rPr lang="en-US" sz="900" dirty="0">
                <a:solidFill>
                  <a:srgbClr val="718692"/>
                </a:solidFill>
                <a:latin typeface="Aptos" pitchFamily="34" charset="0"/>
                <a:ea typeface="Aptos" pitchFamily="34" charset="-122"/>
                <a:cs typeface="Aptos" pitchFamily="34" charset="-120"/>
              </a:rPr>
              <a:t>Do not invent recovery details</a:t>
            </a:r>
            <a:endParaRPr lang="en-US" sz="900" dirty="0"/>
          </a:p>
        </p:txBody>
      </p:sp>
      <p:sp>
        <p:nvSpPr>
          <p:cNvPr id="17" name="Shape 15"/>
          <p:cNvSpPr/>
          <p:nvPr/>
        </p:nvSpPr>
        <p:spPr>
          <a:xfrm>
            <a:off x="5294376" y="2286000"/>
            <a:ext cx="0" cy="356616"/>
          </a:xfrm>
          <a:prstGeom prst="line">
            <a:avLst/>
          </a:prstGeom>
          <a:noFill/>
          <a:ln w="15240">
            <a:solidFill>
              <a:srgbClr val="A9C8C2"/>
            </a:solidFill>
            <a:prstDash val="solid"/>
          </a:ln>
        </p:spPr>
      </p:sp>
      <p:sp>
        <p:nvSpPr>
          <p:cNvPr id="18" name="Shape 16"/>
          <p:cNvSpPr/>
          <p:nvPr/>
        </p:nvSpPr>
        <p:spPr>
          <a:xfrm>
            <a:off x="5138928" y="2779776"/>
            <a:ext cx="310896" cy="310896"/>
          </a:xfrm>
          <a:prstGeom prst="ellipse">
            <a:avLst/>
          </a:prstGeom>
          <a:solidFill>
            <a:srgbClr val="E4F2EC"/>
          </a:solidFill>
          <a:ln w="12700">
            <a:solidFill>
              <a:srgbClr val="E4F2EC"/>
            </a:solidFill>
            <a:prstDash val="solid"/>
          </a:ln>
        </p:spPr>
      </p:sp>
      <p:sp>
        <p:nvSpPr>
          <p:cNvPr id="19" name="Text 17"/>
          <p:cNvSpPr/>
          <p:nvPr/>
        </p:nvSpPr>
        <p:spPr>
          <a:xfrm>
            <a:off x="5138928" y="2843784"/>
            <a:ext cx="310896" cy="128016"/>
          </a:xfrm>
          <a:prstGeom prst="rect">
            <a:avLst/>
          </a:prstGeom>
          <a:noFill/>
          <a:ln/>
        </p:spPr>
        <p:txBody>
          <a:bodyPr wrap="square" lIns="0" tIns="0" rIns="0" bIns="0" rtlCol="0" anchor="ctr">
            <a:normAutofit/>
          </a:bodyPr>
          <a:lstStyle/>
          <a:p>
            <a:pPr algn="ctr" indent="0" marL="0">
              <a:buNone/>
            </a:pPr>
            <a:r>
              <a:rPr lang="en-US" sz="700" b="1" dirty="0">
                <a:solidFill>
                  <a:srgbClr val="16827E"/>
                </a:solidFill>
                <a:latin typeface="Aptos" pitchFamily="34" charset="0"/>
                <a:ea typeface="Aptos" pitchFamily="34" charset="-122"/>
                <a:cs typeface="Aptos" pitchFamily="34" charset="-120"/>
              </a:rPr>
              <a:t>02</a:t>
            </a:r>
            <a:endParaRPr lang="en-US" sz="700" dirty="0"/>
          </a:p>
        </p:txBody>
      </p:sp>
      <p:sp>
        <p:nvSpPr>
          <p:cNvPr id="20" name="Text 18"/>
          <p:cNvSpPr/>
          <p:nvPr/>
        </p:nvSpPr>
        <p:spPr>
          <a:xfrm>
            <a:off x="5605272" y="2761488"/>
            <a:ext cx="4206240" cy="201168"/>
          </a:xfrm>
          <a:prstGeom prst="rect">
            <a:avLst/>
          </a:prstGeom>
          <a:noFill/>
          <a:ln/>
        </p:spPr>
        <p:txBody>
          <a:bodyPr wrap="square" lIns="0" tIns="0" rIns="0" bIns="0" rtlCol="0" anchor="ctr">
            <a:normAutofit/>
          </a:bodyPr>
          <a:lstStyle/>
          <a:p>
            <a:pPr indent="0" marL="0">
              <a:buNone/>
            </a:pPr>
            <a:r>
              <a:rPr lang="en-US" sz="1100" b="1" dirty="0">
                <a:solidFill>
                  <a:srgbClr val="142C43"/>
                </a:solidFill>
                <a:latin typeface="Aptos" pitchFamily="34" charset="0"/>
                <a:ea typeface="Aptos" pitchFamily="34" charset="-122"/>
                <a:cs typeface="Aptos" pitchFamily="34" charset="-120"/>
              </a:rPr>
              <a:t>Cite evidence references</a:t>
            </a:r>
            <a:endParaRPr lang="en-US" sz="1100" dirty="0"/>
          </a:p>
        </p:txBody>
      </p:sp>
      <p:sp>
        <p:nvSpPr>
          <p:cNvPr id="21" name="Text 19"/>
          <p:cNvSpPr/>
          <p:nvPr/>
        </p:nvSpPr>
        <p:spPr>
          <a:xfrm>
            <a:off x="5605272" y="3054096"/>
            <a:ext cx="4206240" cy="192024"/>
          </a:xfrm>
          <a:prstGeom prst="rect">
            <a:avLst/>
          </a:prstGeom>
          <a:noFill/>
          <a:ln/>
        </p:spPr>
        <p:txBody>
          <a:bodyPr wrap="square" lIns="0" tIns="0" rIns="0" bIns="0" rtlCol="0" anchor="ctr">
            <a:normAutofit/>
          </a:bodyPr>
          <a:lstStyle/>
          <a:p>
            <a:pPr indent="0" marL="0">
              <a:buNone/>
            </a:pPr>
            <a:r>
              <a:rPr lang="en-US" sz="900" dirty="0">
                <a:solidFill>
                  <a:srgbClr val="718692"/>
                </a:solidFill>
                <a:latin typeface="Aptos" pitchFamily="34" charset="0"/>
                <a:ea typeface="Aptos" pitchFamily="34" charset="-122"/>
                <a:cs typeface="Aptos" pitchFamily="34" charset="-120"/>
              </a:rPr>
              <a:t>Reject unknown references</a:t>
            </a:r>
            <a:endParaRPr lang="en-US" sz="900" dirty="0"/>
          </a:p>
        </p:txBody>
      </p:sp>
      <p:sp>
        <p:nvSpPr>
          <p:cNvPr id="22" name="Shape 20"/>
          <p:cNvSpPr/>
          <p:nvPr/>
        </p:nvSpPr>
        <p:spPr>
          <a:xfrm>
            <a:off x="5294376" y="3136392"/>
            <a:ext cx="0" cy="356616"/>
          </a:xfrm>
          <a:prstGeom prst="line">
            <a:avLst/>
          </a:prstGeom>
          <a:noFill/>
          <a:ln w="15240">
            <a:solidFill>
              <a:srgbClr val="A9C8C2"/>
            </a:solidFill>
            <a:prstDash val="solid"/>
          </a:ln>
        </p:spPr>
      </p:sp>
      <p:sp>
        <p:nvSpPr>
          <p:cNvPr id="23" name="Shape 21"/>
          <p:cNvSpPr/>
          <p:nvPr/>
        </p:nvSpPr>
        <p:spPr>
          <a:xfrm>
            <a:off x="5138928" y="3630168"/>
            <a:ext cx="310896" cy="310896"/>
          </a:xfrm>
          <a:prstGeom prst="ellipse">
            <a:avLst/>
          </a:prstGeom>
          <a:solidFill>
            <a:srgbClr val="E4F2EC"/>
          </a:solidFill>
          <a:ln w="12700">
            <a:solidFill>
              <a:srgbClr val="E4F2EC"/>
            </a:solidFill>
            <a:prstDash val="solid"/>
          </a:ln>
        </p:spPr>
      </p:sp>
      <p:sp>
        <p:nvSpPr>
          <p:cNvPr id="24" name="Text 22"/>
          <p:cNvSpPr/>
          <p:nvPr/>
        </p:nvSpPr>
        <p:spPr>
          <a:xfrm>
            <a:off x="5138928" y="3694176"/>
            <a:ext cx="310896" cy="128016"/>
          </a:xfrm>
          <a:prstGeom prst="rect">
            <a:avLst/>
          </a:prstGeom>
          <a:noFill/>
          <a:ln/>
        </p:spPr>
        <p:txBody>
          <a:bodyPr wrap="square" lIns="0" tIns="0" rIns="0" bIns="0" rtlCol="0" anchor="ctr">
            <a:normAutofit/>
          </a:bodyPr>
          <a:lstStyle/>
          <a:p>
            <a:pPr algn="ctr" indent="0" marL="0">
              <a:buNone/>
            </a:pPr>
            <a:r>
              <a:rPr lang="en-US" sz="700" b="1" dirty="0">
                <a:solidFill>
                  <a:srgbClr val="16827E"/>
                </a:solidFill>
                <a:latin typeface="Aptos" pitchFamily="34" charset="0"/>
                <a:ea typeface="Aptos" pitchFamily="34" charset="-122"/>
                <a:cs typeface="Aptos" pitchFamily="34" charset="-120"/>
              </a:rPr>
              <a:t>03</a:t>
            </a:r>
            <a:endParaRPr lang="en-US" sz="700" dirty="0"/>
          </a:p>
        </p:txBody>
      </p:sp>
      <p:sp>
        <p:nvSpPr>
          <p:cNvPr id="25" name="Text 23"/>
          <p:cNvSpPr/>
          <p:nvPr/>
        </p:nvSpPr>
        <p:spPr>
          <a:xfrm>
            <a:off x="5605272" y="3611880"/>
            <a:ext cx="4206240" cy="201168"/>
          </a:xfrm>
          <a:prstGeom prst="rect">
            <a:avLst/>
          </a:prstGeom>
          <a:noFill/>
          <a:ln/>
        </p:spPr>
        <p:txBody>
          <a:bodyPr wrap="square" lIns="0" tIns="0" rIns="0" bIns="0" rtlCol="0" anchor="ctr">
            <a:normAutofit/>
          </a:bodyPr>
          <a:lstStyle/>
          <a:p>
            <a:pPr indent="0" marL="0">
              <a:buNone/>
            </a:pPr>
            <a:r>
              <a:rPr lang="en-US" sz="1100" b="1" dirty="0">
                <a:solidFill>
                  <a:srgbClr val="142C43"/>
                </a:solidFill>
                <a:latin typeface="Aptos" pitchFamily="34" charset="0"/>
                <a:ea typeface="Aptos" pitchFamily="34" charset="-122"/>
                <a:cs typeface="Aptos" pitchFamily="34" charset="-120"/>
              </a:rPr>
              <a:t>Say what is unknown</a:t>
            </a:r>
            <a:endParaRPr lang="en-US" sz="1100" dirty="0"/>
          </a:p>
        </p:txBody>
      </p:sp>
      <p:sp>
        <p:nvSpPr>
          <p:cNvPr id="26" name="Text 24"/>
          <p:cNvSpPr/>
          <p:nvPr/>
        </p:nvSpPr>
        <p:spPr>
          <a:xfrm>
            <a:off x="5605272" y="3904488"/>
            <a:ext cx="4206240" cy="192024"/>
          </a:xfrm>
          <a:prstGeom prst="rect">
            <a:avLst/>
          </a:prstGeom>
          <a:noFill/>
          <a:ln/>
        </p:spPr>
        <p:txBody>
          <a:bodyPr wrap="square" lIns="0" tIns="0" rIns="0" bIns="0" rtlCol="0" anchor="ctr">
            <a:normAutofit/>
          </a:bodyPr>
          <a:lstStyle/>
          <a:p>
            <a:pPr indent="0" marL="0">
              <a:buNone/>
            </a:pPr>
            <a:r>
              <a:rPr lang="en-US" sz="900" dirty="0">
                <a:solidFill>
                  <a:srgbClr val="718692"/>
                </a:solidFill>
                <a:latin typeface="Aptos" pitchFamily="34" charset="0"/>
                <a:ea typeface="Aptos" pitchFamily="34" charset="-122"/>
                <a:cs typeface="Aptos" pitchFamily="34" charset="-120"/>
              </a:rPr>
              <a:t>A matching fingerprint is not a malware scan</a:t>
            </a:r>
            <a:endParaRPr lang="en-US" sz="900" dirty="0"/>
          </a:p>
        </p:txBody>
      </p:sp>
      <p:sp>
        <p:nvSpPr>
          <p:cNvPr id="27" name="Shape 25"/>
          <p:cNvSpPr/>
          <p:nvPr/>
        </p:nvSpPr>
        <p:spPr>
          <a:xfrm>
            <a:off x="5294376" y="3986784"/>
            <a:ext cx="0" cy="356616"/>
          </a:xfrm>
          <a:prstGeom prst="line">
            <a:avLst/>
          </a:prstGeom>
          <a:noFill/>
          <a:ln w="15240">
            <a:solidFill>
              <a:srgbClr val="A9C8C2"/>
            </a:solidFill>
            <a:prstDash val="solid"/>
          </a:ln>
        </p:spPr>
      </p:sp>
      <p:sp>
        <p:nvSpPr>
          <p:cNvPr id="28" name="Shape 26"/>
          <p:cNvSpPr/>
          <p:nvPr/>
        </p:nvSpPr>
        <p:spPr>
          <a:xfrm>
            <a:off x="5138928" y="4480560"/>
            <a:ext cx="310896" cy="310896"/>
          </a:xfrm>
          <a:prstGeom prst="ellipse">
            <a:avLst/>
          </a:prstGeom>
          <a:solidFill>
            <a:srgbClr val="FBF3E6"/>
          </a:solidFill>
          <a:ln w="12700">
            <a:solidFill>
              <a:srgbClr val="FBF3E6"/>
            </a:solidFill>
            <a:prstDash val="solid"/>
          </a:ln>
        </p:spPr>
      </p:sp>
      <p:sp>
        <p:nvSpPr>
          <p:cNvPr id="29" name="Text 27"/>
          <p:cNvSpPr/>
          <p:nvPr/>
        </p:nvSpPr>
        <p:spPr>
          <a:xfrm>
            <a:off x="5138928" y="4544568"/>
            <a:ext cx="310896" cy="128016"/>
          </a:xfrm>
          <a:prstGeom prst="rect">
            <a:avLst/>
          </a:prstGeom>
          <a:noFill/>
          <a:ln/>
        </p:spPr>
        <p:txBody>
          <a:bodyPr wrap="square" lIns="0" tIns="0" rIns="0" bIns="0" rtlCol="0" anchor="ctr">
            <a:normAutofit/>
          </a:bodyPr>
          <a:lstStyle/>
          <a:p>
            <a:pPr algn="ctr" indent="0" marL="0">
              <a:buNone/>
            </a:pPr>
            <a:r>
              <a:rPr lang="en-US" sz="700" b="1" dirty="0">
                <a:solidFill>
                  <a:srgbClr val="B7781E"/>
                </a:solidFill>
                <a:latin typeface="Aptos" pitchFamily="34" charset="0"/>
                <a:ea typeface="Aptos" pitchFamily="34" charset="-122"/>
                <a:cs typeface="Aptos" pitchFamily="34" charset="-120"/>
              </a:rPr>
              <a:t>04</a:t>
            </a:r>
            <a:endParaRPr lang="en-US" sz="700" dirty="0"/>
          </a:p>
        </p:txBody>
      </p:sp>
      <p:sp>
        <p:nvSpPr>
          <p:cNvPr id="30" name="Text 28"/>
          <p:cNvSpPr/>
          <p:nvPr/>
        </p:nvSpPr>
        <p:spPr>
          <a:xfrm>
            <a:off x="5605272" y="4462272"/>
            <a:ext cx="4206240" cy="201168"/>
          </a:xfrm>
          <a:prstGeom prst="rect">
            <a:avLst/>
          </a:prstGeom>
          <a:noFill/>
          <a:ln/>
        </p:spPr>
        <p:txBody>
          <a:bodyPr wrap="square" lIns="0" tIns="0" rIns="0" bIns="0" rtlCol="0" anchor="ctr">
            <a:normAutofit/>
          </a:bodyPr>
          <a:lstStyle/>
          <a:p>
            <a:pPr indent="0" marL="0">
              <a:buNone/>
            </a:pPr>
            <a:r>
              <a:rPr lang="en-US" sz="1100" b="1" dirty="0">
                <a:solidFill>
                  <a:srgbClr val="142C43"/>
                </a:solidFill>
                <a:latin typeface="Aptos" pitchFamily="34" charset="0"/>
                <a:ea typeface="Aptos" pitchFamily="34" charset="-122"/>
                <a:cs typeface="Aptos" pitchFamily="34" charset="-120"/>
              </a:rPr>
              <a:t>Wait for a person</a:t>
            </a:r>
            <a:endParaRPr lang="en-US" sz="1100" dirty="0"/>
          </a:p>
        </p:txBody>
      </p:sp>
      <p:sp>
        <p:nvSpPr>
          <p:cNvPr id="31" name="Text 29"/>
          <p:cNvSpPr/>
          <p:nvPr/>
        </p:nvSpPr>
        <p:spPr>
          <a:xfrm>
            <a:off x="5605272" y="4754880"/>
            <a:ext cx="4206240" cy="192024"/>
          </a:xfrm>
          <a:prstGeom prst="rect">
            <a:avLst/>
          </a:prstGeom>
          <a:noFill/>
          <a:ln/>
        </p:spPr>
        <p:txBody>
          <a:bodyPr wrap="square" lIns="0" tIns="0" rIns="0" bIns="0" rtlCol="0" anchor="ctr">
            <a:normAutofit/>
          </a:bodyPr>
          <a:lstStyle/>
          <a:p>
            <a:pPr indent="0" marL="0">
              <a:buNone/>
            </a:pPr>
            <a:r>
              <a:rPr lang="en-US" sz="900" dirty="0">
                <a:solidFill>
                  <a:srgbClr val="718692"/>
                </a:solidFill>
                <a:latin typeface="Aptos" pitchFamily="34" charset="0"/>
                <a:ea typeface="Aptos" pitchFamily="34" charset="-122"/>
                <a:cs typeface="Aptos" pitchFamily="34" charset="-120"/>
              </a:rPr>
              <a:t>The person approves or rejects a test copy</a:t>
            </a:r>
            <a:endParaRPr lang="en-US" sz="900" dirty="0"/>
          </a:p>
        </p:txBody>
      </p:sp>
      <p:sp>
        <p:nvSpPr>
          <p:cNvPr id="32" name="Shape 30"/>
          <p:cNvSpPr/>
          <p:nvPr/>
        </p:nvSpPr>
        <p:spPr>
          <a:xfrm>
            <a:off x="5596128" y="5404104"/>
            <a:ext cx="3246120" cy="246888"/>
          </a:xfrm>
          <a:prstGeom prst="roundRect">
            <a:avLst>
              <a:gd name="adj" fmla="val 29630"/>
            </a:avLst>
          </a:prstGeom>
          <a:solidFill>
            <a:srgbClr val="E9F1F5"/>
          </a:solidFill>
          <a:ln w="10160">
            <a:solidFill>
              <a:srgbClr val="E9F1F5"/>
            </a:solidFill>
            <a:prstDash val="solid"/>
          </a:ln>
        </p:spPr>
      </p:sp>
      <p:sp>
        <p:nvSpPr>
          <p:cNvPr id="33" name="Text 31"/>
          <p:cNvSpPr/>
          <p:nvPr/>
        </p:nvSpPr>
        <p:spPr>
          <a:xfrm>
            <a:off x="5650992" y="5417820"/>
            <a:ext cx="3136392" cy="201168"/>
          </a:xfrm>
          <a:prstGeom prst="rect">
            <a:avLst/>
          </a:prstGeom>
          <a:noFill/>
          <a:ln/>
        </p:spPr>
        <p:txBody>
          <a:bodyPr wrap="square" lIns="0" tIns="0" rIns="0" bIns="0" rtlCol="0" anchor="ctr">
            <a:normAutofit/>
          </a:bodyPr>
          <a:lstStyle/>
          <a:p>
            <a:pPr algn="ctr" indent="0" marL="0">
              <a:buNone/>
            </a:pPr>
            <a:r>
              <a:rPr lang="en-US" sz="700" b="1" spc="50" kern="0" dirty="0">
                <a:solidFill>
                  <a:srgbClr val="557E9C"/>
                </a:solidFill>
                <a:latin typeface="Aptos" pitchFamily="34" charset="0"/>
                <a:ea typeface="Aptos" pitchFamily="34" charset="-122"/>
                <a:cs typeface="Aptos" pitchFamily="34" charset="-120"/>
              </a:rPr>
              <a:t>DETERMINISTIC FALLBACK WHEN MODEL IS OFFLINE</a:t>
            </a:r>
            <a:endParaRPr lang="en-US" sz="700" dirty="0"/>
          </a:p>
        </p:txBody>
      </p:sp>
      <p:sp>
        <p:nvSpPr>
          <p:cNvPr id="34" name="Text 32"/>
          <p:cNvSpPr/>
          <p:nvPr/>
        </p:nvSpPr>
        <p:spPr>
          <a:xfrm>
            <a:off x="5596128" y="5833872"/>
            <a:ext cx="5212080" cy="182880"/>
          </a:xfrm>
          <a:prstGeom prst="rect">
            <a:avLst/>
          </a:prstGeom>
          <a:noFill/>
          <a:ln/>
        </p:spPr>
        <p:txBody>
          <a:bodyPr wrap="square" lIns="0" tIns="0" rIns="0" bIns="0" rtlCol="0" anchor="ctr">
            <a:normAutofit/>
          </a:bodyPr>
          <a:lstStyle/>
          <a:p>
            <a:pPr indent="0" marL="0">
              <a:buNone/>
            </a:pPr>
            <a:r>
              <a:rPr lang="en-US" sz="900" dirty="0">
                <a:solidFill>
                  <a:srgbClr val="718692"/>
                </a:solidFill>
                <a:latin typeface="Aptos" pitchFamily="34" charset="0"/>
                <a:ea typeface="Aptos" pitchFamily="34" charset="-122"/>
                <a:cs typeface="Aptos" pitchFamily="34" charset="-120"/>
              </a:rPr>
              <a:t>No model execution occurred in the measured evaluation.</a:t>
            </a:r>
            <a:endParaRPr lang="en-US" sz="900" dirty="0"/>
          </a:p>
        </p:txBody>
      </p:sp>
      <p:sp>
        <p:nvSpPr>
          <p:cNvPr id="25" name="Slide Number Placeholder 0"/>
          <p:cNvSpPr>
            <a:spLocks noGrp="1"/>
          </p:cNvSpPr>
          <p:nvPr>
            <p:ph type="sldNum" sz="quarter" idx="4294967295"/>
          </p:nvPr>
        </p:nvSpPr>
        <p:spPr>
          <a:xfrm>
            <a:off x="11740896" y="6547104"/>
            <a:ext cx="228600" cy="146304"/>
          </a:xfrm>
          <a:prstGeom prst="rect">
            <a:avLst/>
          </a:prstGeom>
          <a:extLst>
            <a:ext uri="{C572A759-6A51-4108-AA02-DFA0A04FC94B}">
              <ma14:wrappingTextBoxFlag xmlns:ma14="http://schemas.microsoft.com/office/mac/drawingml/2011/main" val="0"/>
            </a:ext>
          </a:extLst>
        </p:spPr>
        <p:txBody>
          <a:bodyPr/>
          <a:lstStyle>
            <a:lvl1pPr>
              <a:defRPr sz="700">
                <a:solidFill>
                  <a:srgbClr val="80929D"/>
                </a:solidFill>
                <a:latin typeface="Aptos"/>
                <a:ea typeface="Aptos"/>
                <a:cs typeface="Aptos"/>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84048"/>
            <a:ext cx="10881360" cy="164592"/>
          </a:xfrm>
          <a:prstGeom prst="rect">
            <a:avLst/>
          </a:prstGeom>
          <a:noFill/>
          <a:ln/>
        </p:spPr>
        <p:txBody>
          <a:bodyPr wrap="square" lIns="0" tIns="0" rIns="0" bIns="0" rtlCol="0" anchor="ctr">
            <a:normAutofit/>
          </a:bodyPr>
          <a:lstStyle/>
          <a:p>
            <a:pPr indent="0" marL="0">
              <a:buNone/>
            </a:pPr>
            <a:r>
              <a:rPr lang="en-US" sz="800" b="1" spc="160" kern="0" dirty="0">
                <a:solidFill>
                  <a:srgbClr val="16827E"/>
                </a:solidFill>
                <a:latin typeface="Aptos" pitchFamily="34" charset="0"/>
                <a:ea typeface="Aptos" pitchFamily="34" charset="-122"/>
                <a:cs typeface="Aptos" pitchFamily="34" charset="-120"/>
              </a:rPr>
              <a:t>ISOLATED TEST</a:t>
            </a:r>
            <a:endParaRPr lang="en-US" sz="800" dirty="0"/>
          </a:p>
        </p:txBody>
      </p:sp>
      <p:sp>
        <p:nvSpPr>
          <p:cNvPr id="3" name="Text 1"/>
          <p:cNvSpPr/>
          <p:nvPr/>
        </p:nvSpPr>
        <p:spPr>
          <a:xfrm>
            <a:off x="566928" y="694944"/>
            <a:ext cx="10972800" cy="438912"/>
          </a:xfrm>
          <a:prstGeom prst="rect">
            <a:avLst/>
          </a:prstGeom>
          <a:noFill/>
          <a:ln/>
        </p:spPr>
        <p:txBody>
          <a:bodyPr wrap="square" lIns="0" tIns="0" rIns="0" bIns="0" rtlCol="0" anchor="ctr">
            <a:normAutofit/>
          </a:bodyPr>
          <a:lstStyle/>
          <a:p>
            <a:pPr indent="0" marL="0">
              <a:buNone/>
            </a:pPr>
            <a:r>
              <a:rPr lang="en-US" sz="2500" b="1" spc="-60" kern="0" dirty="0">
                <a:solidFill>
                  <a:srgbClr val="142C43"/>
                </a:solidFill>
                <a:latin typeface="Aptos Display" pitchFamily="34" charset="0"/>
                <a:ea typeface="Aptos Display" pitchFamily="34" charset="-122"/>
                <a:cs typeface="Aptos Display" pitchFamily="34" charset="-120"/>
              </a:rPr>
              <a:t>A real sample file copy is measured and checked</a:t>
            </a:r>
            <a:endParaRPr lang="en-US" sz="2500" dirty="0"/>
          </a:p>
        </p:txBody>
      </p:sp>
      <p:sp>
        <p:nvSpPr>
          <p:cNvPr id="4" name="Text 2"/>
          <p:cNvSpPr/>
          <p:nvPr/>
        </p:nvSpPr>
        <p:spPr>
          <a:xfrm>
            <a:off x="585216" y="1216152"/>
            <a:ext cx="10972800" cy="256032"/>
          </a:xfrm>
          <a:prstGeom prst="rect">
            <a:avLst/>
          </a:prstGeom>
          <a:noFill/>
          <a:ln/>
        </p:spPr>
        <p:txBody>
          <a:bodyPr wrap="square" lIns="0" tIns="0" rIns="0" bIns="0" rtlCol="0" anchor="ctr">
            <a:normAutofit/>
          </a:bodyPr>
          <a:lstStyle/>
          <a:p>
            <a:pPr indent="0" marL="0">
              <a:buNone/>
            </a:pPr>
            <a:r>
              <a:rPr lang="en-US" sz="1000" dirty="0">
                <a:solidFill>
                  <a:srgbClr val="718692"/>
                </a:solidFill>
                <a:latin typeface="Aptos" pitchFamily="34" charset="0"/>
                <a:ea typeface="Aptos" pitchFamily="34" charset="-122"/>
                <a:cs typeface="Aptos" pitchFamily="34" charset="-120"/>
              </a:rPr>
              <a:t>A person approved the copy; the source stayed unchanged; the test folder is separate.</a:t>
            </a:r>
            <a:endParaRPr lang="en-US" sz="1000" dirty="0"/>
          </a:p>
        </p:txBody>
      </p:sp>
      <p:sp>
        <p:nvSpPr>
          <p:cNvPr id="5" name="Shape 3"/>
          <p:cNvSpPr/>
          <p:nvPr/>
        </p:nvSpPr>
        <p:spPr>
          <a:xfrm>
            <a:off x="685800" y="1801368"/>
            <a:ext cx="3840480" cy="3794760"/>
          </a:xfrm>
          <a:prstGeom prst="roundRect">
            <a:avLst>
              <a:gd name="adj" fmla="val 1928"/>
            </a:avLst>
          </a:prstGeom>
          <a:solidFill>
            <a:srgbClr val="142C43"/>
          </a:solidFill>
          <a:ln w="10160">
            <a:solidFill>
              <a:srgbClr val="142C43"/>
            </a:solidFill>
            <a:prstDash val="solid"/>
          </a:ln>
        </p:spPr>
      </p:sp>
      <p:sp>
        <p:nvSpPr>
          <p:cNvPr id="6" name="Text 4"/>
          <p:cNvSpPr/>
          <p:nvPr/>
        </p:nvSpPr>
        <p:spPr>
          <a:xfrm>
            <a:off x="941832" y="2066544"/>
            <a:ext cx="2103120" cy="164592"/>
          </a:xfrm>
          <a:prstGeom prst="rect">
            <a:avLst/>
          </a:prstGeom>
          <a:noFill/>
          <a:ln/>
        </p:spPr>
        <p:txBody>
          <a:bodyPr wrap="square" lIns="0" tIns="0" rIns="0" bIns="0" rtlCol="0" anchor="ctr">
            <a:normAutofit/>
          </a:bodyPr>
          <a:lstStyle/>
          <a:p>
            <a:pPr indent="0" marL="0">
              <a:buNone/>
            </a:pPr>
            <a:r>
              <a:rPr lang="en-US" sz="800" b="1" spc="100" kern="0" dirty="0">
                <a:solidFill>
                  <a:srgbClr val="9FD7CC"/>
                </a:solidFill>
                <a:latin typeface="Aptos" pitchFamily="34" charset="0"/>
                <a:ea typeface="Aptos" pitchFamily="34" charset="-122"/>
                <a:cs typeface="Aptos" pitchFamily="34" charset="-120"/>
              </a:rPr>
              <a:t>RESTORE OBSERVATION</a:t>
            </a:r>
            <a:endParaRPr lang="en-US" sz="800" dirty="0"/>
          </a:p>
        </p:txBody>
      </p:sp>
      <p:sp>
        <p:nvSpPr>
          <p:cNvPr id="7" name="Text 5"/>
          <p:cNvSpPr/>
          <p:nvPr/>
        </p:nvSpPr>
        <p:spPr>
          <a:xfrm>
            <a:off x="932688" y="2560320"/>
            <a:ext cx="3200400" cy="594360"/>
          </a:xfrm>
          <a:prstGeom prst="rect">
            <a:avLst/>
          </a:prstGeom>
          <a:noFill/>
          <a:ln/>
        </p:spPr>
        <p:txBody>
          <a:bodyPr wrap="square" lIns="0" tIns="0" rIns="0" bIns="0" rtlCol="0" anchor="ctr">
            <a:normAutofit/>
          </a:bodyPr>
          <a:lstStyle/>
          <a:p>
            <a:pPr indent="0" marL="0">
              <a:buNone/>
            </a:pPr>
            <a:r>
              <a:rPr lang="en-US" sz="3100" b="1" spc="-70" kern="0" dirty="0">
                <a:solidFill>
                  <a:srgbClr val="FFFFFF"/>
                </a:solidFill>
                <a:latin typeface="Aptos Display" pitchFamily="34" charset="0"/>
                <a:ea typeface="Aptos Display" pitchFamily="34" charset="-122"/>
                <a:cs typeface="Aptos Display" pitchFamily="34" charset="-120"/>
              </a:rPr>
              <a:t>0.581 ms</a:t>
            </a:r>
            <a:endParaRPr lang="en-US" sz="3100" dirty="0"/>
          </a:p>
        </p:txBody>
      </p:sp>
      <p:sp>
        <p:nvSpPr>
          <p:cNvPr id="8" name="Text 6"/>
          <p:cNvSpPr/>
          <p:nvPr/>
        </p:nvSpPr>
        <p:spPr>
          <a:xfrm>
            <a:off x="969264" y="3209544"/>
            <a:ext cx="2971800" cy="201168"/>
          </a:xfrm>
          <a:prstGeom prst="rect">
            <a:avLst/>
          </a:prstGeom>
          <a:noFill/>
          <a:ln/>
        </p:spPr>
        <p:txBody>
          <a:bodyPr wrap="square" lIns="0" tIns="0" rIns="0" bIns="0" rtlCol="0" anchor="ctr">
            <a:normAutofit/>
          </a:bodyPr>
          <a:lstStyle/>
          <a:p>
            <a:pPr indent="0" marL="0">
              <a:buNone/>
            </a:pPr>
            <a:r>
              <a:rPr lang="en-US" sz="900" dirty="0">
                <a:solidFill>
                  <a:srgbClr val="A7BDC6"/>
                </a:solidFill>
                <a:latin typeface="Aptos" pitchFamily="34" charset="0"/>
                <a:ea typeface="Aptos" pitchFamily="34" charset="-122"/>
                <a:cs typeface="Aptos" pitchFamily="34" charset="-120"/>
              </a:rPr>
              <a:t>mean over 3 actual local copy runs</a:t>
            </a:r>
            <a:endParaRPr lang="en-US" sz="900" dirty="0"/>
          </a:p>
        </p:txBody>
      </p:sp>
      <p:sp>
        <p:nvSpPr>
          <p:cNvPr id="9" name="Shape 7"/>
          <p:cNvSpPr/>
          <p:nvPr/>
        </p:nvSpPr>
        <p:spPr>
          <a:xfrm>
            <a:off x="960120" y="3675888"/>
            <a:ext cx="3200400" cy="0"/>
          </a:xfrm>
          <a:prstGeom prst="line">
            <a:avLst/>
          </a:prstGeom>
          <a:noFill/>
          <a:ln w="12700">
            <a:solidFill>
              <a:srgbClr val="3B5A6E"/>
            </a:solidFill>
            <a:prstDash val="solid"/>
          </a:ln>
        </p:spPr>
      </p:sp>
      <p:sp>
        <p:nvSpPr>
          <p:cNvPr id="10" name="Text 8"/>
          <p:cNvSpPr/>
          <p:nvPr/>
        </p:nvSpPr>
        <p:spPr>
          <a:xfrm>
            <a:off x="960120" y="3959352"/>
            <a:ext cx="685800" cy="173736"/>
          </a:xfrm>
          <a:prstGeom prst="rect">
            <a:avLst/>
          </a:prstGeom>
          <a:noFill/>
          <a:ln/>
        </p:spPr>
        <p:txBody>
          <a:bodyPr wrap="square" lIns="0" tIns="0" rIns="0" bIns="0" rtlCol="0" anchor="ctr">
            <a:normAutofit/>
          </a:bodyPr>
          <a:lstStyle/>
          <a:p>
            <a:pPr indent="0" marL="0">
              <a:buNone/>
            </a:pPr>
            <a:r>
              <a:rPr lang="en-US" sz="800" b="1" dirty="0">
                <a:solidFill>
                  <a:srgbClr val="9FD7CC"/>
                </a:solidFill>
                <a:latin typeface="Aptos" pitchFamily="34" charset="0"/>
                <a:ea typeface="Aptos" pitchFamily="34" charset="-122"/>
                <a:cs typeface="Aptos" pitchFamily="34" charset="-120"/>
              </a:rPr>
              <a:t>Scope</a:t>
            </a:r>
            <a:endParaRPr lang="en-US" sz="800" dirty="0"/>
          </a:p>
        </p:txBody>
      </p:sp>
      <p:sp>
        <p:nvSpPr>
          <p:cNvPr id="11" name="Text 9"/>
          <p:cNvSpPr/>
          <p:nvPr/>
        </p:nvSpPr>
        <p:spPr>
          <a:xfrm>
            <a:off x="960120" y="4279392"/>
            <a:ext cx="3017520" cy="612648"/>
          </a:xfrm>
          <a:prstGeom prst="rect">
            <a:avLst/>
          </a:prstGeom>
          <a:noFill/>
          <a:ln/>
        </p:spPr>
        <p:txBody>
          <a:bodyPr wrap="square" lIns="0" tIns="0" rIns="0" bIns="0" rtlCol="0" anchor="t">
            <a:normAutofit/>
          </a:bodyPr>
          <a:lstStyle/>
          <a:p>
            <a:pPr indent="0" marL="0">
              <a:buNone/>
            </a:pPr>
            <a:r>
              <a:rPr lang="en-US" sz="1400" b="1" dirty="0">
                <a:solidFill>
                  <a:srgbClr val="FFFFFF"/>
                </a:solidFill>
                <a:latin typeface="Aptos" pitchFamily="34" charset="0"/>
                <a:ea typeface="Aptos" pitchFamily="34" charset="-122"/>
                <a:cs typeface="Aptos" pitchFamily="34" charset="-120"/>
              </a:rPr>
              <a:t>file copy + fingerprint</a:t>
            </a:r>
            <a:endParaRPr lang="en-US" sz="1400" dirty="0"/>
          </a:p>
          <a:p>
            <a:pPr indent="0" marL="0">
              <a:buNone/>
            </a:pPr>
            <a:r>
              <a:rPr lang="en-US" sz="1400" b="1" dirty="0">
                <a:solidFill>
                  <a:srgbClr val="FFFFFF"/>
                </a:solidFill>
                <a:latin typeface="Aptos" pitchFamily="34" charset="0"/>
                <a:ea typeface="Aptos" pitchFamily="34" charset="-122"/>
                <a:cs typeface="Aptos" pitchFamily="34" charset="-120"/>
              </a:rPr>
              <a:t>+ sample data structure check</a:t>
            </a:r>
            <a:endParaRPr lang="en-US" sz="1400" dirty="0"/>
          </a:p>
        </p:txBody>
      </p:sp>
      <p:sp>
        <p:nvSpPr>
          <p:cNvPr id="12" name="Text 10"/>
          <p:cNvSpPr/>
          <p:nvPr/>
        </p:nvSpPr>
        <p:spPr>
          <a:xfrm>
            <a:off x="960120" y="5166360"/>
            <a:ext cx="2468880" cy="201168"/>
          </a:xfrm>
          <a:prstGeom prst="rect">
            <a:avLst/>
          </a:prstGeom>
          <a:noFill/>
          <a:ln/>
        </p:spPr>
        <p:txBody>
          <a:bodyPr wrap="square" lIns="0" tIns="0" rIns="0" bIns="0" rtlCol="0" anchor="ctr">
            <a:normAutofit/>
          </a:bodyPr>
          <a:lstStyle/>
          <a:p>
            <a:pPr indent="0" marL="0">
              <a:buNone/>
            </a:pPr>
            <a:r>
              <a:rPr lang="en-US" sz="1000" b="1" dirty="0">
                <a:solidFill>
                  <a:srgbClr val="F0C985"/>
                </a:solidFill>
                <a:latin typeface="Aptos" pitchFamily="34" charset="0"/>
                <a:ea typeface="Aptos" pitchFamily="34" charset="-122"/>
                <a:cs typeface="Aptos" pitchFamily="34" charset="-120"/>
              </a:rPr>
              <a:t>Not service recovery time</a:t>
            </a:r>
            <a:endParaRPr lang="en-US" sz="1000" dirty="0"/>
          </a:p>
        </p:txBody>
      </p:sp>
      <p:sp>
        <p:nvSpPr>
          <p:cNvPr id="13" name="Text 11"/>
          <p:cNvSpPr/>
          <p:nvPr/>
        </p:nvSpPr>
        <p:spPr>
          <a:xfrm>
            <a:off x="5157216" y="2002536"/>
            <a:ext cx="1325880" cy="182880"/>
          </a:xfrm>
          <a:prstGeom prst="rect">
            <a:avLst/>
          </a:prstGeom>
          <a:noFill/>
          <a:ln/>
        </p:spPr>
        <p:txBody>
          <a:bodyPr wrap="square" lIns="0" tIns="0" rIns="0" bIns="0" rtlCol="0" anchor="ctr">
            <a:normAutofit/>
          </a:bodyPr>
          <a:lstStyle/>
          <a:p>
            <a:pPr indent="0" marL="0">
              <a:buNone/>
            </a:pPr>
            <a:r>
              <a:rPr lang="en-US" sz="900" b="1" dirty="0">
                <a:solidFill>
                  <a:srgbClr val="142C43"/>
                </a:solidFill>
                <a:latin typeface="Aptos" pitchFamily="34" charset="0"/>
                <a:ea typeface="Aptos" pitchFamily="34" charset="-122"/>
                <a:cs typeface="Aptos" pitchFamily="34" charset="-120"/>
              </a:rPr>
              <a:t>Source file</a:t>
            </a:r>
            <a:endParaRPr lang="en-US" sz="900" dirty="0"/>
          </a:p>
        </p:txBody>
      </p:sp>
      <p:sp>
        <p:nvSpPr>
          <p:cNvPr id="14" name="Text 12"/>
          <p:cNvSpPr/>
          <p:nvPr/>
        </p:nvSpPr>
        <p:spPr>
          <a:xfrm>
            <a:off x="6510528" y="2002536"/>
            <a:ext cx="3182112" cy="182880"/>
          </a:xfrm>
          <a:prstGeom prst="rect">
            <a:avLst/>
          </a:prstGeom>
          <a:noFill/>
          <a:ln/>
        </p:spPr>
        <p:txBody>
          <a:bodyPr wrap="square" lIns="0" tIns="0" rIns="0" bIns="0" rtlCol="0" anchor="ctr">
            <a:normAutofit/>
          </a:bodyPr>
          <a:lstStyle/>
          <a:p>
            <a:pPr indent="0" marL="0">
              <a:buNone/>
            </a:pPr>
            <a:r>
              <a:rPr lang="en-US" sz="900" dirty="0">
                <a:solidFill>
                  <a:srgbClr val="718692"/>
                </a:solidFill>
                <a:latin typeface="Aptos" pitchFamily="34" charset="0"/>
                <a:ea typeface="Aptos" pitchFamily="34" charset="-122"/>
                <a:cs typeface="Aptos" pitchFamily="34" charset="-120"/>
              </a:rPr>
              <a:t>clinical database sample · West location</a:t>
            </a:r>
            <a:endParaRPr lang="en-US" sz="900" dirty="0"/>
          </a:p>
        </p:txBody>
      </p:sp>
      <p:sp>
        <p:nvSpPr>
          <p:cNvPr id="15" name="Text 13"/>
          <p:cNvSpPr/>
          <p:nvPr/>
        </p:nvSpPr>
        <p:spPr>
          <a:xfrm>
            <a:off x="9948672" y="2002536"/>
            <a:ext cx="1325880" cy="182880"/>
          </a:xfrm>
          <a:prstGeom prst="rect">
            <a:avLst/>
          </a:prstGeom>
          <a:noFill/>
          <a:ln/>
        </p:spPr>
        <p:txBody>
          <a:bodyPr wrap="square" lIns="0" tIns="0" rIns="0" bIns="0" rtlCol="0" anchor="ctr">
            <a:normAutofit/>
          </a:bodyPr>
          <a:lstStyle/>
          <a:p>
            <a:pPr algn="r" indent="0" marL="0">
              <a:buNone/>
            </a:pPr>
            <a:r>
              <a:rPr lang="en-US" sz="800" b="1" dirty="0">
                <a:solidFill>
                  <a:srgbClr val="27826B"/>
                </a:solidFill>
                <a:latin typeface="Aptos" pitchFamily="34" charset="0"/>
                <a:ea typeface="Aptos" pitchFamily="34" charset="-122"/>
                <a:cs typeface="Aptos" pitchFamily="34" charset="-120"/>
              </a:rPr>
              <a:t>VERIFIED</a:t>
            </a:r>
            <a:endParaRPr lang="en-US" sz="800" dirty="0"/>
          </a:p>
        </p:txBody>
      </p:sp>
      <p:sp>
        <p:nvSpPr>
          <p:cNvPr id="16" name="Shape 14"/>
          <p:cNvSpPr/>
          <p:nvPr/>
        </p:nvSpPr>
        <p:spPr>
          <a:xfrm>
            <a:off x="5074920" y="2423160"/>
            <a:ext cx="6355080" cy="0"/>
          </a:xfrm>
          <a:prstGeom prst="line">
            <a:avLst/>
          </a:prstGeom>
          <a:noFill/>
          <a:ln w="8890">
            <a:solidFill>
              <a:srgbClr val="DCE6E9"/>
            </a:solidFill>
            <a:prstDash val="solid"/>
          </a:ln>
        </p:spPr>
      </p:sp>
      <p:sp>
        <p:nvSpPr>
          <p:cNvPr id="17" name="Text 15"/>
          <p:cNvSpPr/>
          <p:nvPr/>
        </p:nvSpPr>
        <p:spPr>
          <a:xfrm>
            <a:off x="5157216" y="2569464"/>
            <a:ext cx="1325880" cy="182880"/>
          </a:xfrm>
          <a:prstGeom prst="rect">
            <a:avLst/>
          </a:prstGeom>
          <a:noFill/>
          <a:ln/>
        </p:spPr>
        <p:txBody>
          <a:bodyPr wrap="square" lIns="0" tIns="0" rIns="0" bIns="0" rtlCol="0" anchor="ctr">
            <a:normAutofit/>
          </a:bodyPr>
          <a:lstStyle/>
          <a:p>
            <a:pPr indent="0" marL="0">
              <a:buNone/>
            </a:pPr>
            <a:r>
              <a:rPr lang="en-US" sz="900" b="1" dirty="0">
                <a:solidFill>
                  <a:srgbClr val="142C43"/>
                </a:solidFill>
                <a:latin typeface="Aptos" pitchFamily="34" charset="0"/>
                <a:ea typeface="Aptos" pitchFamily="34" charset="-122"/>
                <a:cs typeface="Aptos" pitchFamily="34" charset="-120"/>
              </a:rPr>
              <a:t>Approval</a:t>
            </a:r>
            <a:endParaRPr lang="en-US" sz="900" dirty="0"/>
          </a:p>
        </p:txBody>
      </p:sp>
      <p:sp>
        <p:nvSpPr>
          <p:cNvPr id="18" name="Text 16"/>
          <p:cNvSpPr/>
          <p:nvPr/>
        </p:nvSpPr>
        <p:spPr>
          <a:xfrm>
            <a:off x="6510528" y="2569464"/>
            <a:ext cx="3182112" cy="182880"/>
          </a:xfrm>
          <a:prstGeom prst="rect">
            <a:avLst/>
          </a:prstGeom>
          <a:noFill/>
          <a:ln/>
        </p:spPr>
        <p:txBody>
          <a:bodyPr wrap="square" lIns="0" tIns="0" rIns="0" bIns="0" rtlCol="0" anchor="ctr">
            <a:normAutofit/>
          </a:bodyPr>
          <a:lstStyle/>
          <a:p>
            <a:pPr indent="0" marL="0">
              <a:buNone/>
            </a:pPr>
            <a:r>
              <a:rPr lang="en-US" sz="900" dirty="0">
                <a:solidFill>
                  <a:srgbClr val="718692"/>
                </a:solidFill>
                <a:latin typeface="Aptos" pitchFamily="34" charset="0"/>
                <a:ea typeface="Aptos" pitchFamily="34" charset="-122"/>
                <a:cs typeface="Aptos" pitchFamily="34" charset="-120"/>
              </a:rPr>
              <a:t>person approved the pending test</a:t>
            </a:r>
            <a:endParaRPr lang="en-US" sz="900" dirty="0"/>
          </a:p>
        </p:txBody>
      </p:sp>
      <p:sp>
        <p:nvSpPr>
          <p:cNvPr id="19" name="Text 17"/>
          <p:cNvSpPr/>
          <p:nvPr/>
        </p:nvSpPr>
        <p:spPr>
          <a:xfrm>
            <a:off x="9948672" y="2569464"/>
            <a:ext cx="1325880" cy="182880"/>
          </a:xfrm>
          <a:prstGeom prst="rect">
            <a:avLst/>
          </a:prstGeom>
          <a:noFill/>
          <a:ln/>
        </p:spPr>
        <p:txBody>
          <a:bodyPr wrap="square" lIns="0" tIns="0" rIns="0" bIns="0" rtlCol="0" anchor="ctr">
            <a:normAutofit/>
          </a:bodyPr>
          <a:lstStyle/>
          <a:p>
            <a:pPr algn="r" indent="0" marL="0">
              <a:buNone/>
            </a:pPr>
            <a:r>
              <a:rPr lang="en-US" sz="800" b="1" dirty="0">
                <a:solidFill>
                  <a:srgbClr val="27826B"/>
                </a:solidFill>
                <a:latin typeface="Aptos" pitchFamily="34" charset="0"/>
                <a:ea typeface="Aptos" pitchFamily="34" charset="-122"/>
                <a:cs typeface="Aptos" pitchFamily="34" charset="-120"/>
              </a:rPr>
              <a:t>RECORDED</a:t>
            </a:r>
            <a:endParaRPr lang="en-US" sz="800" dirty="0"/>
          </a:p>
        </p:txBody>
      </p:sp>
      <p:sp>
        <p:nvSpPr>
          <p:cNvPr id="20" name="Shape 18"/>
          <p:cNvSpPr/>
          <p:nvPr/>
        </p:nvSpPr>
        <p:spPr>
          <a:xfrm>
            <a:off x="5074920" y="2990088"/>
            <a:ext cx="6355080" cy="0"/>
          </a:xfrm>
          <a:prstGeom prst="line">
            <a:avLst/>
          </a:prstGeom>
          <a:noFill/>
          <a:ln w="8890">
            <a:solidFill>
              <a:srgbClr val="DCE6E9"/>
            </a:solidFill>
            <a:prstDash val="solid"/>
          </a:ln>
        </p:spPr>
      </p:sp>
      <p:sp>
        <p:nvSpPr>
          <p:cNvPr id="21" name="Text 19"/>
          <p:cNvSpPr/>
          <p:nvPr/>
        </p:nvSpPr>
        <p:spPr>
          <a:xfrm>
            <a:off x="5157216" y="3136392"/>
            <a:ext cx="1325880" cy="182880"/>
          </a:xfrm>
          <a:prstGeom prst="rect">
            <a:avLst/>
          </a:prstGeom>
          <a:noFill/>
          <a:ln/>
        </p:spPr>
        <p:txBody>
          <a:bodyPr wrap="square" lIns="0" tIns="0" rIns="0" bIns="0" rtlCol="0" anchor="ctr">
            <a:normAutofit/>
          </a:bodyPr>
          <a:lstStyle/>
          <a:p>
            <a:pPr indent="0" marL="0">
              <a:buNone/>
            </a:pPr>
            <a:r>
              <a:rPr lang="en-US" sz="900" b="1" dirty="0">
                <a:solidFill>
                  <a:srgbClr val="142C43"/>
                </a:solidFill>
                <a:latin typeface="Aptos" pitchFamily="34" charset="0"/>
                <a:ea typeface="Aptos" pitchFamily="34" charset="-122"/>
                <a:cs typeface="Aptos" pitchFamily="34" charset="-120"/>
              </a:rPr>
              <a:t>Copy target</a:t>
            </a:r>
            <a:endParaRPr lang="en-US" sz="900" dirty="0"/>
          </a:p>
        </p:txBody>
      </p:sp>
      <p:sp>
        <p:nvSpPr>
          <p:cNvPr id="22" name="Text 20"/>
          <p:cNvSpPr/>
          <p:nvPr/>
        </p:nvSpPr>
        <p:spPr>
          <a:xfrm>
            <a:off x="6510528" y="3136392"/>
            <a:ext cx="3182112" cy="182880"/>
          </a:xfrm>
          <a:prstGeom prst="rect">
            <a:avLst/>
          </a:prstGeom>
          <a:noFill/>
          <a:ln/>
        </p:spPr>
        <p:txBody>
          <a:bodyPr wrap="square" lIns="0" tIns="0" rIns="0" bIns="0" rtlCol="0" anchor="ctr">
            <a:normAutofit/>
          </a:bodyPr>
          <a:lstStyle/>
          <a:p>
            <a:pPr indent="0" marL="0">
              <a:buNone/>
            </a:pPr>
            <a:r>
              <a:rPr lang="en-US" sz="900" dirty="0">
                <a:solidFill>
                  <a:srgbClr val="718692"/>
                </a:solidFill>
                <a:latin typeface="Aptos" pitchFamily="34" charset="0"/>
                <a:ea typeface="Aptos" pitchFamily="34" charset="-122"/>
                <a:cs typeface="Aptos" pitchFamily="34" charset="-120"/>
              </a:rPr>
              <a:t>unique isolated test folder</a:t>
            </a:r>
            <a:endParaRPr lang="en-US" sz="900" dirty="0"/>
          </a:p>
        </p:txBody>
      </p:sp>
      <p:sp>
        <p:nvSpPr>
          <p:cNvPr id="23" name="Text 21"/>
          <p:cNvSpPr/>
          <p:nvPr/>
        </p:nvSpPr>
        <p:spPr>
          <a:xfrm>
            <a:off x="9948672" y="3136392"/>
            <a:ext cx="1325880" cy="182880"/>
          </a:xfrm>
          <a:prstGeom prst="rect">
            <a:avLst/>
          </a:prstGeom>
          <a:noFill/>
          <a:ln/>
        </p:spPr>
        <p:txBody>
          <a:bodyPr wrap="square" lIns="0" tIns="0" rIns="0" bIns="0" rtlCol="0" anchor="ctr">
            <a:normAutofit/>
          </a:bodyPr>
          <a:lstStyle/>
          <a:p>
            <a:pPr algn="r" indent="0" marL="0">
              <a:buNone/>
            </a:pPr>
            <a:r>
              <a:rPr lang="en-US" sz="800" b="1" dirty="0">
                <a:solidFill>
                  <a:srgbClr val="27826B"/>
                </a:solidFill>
                <a:latin typeface="Aptos" pitchFamily="34" charset="0"/>
                <a:ea typeface="Aptos" pitchFamily="34" charset="-122"/>
                <a:cs typeface="Aptos" pitchFamily="34" charset="-120"/>
              </a:rPr>
              <a:t>SEPARATE VOLUME</a:t>
            </a:r>
            <a:endParaRPr lang="en-US" sz="800" dirty="0"/>
          </a:p>
        </p:txBody>
      </p:sp>
      <p:sp>
        <p:nvSpPr>
          <p:cNvPr id="24" name="Shape 22"/>
          <p:cNvSpPr/>
          <p:nvPr/>
        </p:nvSpPr>
        <p:spPr>
          <a:xfrm>
            <a:off x="5074920" y="3557016"/>
            <a:ext cx="6355080" cy="0"/>
          </a:xfrm>
          <a:prstGeom prst="line">
            <a:avLst/>
          </a:prstGeom>
          <a:noFill/>
          <a:ln w="8890">
            <a:solidFill>
              <a:srgbClr val="DCE6E9"/>
            </a:solidFill>
            <a:prstDash val="solid"/>
          </a:ln>
        </p:spPr>
      </p:sp>
      <p:sp>
        <p:nvSpPr>
          <p:cNvPr id="25" name="Text 23"/>
          <p:cNvSpPr/>
          <p:nvPr/>
        </p:nvSpPr>
        <p:spPr>
          <a:xfrm>
            <a:off x="5157216" y="3703320"/>
            <a:ext cx="1325880" cy="182880"/>
          </a:xfrm>
          <a:prstGeom prst="rect">
            <a:avLst/>
          </a:prstGeom>
          <a:noFill/>
          <a:ln/>
        </p:spPr>
        <p:txBody>
          <a:bodyPr wrap="square" lIns="0" tIns="0" rIns="0" bIns="0" rtlCol="0" anchor="ctr">
            <a:normAutofit/>
          </a:bodyPr>
          <a:lstStyle/>
          <a:p>
            <a:pPr indent="0" marL="0">
              <a:buNone/>
            </a:pPr>
            <a:r>
              <a:rPr lang="en-US" sz="900" b="1" dirty="0">
                <a:solidFill>
                  <a:srgbClr val="142C43"/>
                </a:solidFill>
                <a:latin typeface="Aptos" pitchFamily="34" charset="0"/>
                <a:ea typeface="Aptos" pitchFamily="34" charset="-122"/>
                <a:cs typeface="Aptos" pitchFamily="34" charset="-120"/>
              </a:rPr>
              <a:t>File check</a:t>
            </a:r>
            <a:endParaRPr lang="en-US" sz="900" dirty="0"/>
          </a:p>
        </p:txBody>
      </p:sp>
      <p:sp>
        <p:nvSpPr>
          <p:cNvPr id="26" name="Text 24"/>
          <p:cNvSpPr/>
          <p:nvPr/>
        </p:nvSpPr>
        <p:spPr>
          <a:xfrm>
            <a:off x="6510528" y="3703320"/>
            <a:ext cx="3182112" cy="182880"/>
          </a:xfrm>
          <a:prstGeom prst="rect">
            <a:avLst/>
          </a:prstGeom>
          <a:noFill/>
          <a:ln/>
        </p:spPr>
        <p:txBody>
          <a:bodyPr wrap="square" lIns="0" tIns="0" rIns="0" bIns="0" rtlCol="0" anchor="ctr">
            <a:normAutofit/>
          </a:bodyPr>
          <a:lstStyle/>
          <a:p>
            <a:pPr indent="0" marL="0">
              <a:buNone/>
            </a:pPr>
            <a:r>
              <a:rPr lang="en-US" sz="900" dirty="0">
                <a:solidFill>
                  <a:srgbClr val="718692"/>
                </a:solidFill>
                <a:latin typeface="Aptos" pitchFamily="34" charset="0"/>
                <a:ea typeface="Aptos" pitchFamily="34" charset="-122"/>
                <a:cs typeface="Aptos" pitchFamily="34" charset="-120"/>
              </a:rPr>
              <a:t>source and copy fingerprints match</a:t>
            </a:r>
            <a:endParaRPr lang="en-US" sz="900" dirty="0"/>
          </a:p>
        </p:txBody>
      </p:sp>
      <p:sp>
        <p:nvSpPr>
          <p:cNvPr id="27" name="Text 25"/>
          <p:cNvSpPr/>
          <p:nvPr/>
        </p:nvSpPr>
        <p:spPr>
          <a:xfrm>
            <a:off x="9948672" y="3703320"/>
            <a:ext cx="1325880" cy="182880"/>
          </a:xfrm>
          <a:prstGeom prst="rect">
            <a:avLst/>
          </a:prstGeom>
          <a:noFill/>
          <a:ln/>
        </p:spPr>
        <p:txBody>
          <a:bodyPr wrap="square" lIns="0" tIns="0" rIns="0" bIns="0" rtlCol="0" anchor="ctr">
            <a:normAutofit/>
          </a:bodyPr>
          <a:lstStyle/>
          <a:p>
            <a:pPr algn="r" indent="0" marL="0">
              <a:buNone/>
            </a:pPr>
            <a:r>
              <a:rPr lang="en-US" sz="800" b="1" dirty="0">
                <a:solidFill>
                  <a:srgbClr val="27826B"/>
                </a:solidFill>
                <a:latin typeface="Aptos" pitchFamily="34" charset="0"/>
                <a:ea typeface="Aptos" pitchFamily="34" charset="-122"/>
                <a:cs typeface="Aptos" pitchFamily="34" charset="-120"/>
              </a:rPr>
              <a:t>MATCHED</a:t>
            </a:r>
            <a:endParaRPr lang="en-US" sz="800" dirty="0"/>
          </a:p>
        </p:txBody>
      </p:sp>
      <p:sp>
        <p:nvSpPr>
          <p:cNvPr id="28" name="Shape 26"/>
          <p:cNvSpPr/>
          <p:nvPr/>
        </p:nvSpPr>
        <p:spPr>
          <a:xfrm>
            <a:off x="5074920" y="4123944"/>
            <a:ext cx="6355080" cy="0"/>
          </a:xfrm>
          <a:prstGeom prst="line">
            <a:avLst/>
          </a:prstGeom>
          <a:noFill/>
          <a:ln w="8890">
            <a:solidFill>
              <a:srgbClr val="DCE6E9"/>
            </a:solidFill>
            <a:prstDash val="solid"/>
          </a:ln>
        </p:spPr>
      </p:sp>
      <p:sp>
        <p:nvSpPr>
          <p:cNvPr id="29" name="Text 27"/>
          <p:cNvSpPr/>
          <p:nvPr/>
        </p:nvSpPr>
        <p:spPr>
          <a:xfrm>
            <a:off x="5157216" y="4270248"/>
            <a:ext cx="1325880" cy="182880"/>
          </a:xfrm>
          <a:prstGeom prst="rect">
            <a:avLst/>
          </a:prstGeom>
          <a:noFill/>
          <a:ln/>
        </p:spPr>
        <p:txBody>
          <a:bodyPr wrap="square" lIns="0" tIns="0" rIns="0" bIns="0" rtlCol="0" anchor="ctr">
            <a:normAutofit/>
          </a:bodyPr>
          <a:lstStyle/>
          <a:p>
            <a:pPr indent="0" marL="0">
              <a:buNone/>
            </a:pPr>
            <a:r>
              <a:rPr lang="en-US" sz="900" b="1" dirty="0">
                <a:solidFill>
                  <a:srgbClr val="142C43"/>
                </a:solidFill>
                <a:latin typeface="Aptos" pitchFamily="34" charset="0"/>
                <a:ea typeface="Aptos" pitchFamily="34" charset="-122"/>
                <a:cs typeface="Aptos" pitchFamily="34" charset="-120"/>
              </a:rPr>
              <a:t>Data check</a:t>
            </a:r>
            <a:endParaRPr lang="en-US" sz="900" dirty="0"/>
          </a:p>
        </p:txBody>
      </p:sp>
      <p:sp>
        <p:nvSpPr>
          <p:cNvPr id="30" name="Text 28"/>
          <p:cNvSpPr/>
          <p:nvPr/>
        </p:nvSpPr>
        <p:spPr>
          <a:xfrm>
            <a:off x="6510528" y="4270248"/>
            <a:ext cx="3182112" cy="182880"/>
          </a:xfrm>
          <a:prstGeom prst="rect">
            <a:avLst/>
          </a:prstGeom>
          <a:noFill/>
          <a:ln/>
        </p:spPr>
        <p:txBody>
          <a:bodyPr wrap="square" lIns="0" tIns="0" rIns="0" bIns="0" rtlCol="0" anchor="ctr">
            <a:normAutofit/>
          </a:bodyPr>
          <a:lstStyle/>
          <a:p>
            <a:pPr indent="0" marL="0">
              <a:buNone/>
            </a:pPr>
            <a:r>
              <a:rPr lang="en-US" sz="900" dirty="0">
                <a:solidFill>
                  <a:srgbClr val="718692"/>
                </a:solidFill>
                <a:latin typeface="Aptos" pitchFamily="34" charset="0"/>
                <a:ea typeface="Aptos" pitchFamily="34" charset="-122"/>
                <a:cs typeface="Aptos" pitchFamily="34" charset="-120"/>
              </a:rPr>
              <a:t>expected JSON fields and record count</a:t>
            </a:r>
            <a:endParaRPr lang="en-US" sz="900" dirty="0"/>
          </a:p>
        </p:txBody>
      </p:sp>
      <p:sp>
        <p:nvSpPr>
          <p:cNvPr id="31" name="Text 29"/>
          <p:cNvSpPr/>
          <p:nvPr/>
        </p:nvSpPr>
        <p:spPr>
          <a:xfrm>
            <a:off x="9948672" y="4270248"/>
            <a:ext cx="1325880" cy="182880"/>
          </a:xfrm>
          <a:prstGeom prst="rect">
            <a:avLst/>
          </a:prstGeom>
          <a:noFill/>
          <a:ln/>
        </p:spPr>
        <p:txBody>
          <a:bodyPr wrap="square" lIns="0" tIns="0" rIns="0" bIns="0" rtlCol="0" anchor="ctr">
            <a:normAutofit/>
          </a:bodyPr>
          <a:lstStyle/>
          <a:p>
            <a:pPr algn="r" indent="0" marL="0">
              <a:buNone/>
            </a:pPr>
            <a:r>
              <a:rPr lang="en-US" sz="800" b="1" dirty="0">
                <a:solidFill>
                  <a:srgbClr val="27826B"/>
                </a:solidFill>
                <a:latin typeface="Aptos" pitchFamily="34" charset="0"/>
                <a:ea typeface="Aptos" pitchFamily="34" charset="-122"/>
                <a:cs typeface="Aptos" pitchFamily="34" charset="-120"/>
              </a:rPr>
              <a:t>PASSED</a:t>
            </a:r>
            <a:endParaRPr lang="en-US" sz="800" dirty="0"/>
          </a:p>
        </p:txBody>
      </p:sp>
      <p:sp>
        <p:nvSpPr>
          <p:cNvPr id="32" name="Shape 30"/>
          <p:cNvSpPr/>
          <p:nvPr/>
        </p:nvSpPr>
        <p:spPr>
          <a:xfrm>
            <a:off x="5074920" y="4690872"/>
            <a:ext cx="6355080" cy="0"/>
          </a:xfrm>
          <a:prstGeom prst="line">
            <a:avLst/>
          </a:prstGeom>
          <a:noFill/>
          <a:ln w="8890">
            <a:solidFill>
              <a:srgbClr val="DCE6E9"/>
            </a:solidFill>
            <a:prstDash val="solid"/>
          </a:ln>
        </p:spPr>
      </p:sp>
      <p:sp>
        <p:nvSpPr>
          <p:cNvPr id="33" name="Text 31"/>
          <p:cNvSpPr/>
          <p:nvPr/>
        </p:nvSpPr>
        <p:spPr>
          <a:xfrm>
            <a:off x="5157216" y="4837176"/>
            <a:ext cx="1325880" cy="182880"/>
          </a:xfrm>
          <a:prstGeom prst="rect">
            <a:avLst/>
          </a:prstGeom>
          <a:noFill/>
          <a:ln/>
        </p:spPr>
        <p:txBody>
          <a:bodyPr wrap="square" lIns="0" tIns="0" rIns="0" bIns="0" rtlCol="0" anchor="ctr">
            <a:normAutofit/>
          </a:bodyPr>
          <a:lstStyle/>
          <a:p>
            <a:pPr indent="0" marL="0">
              <a:buNone/>
            </a:pPr>
            <a:r>
              <a:rPr lang="en-US" sz="900" b="1" dirty="0">
                <a:solidFill>
                  <a:srgbClr val="142C43"/>
                </a:solidFill>
                <a:latin typeface="Aptos" pitchFamily="34" charset="0"/>
                <a:ea typeface="Aptos" pitchFamily="34" charset="-122"/>
                <a:cs typeface="Aptos" pitchFamily="34" charset="-120"/>
              </a:rPr>
              <a:t>Malware status</a:t>
            </a:r>
            <a:endParaRPr lang="en-US" sz="900" dirty="0"/>
          </a:p>
        </p:txBody>
      </p:sp>
      <p:sp>
        <p:nvSpPr>
          <p:cNvPr id="34" name="Text 32"/>
          <p:cNvSpPr/>
          <p:nvPr/>
        </p:nvSpPr>
        <p:spPr>
          <a:xfrm>
            <a:off x="6510528" y="4837176"/>
            <a:ext cx="3182112" cy="182880"/>
          </a:xfrm>
          <a:prstGeom prst="rect">
            <a:avLst/>
          </a:prstGeom>
          <a:noFill/>
          <a:ln/>
        </p:spPr>
        <p:txBody>
          <a:bodyPr wrap="square" lIns="0" tIns="0" rIns="0" bIns="0" rtlCol="0" anchor="ctr">
            <a:normAutofit/>
          </a:bodyPr>
          <a:lstStyle/>
          <a:p>
            <a:pPr indent="0" marL="0">
              <a:buNone/>
            </a:pPr>
            <a:r>
              <a:rPr lang="en-US" sz="900" dirty="0">
                <a:solidFill>
                  <a:srgbClr val="718692"/>
                </a:solidFill>
                <a:latin typeface="Aptos" pitchFamily="34" charset="0"/>
                <a:ea typeface="Aptos" pitchFamily="34" charset="-122"/>
                <a:cs typeface="Aptos" pitchFamily="34" charset="-120"/>
              </a:rPr>
              <a:t>no scanner executed</a:t>
            </a:r>
            <a:endParaRPr lang="en-US" sz="900" dirty="0"/>
          </a:p>
        </p:txBody>
      </p:sp>
      <p:sp>
        <p:nvSpPr>
          <p:cNvPr id="35" name="Text 33"/>
          <p:cNvSpPr/>
          <p:nvPr/>
        </p:nvSpPr>
        <p:spPr>
          <a:xfrm>
            <a:off x="9948672" y="4837176"/>
            <a:ext cx="1325880" cy="182880"/>
          </a:xfrm>
          <a:prstGeom prst="rect">
            <a:avLst/>
          </a:prstGeom>
          <a:noFill/>
          <a:ln/>
        </p:spPr>
        <p:txBody>
          <a:bodyPr wrap="square" lIns="0" tIns="0" rIns="0" bIns="0" rtlCol="0" anchor="ctr">
            <a:normAutofit/>
          </a:bodyPr>
          <a:lstStyle/>
          <a:p>
            <a:pPr algn="r" indent="0" marL="0">
              <a:buNone/>
            </a:pPr>
            <a:r>
              <a:rPr lang="en-US" sz="800" b="1" dirty="0">
                <a:solidFill>
                  <a:srgbClr val="B7781E"/>
                </a:solidFill>
                <a:latin typeface="Aptos" pitchFamily="34" charset="0"/>
                <a:ea typeface="Aptos" pitchFamily="34" charset="-122"/>
                <a:cs typeface="Aptos" pitchFamily="34" charset="-120"/>
              </a:rPr>
              <a:t>UNKNOWN</a:t>
            </a:r>
            <a:endParaRPr lang="en-US" sz="800" dirty="0"/>
          </a:p>
        </p:txBody>
      </p:sp>
      <p:sp>
        <p:nvSpPr>
          <p:cNvPr id="25" name="Slide Number Placeholder 0"/>
          <p:cNvSpPr>
            <a:spLocks noGrp="1"/>
          </p:cNvSpPr>
          <p:nvPr>
            <p:ph type="sldNum" sz="quarter" idx="4294967295"/>
          </p:nvPr>
        </p:nvSpPr>
        <p:spPr>
          <a:xfrm>
            <a:off x="11740896" y="6547104"/>
            <a:ext cx="228600" cy="146304"/>
          </a:xfrm>
          <a:prstGeom prst="rect">
            <a:avLst/>
          </a:prstGeom>
          <a:extLst>
            <a:ext uri="{C572A759-6A51-4108-AA02-DFA0A04FC94B}">
              <ma14:wrappingTextBoxFlag xmlns:ma14="http://schemas.microsoft.com/office/mac/drawingml/2011/main" val="0"/>
            </a:ext>
          </a:extLst>
        </p:spPr>
        <p:txBody>
          <a:bodyPr/>
          <a:lstStyle>
            <a:lvl1pPr>
              <a:defRPr sz="700">
                <a:solidFill>
                  <a:srgbClr val="80929D"/>
                </a:solidFill>
                <a:latin typeface="Aptos"/>
                <a:ea typeface="Aptos"/>
                <a:cs typeface="Aptos"/>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84048"/>
            <a:ext cx="10881360" cy="164592"/>
          </a:xfrm>
          <a:prstGeom prst="rect">
            <a:avLst/>
          </a:prstGeom>
          <a:noFill/>
          <a:ln/>
        </p:spPr>
        <p:txBody>
          <a:bodyPr wrap="square" lIns="0" tIns="0" rIns="0" bIns="0" rtlCol="0" anchor="ctr">
            <a:normAutofit/>
          </a:bodyPr>
          <a:lstStyle/>
          <a:p>
            <a:pPr indent="0" marL="0">
              <a:buNone/>
            </a:pPr>
            <a:r>
              <a:rPr lang="en-US" sz="800" b="1" spc="160" kern="0" dirty="0">
                <a:solidFill>
                  <a:srgbClr val="16827E"/>
                </a:solidFill>
                <a:latin typeface="Aptos" pitchFamily="34" charset="0"/>
                <a:ea typeface="Aptos" pitchFamily="34" charset="-122"/>
                <a:cs typeface="Aptos" pitchFamily="34" charset="-120"/>
              </a:rPr>
              <a:t>EVALUATION</a:t>
            </a:r>
            <a:endParaRPr lang="en-US" sz="800" dirty="0"/>
          </a:p>
        </p:txBody>
      </p:sp>
      <p:sp>
        <p:nvSpPr>
          <p:cNvPr id="3" name="Text 1"/>
          <p:cNvSpPr/>
          <p:nvPr/>
        </p:nvSpPr>
        <p:spPr>
          <a:xfrm>
            <a:off x="566928" y="694944"/>
            <a:ext cx="10972800" cy="438912"/>
          </a:xfrm>
          <a:prstGeom prst="rect">
            <a:avLst/>
          </a:prstGeom>
          <a:noFill/>
          <a:ln/>
        </p:spPr>
        <p:txBody>
          <a:bodyPr wrap="square" lIns="0" tIns="0" rIns="0" bIns="0" rtlCol="0" anchor="ctr">
            <a:normAutofit/>
          </a:bodyPr>
          <a:lstStyle/>
          <a:p>
            <a:pPr indent="0" marL="0">
              <a:buNone/>
            </a:pPr>
            <a:r>
              <a:rPr lang="en-US" sz="2500" b="1" spc="-60" kern="0" dirty="0">
                <a:solidFill>
                  <a:srgbClr val="142C43"/>
                </a:solidFill>
                <a:latin typeface="Aptos Display" pitchFamily="34" charset="0"/>
                <a:ea typeface="Aptos Display" pitchFamily="34" charset="-122"/>
                <a:cs typeface="Aptos Display" pitchFamily="34" charset="-120"/>
              </a:rPr>
              <a:t>Measured against known synthetic truth</a:t>
            </a:r>
            <a:endParaRPr lang="en-US" sz="2500" dirty="0"/>
          </a:p>
        </p:txBody>
      </p:sp>
      <p:sp>
        <p:nvSpPr>
          <p:cNvPr id="4" name="Text 2"/>
          <p:cNvSpPr/>
          <p:nvPr/>
        </p:nvSpPr>
        <p:spPr>
          <a:xfrm>
            <a:off x="585216" y="1216152"/>
            <a:ext cx="10972800" cy="256032"/>
          </a:xfrm>
          <a:prstGeom prst="rect">
            <a:avLst/>
          </a:prstGeom>
          <a:noFill/>
          <a:ln/>
        </p:spPr>
        <p:txBody>
          <a:bodyPr wrap="square" lIns="0" tIns="0" rIns="0" bIns="0" rtlCol="0" anchor="ctr">
            <a:normAutofit/>
          </a:bodyPr>
          <a:lstStyle/>
          <a:p>
            <a:pPr indent="0" marL="0">
              <a:buNone/>
            </a:pPr>
            <a:r>
              <a:rPr lang="en-US" sz="1000" dirty="0">
                <a:solidFill>
                  <a:srgbClr val="718692"/>
                </a:solidFill>
                <a:latin typeface="Aptos" pitchFamily="34" charset="0"/>
                <a:ea typeface="Aptos" pitchFamily="34" charset="-122"/>
                <a:cs typeface="Aptos" pitchFamily="34" charset="-120"/>
              </a:rPr>
              <a:t>Automated tests check the explicit rules; the experiment is intentionally small and reproducible.</a:t>
            </a:r>
            <a:endParaRPr lang="en-US" sz="1000" dirty="0"/>
          </a:p>
        </p:txBody>
      </p:sp>
      <p:sp>
        <p:nvSpPr>
          <p:cNvPr id="5" name="Shape 3"/>
          <p:cNvSpPr/>
          <p:nvPr/>
        </p:nvSpPr>
        <p:spPr>
          <a:xfrm>
            <a:off x="658368" y="1828800"/>
            <a:ext cx="3401568" cy="1097280"/>
          </a:xfrm>
          <a:prstGeom prst="roundRect">
            <a:avLst>
              <a:gd name="adj" fmla="val 6667"/>
            </a:avLst>
          </a:prstGeom>
          <a:solidFill>
            <a:srgbClr val="FFFFFF"/>
          </a:solidFill>
          <a:ln w="10160">
            <a:solidFill>
              <a:srgbClr val="DCE6E9"/>
            </a:solidFill>
            <a:prstDash val="solid"/>
          </a:ln>
        </p:spPr>
      </p:sp>
      <p:sp>
        <p:nvSpPr>
          <p:cNvPr id="6" name="Text 4"/>
          <p:cNvSpPr/>
          <p:nvPr/>
        </p:nvSpPr>
        <p:spPr>
          <a:xfrm>
            <a:off x="822960" y="1975104"/>
            <a:ext cx="2377440" cy="146304"/>
          </a:xfrm>
          <a:prstGeom prst="rect">
            <a:avLst/>
          </a:prstGeom>
          <a:noFill/>
          <a:ln/>
        </p:spPr>
        <p:txBody>
          <a:bodyPr wrap="square" lIns="0" tIns="0" rIns="0" bIns="0" rtlCol="0" anchor="ctr">
            <a:normAutofit/>
          </a:bodyPr>
          <a:lstStyle/>
          <a:p>
            <a:pPr indent="0" marL="0">
              <a:buNone/>
            </a:pPr>
            <a:r>
              <a:rPr lang="en-US" sz="750" b="1" spc="55" kern="0" dirty="0">
                <a:solidFill>
                  <a:srgbClr val="16827E"/>
                </a:solidFill>
                <a:latin typeface="Aptos" pitchFamily="34" charset="0"/>
                <a:ea typeface="Aptos" pitchFamily="34" charset="-122"/>
                <a:cs typeface="Aptos" pitchFamily="34" charset="-120"/>
              </a:rPr>
              <a:t>PYTEST SUITE</a:t>
            </a:r>
            <a:endParaRPr lang="en-US" sz="750" dirty="0"/>
          </a:p>
        </p:txBody>
      </p:sp>
      <p:sp>
        <p:nvSpPr>
          <p:cNvPr id="7" name="Text 5"/>
          <p:cNvSpPr/>
          <p:nvPr/>
        </p:nvSpPr>
        <p:spPr>
          <a:xfrm>
            <a:off x="822960" y="2221992"/>
            <a:ext cx="2423160" cy="292608"/>
          </a:xfrm>
          <a:prstGeom prst="rect">
            <a:avLst/>
          </a:prstGeom>
          <a:noFill/>
          <a:ln/>
        </p:spPr>
        <p:txBody>
          <a:bodyPr wrap="square" lIns="0" tIns="0" rIns="0" bIns="0" rtlCol="0" anchor="ctr">
            <a:normAutofit/>
          </a:bodyPr>
          <a:lstStyle/>
          <a:p>
            <a:pPr indent="0" marL="0">
              <a:buNone/>
            </a:pPr>
            <a:r>
              <a:rPr lang="en-US" sz="1900" b="1" dirty="0">
                <a:solidFill>
                  <a:srgbClr val="142C43"/>
                </a:solidFill>
                <a:latin typeface="Aptos Display" pitchFamily="34" charset="0"/>
                <a:ea typeface="Aptos Display" pitchFamily="34" charset="-122"/>
                <a:cs typeface="Aptos Display" pitchFamily="34" charset="-120"/>
              </a:rPr>
              <a:t>10/10</a:t>
            </a:r>
            <a:endParaRPr lang="en-US" sz="1900" dirty="0"/>
          </a:p>
        </p:txBody>
      </p:sp>
      <p:sp>
        <p:nvSpPr>
          <p:cNvPr id="8" name="Text 6"/>
          <p:cNvSpPr/>
          <p:nvPr/>
        </p:nvSpPr>
        <p:spPr>
          <a:xfrm>
            <a:off x="822960" y="2596896"/>
            <a:ext cx="2880360" cy="146304"/>
          </a:xfrm>
          <a:prstGeom prst="rect">
            <a:avLst/>
          </a:prstGeom>
          <a:noFill/>
          <a:ln/>
        </p:spPr>
        <p:txBody>
          <a:bodyPr wrap="square" lIns="0" tIns="0" rIns="0" bIns="0" rtlCol="0" anchor="ctr">
            <a:normAutofit/>
          </a:bodyPr>
          <a:lstStyle/>
          <a:p>
            <a:pPr indent="0" marL="0">
              <a:buNone/>
            </a:pPr>
            <a:r>
              <a:rPr lang="en-US" sz="800" dirty="0">
                <a:solidFill>
                  <a:srgbClr val="718692"/>
                </a:solidFill>
                <a:latin typeface="Aptos" pitchFamily="34" charset="0"/>
                <a:ea typeface="Aptos" pitchFamily="34" charset="-122"/>
                <a:cs typeface="Aptos" pitchFamily="34" charset="-120"/>
              </a:rPr>
              <a:t>0 failures</a:t>
            </a:r>
            <a:endParaRPr lang="en-US" sz="800" dirty="0"/>
          </a:p>
        </p:txBody>
      </p:sp>
      <p:sp>
        <p:nvSpPr>
          <p:cNvPr id="9" name="Shape 7"/>
          <p:cNvSpPr/>
          <p:nvPr/>
        </p:nvSpPr>
        <p:spPr>
          <a:xfrm>
            <a:off x="4389120" y="1828800"/>
            <a:ext cx="3401568" cy="1097280"/>
          </a:xfrm>
          <a:prstGeom prst="roundRect">
            <a:avLst>
              <a:gd name="adj" fmla="val 6667"/>
            </a:avLst>
          </a:prstGeom>
          <a:solidFill>
            <a:srgbClr val="FFFFFF"/>
          </a:solidFill>
          <a:ln w="10160">
            <a:solidFill>
              <a:srgbClr val="DCE6E9"/>
            </a:solidFill>
            <a:prstDash val="solid"/>
          </a:ln>
        </p:spPr>
      </p:sp>
      <p:sp>
        <p:nvSpPr>
          <p:cNvPr id="10" name="Text 8"/>
          <p:cNvSpPr/>
          <p:nvPr/>
        </p:nvSpPr>
        <p:spPr>
          <a:xfrm>
            <a:off x="4553712" y="1975104"/>
            <a:ext cx="2377440" cy="146304"/>
          </a:xfrm>
          <a:prstGeom prst="rect">
            <a:avLst/>
          </a:prstGeom>
          <a:noFill/>
          <a:ln/>
        </p:spPr>
        <p:txBody>
          <a:bodyPr wrap="square" lIns="0" tIns="0" rIns="0" bIns="0" rtlCol="0" anchor="ctr">
            <a:normAutofit/>
          </a:bodyPr>
          <a:lstStyle/>
          <a:p>
            <a:pPr indent="0" marL="0">
              <a:buNone/>
            </a:pPr>
            <a:r>
              <a:rPr lang="en-US" sz="750" b="1" spc="55" kern="0" dirty="0">
                <a:solidFill>
                  <a:srgbClr val="16827E"/>
                </a:solidFill>
                <a:latin typeface="Aptos" pitchFamily="34" charset="0"/>
                <a:ea typeface="Aptos" pitchFamily="34" charset="-122"/>
                <a:cs typeface="Aptos" pitchFamily="34" charset="-120"/>
              </a:rPr>
              <a:t>FILE FINGERPRINT</a:t>
            </a:r>
            <a:endParaRPr lang="en-US" sz="750" dirty="0"/>
          </a:p>
        </p:txBody>
      </p:sp>
      <p:sp>
        <p:nvSpPr>
          <p:cNvPr id="11" name="Text 9"/>
          <p:cNvSpPr/>
          <p:nvPr/>
        </p:nvSpPr>
        <p:spPr>
          <a:xfrm>
            <a:off x="4553712" y="2221992"/>
            <a:ext cx="2423160" cy="292608"/>
          </a:xfrm>
          <a:prstGeom prst="rect">
            <a:avLst/>
          </a:prstGeom>
          <a:noFill/>
          <a:ln/>
        </p:spPr>
        <p:txBody>
          <a:bodyPr wrap="square" lIns="0" tIns="0" rIns="0" bIns="0" rtlCol="0" anchor="ctr">
            <a:normAutofit/>
          </a:bodyPr>
          <a:lstStyle/>
          <a:p>
            <a:pPr indent="0" marL="0">
              <a:buNone/>
            </a:pPr>
            <a:r>
              <a:rPr lang="en-US" sz="1900" b="1" dirty="0">
                <a:solidFill>
                  <a:srgbClr val="142C43"/>
                </a:solidFill>
                <a:latin typeface="Aptos Display" pitchFamily="34" charset="0"/>
                <a:ea typeface="Aptos Display" pitchFamily="34" charset="-122"/>
                <a:cs typeface="Aptos Display" pitchFamily="34" charset="-120"/>
              </a:rPr>
              <a:t>5/5 · 100%</a:t>
            </a:r>
            <a:endParaRPr lang="en-US" sz="1900" dirty="0"/>
          </a:p>
        </p:txBody>
      </p:sp>
      <p:sp>
        <p:nvSpPr>
          <p:cNvPr id="12" name="Text 10"/>
          <p:cNvSpPr/>
          <p:nvPr/>
        </p:nvSpPr>
        <p:spPr>
          <a:xfrm>
            <a:off x="4553712" y="2596896"/>
            <a:ext cx="2880360" cy="146304"/>
          </a:xfrm>
          <a:prstGeom prst="rect">
            <a:avLst/>
          </a:prstGeom>
          <a:noFill/>
          <a:ln/>
        </p:spPr>
        <p:txBody>
          <a:bodyPr wrap="square" lIns="0" tIns="0" rIns="0" bIns="0" rtlCol="0" anchor="ctr">
            <a:normAutofit/>
          </a:bodyPr>
          <a:lstStyle/>
          <a:p>
            <a:pPr indent="0" marL="0">
              <a:buNone/>
            </a:pPr>
            <a:r>
              <a:rPr lang="en-US" sz="800" dirty="0">
                <a:solidFill>
                  <a:srgbClr val="718692"/>
                </a:solidFill>
                <a:latin typeface="Aptos" pitchFamily="34" charset="0"/>
                <a:ea typeface="Aptos" pitchFamily="34" charset="-122"/>
                <a:cs typeface="Aptos" pitchFamily="34" charset="-120"/>
              </a:rPr>
              <a:t>expected match / mismatch</a:t>
            </a:r>
            <a:endParaRPr lang="en-US" sz="800" dirty="0"/>
          </a:p>
        </p:txBody>
      </p:sp>
      <p:sp>
        <p:nvSpPr>
          <p:cNvPr id="13" name="Shape 11"/>
          <p:cNvSpPr/>
          <p:nvPr/>
        </p:nvSpPr>
        <p:spPr>
          <a:xfrm>
            <a:off x="8119872" y="1828800"/>
            <a:ext cx="3401568" cy="1097280"/>
          </a:xfrm>
          <a:prstGeom prst="roundRect">
            <a:avLst>
              <a:gd name="adj" fmla="val 6667"/>
            </a:avLst>
          </a:prstGeom>
          <a:solidFill>
            <a:srgbClr val="FFFFFF"/>
          </a:solidFill>
          <a:ln w="10160">
            <a:solidFill>
              <a:srgbClr val="DCE6E9"/>
            </a:solidFill>
            <a:prstDash val="solid"/>
          </a:ln>
        </p:spPr>
      </p:sp>
      <p:sp>
        <p:nvSpPr>
          <p:cNvPr id="14" name="Text 12"/>
          <p:cNvSpPr/>
          <p:nvPr/>
        </p:nvSpPr>
        <p:spPr>
          <a:xfrm>
            <a:off x="8284464" y="1975104"/>
            <a:ext cx="2377440" cy="146304"/>
          </a:xfrm>
          <a:prstGeom prst="rect">
            <a:avLst/>
          </a:prstGeom>
          <a:noFill/>
          <a:ln/>
        </p:spPr>
        <p:txBody>
          <a:bodyPr wrap="square" lIns="0" tIns="0" rIns="0" bIns="0" rtlCol="0" anchor="ctr">
            <a:normAutofit/>
          </a:bodyPr>
          <a:lstStyle/>
          <a:p>
            <a:pPr indent="0" marL="0">
              <a:buNone/>
            </a:pPr>
            <a:r>
              <a:rPr lang="en-US" sz="750" b="1" spc="55" kern="0" dirty="0">
                <a:solidFill>
                  <a:srgbClr val="16827E"/>
                </a:solidFill>
                <a:latin typeface="Aptos" pitchFamily="34" charset="0"/>
                <a:ea typeface="Aptos" pitchFamily="34" charset="-122"/>
                <a:cs typeface="Aptos" pitchFamily="34" charset="-120"/>
              </a:rPr>
              <a:t>BACKUP AGE</a:t>
            </a:r>
            <a:endParaRPr lang="en-US" sz="750" dirty="0"/>
          </a:p>
        </p:txBody>
      </p:sp>
      <p:sp>
        <p:nvSpPr>
          <p:cNvPr id="15" name="Text 13"/>
          <p:cNvSpPr/>
          <p:nvPr/>
        </p:nvSpPr>
        <p:spPr>
          <a:xfrm>
            <a:off x="8284464" y="2221992"/>
            <a:ext cx="2423160" cy="292608"/>
          </a:xfrm>
          <a:prstGeom prst="rect">
            <a:avLst/>
          </a:prstGeom>
          <a:noFill/>
          <a:ln/>
        </p:spPr>
        <p:txBody>
          <a:bodyPr wrap="square" lIns="0" tIns="0" rIns="0" bIns="0" rtlCol="0" anchor="ctr">
            <a:normAutofit/>
          </a:bodyPr>
          <a:lstStyle/>
          <a:p>
            <a:pPr indent="0" marL="0">
              <a:buNone/>
            </a:pPr>
            <a:r>
              <a:rPr lang="en-US" sz="1900" b="1" dirty="0">
                <a:solidFill>
                  <a:srgbClr val="142C43"/>
                </a:solidFill>
                <a:latin typeface="Aptos Display" pitchFamily="34" charset="0"/>
                <a:ea typeface="Aptos Display" pitchFamily="34" charset="-122"/>
                <a:cs typeface="Aptos Display" pitchFamily="34" charset="-120"/>
              </a:rPr>
              <a:t>5/5 · 100%</a:t>
            </a:r>
            <a:endParaRPr lang="en-US" sz="1900" dirty="0"/>
          </a:p>
        </p:txBody>
      </p:sp>
      <p:sp>
        <p:nvSpPr>
          <p:cNvPr id="16" name="Text 14"/>
          <p:cNvSpPr/>
          <p:nvPr/>
        </p:nvSpPr>
        <p:spPr>
          <a:xfrm>
            <a:off x="8284464" y="2596896"/>
            <a:ext cx="2880360" cy="146304"/>
          </a:xfrm>
          <a:prstGeom prst="rect">
            <a:avLst/>
          </a:prstGeom>
          <a:noFill/>
          <a:ln/>
        </p:spPr>
        <p:txBody>
          <a:bodyPr wrap="square" lIns="0" tIns="0" rIns="0" bIns="0" rtlCol="0" anchor="ctr">
            <a:normAutofit/>
          </a:bodyPr>
          <a:lstStyle/>
          <a:p>
            <a:pPr indent="0" marL="0">
              <a:buNone/>
            </a:pPr>
            <a:r>
              <a:rPr lang="en-US" sz="800" dirty="0">
                <a:solidFill>
                  <a:srgbClr val="718692"/>
                </a:solidFill>
                <a:latin typeface="Aptos" pitchFamily="34" charset="0"/>
                <a:ea typeface="Aptos" pitchFamily="34" charset="-122"/>
                <a:cs typeface="Aptos" pitchFamily="34" charset="-120"/>
              </a:rPr>
              <a:t>age vs data-loss target</a:t>
            </a:r>
            <a:endParaRPr lang="en-US" sz="800" dirty="0"/>
          </a:p>
        </p:txBody>
      </p:sp>
      <p:sp>
        <p:nvSpPr>
          <p:cNvPr id="17" name="Shape 15"/>
          <p:cNvSpPr/>
          <p:nvPr/>
        </p:nvSpPr>
        <p:spPr>
          <a:xfrm>
            <a:off x="658368" y="3154680"/>
            <a:ext cx="3401568" cy="1097280"/>
          </a:xfrm>
          <a:prstGeom prst="roundRect">
            <a:avLst>
              <a:gd name="adj" fmla="val 6667"/>
            </a:avLst>
          </a:prstGeom>
          <a:solidFill>
            <a:srgbClr val="FFFFFF"/>
          </a:solidFill>
          <a:ln w="10160">
            <a:solidFill>
              <a:srgbClr val="DCE6E9"/>
            </a:solidFill>
            <a:prstDash val="solid"/>
          </a:ln>
        </p:spPr>
      </p:sp>
      <p:sp>
        <p:nvSpPr>
          <p:cNvPr id="18" name="Text 16"/>
          <p:cNvSpPr/>
          <p:nvPr/>
        </p:nvSpPr>
        <p:spPr>
          <a:xfrm>
            <a:off x="822960" y="3300984"/>
            <a:ext cx="2377440" cy="146304"/>
          </a:xfrm>
          <a:prstGeom prst="rect">
            <a:avLst/>
          </a:prstGeom>
          <a:noFill/>
          <a:ln/>
        </p:spPr>
        <p:txBody>
          <a:bodyPr wrap="square" lIns="0" tIns="0" rIns="0" bIns="0" rtlCol="0" anchor="ctr">
            <a:normAutofit/>
          </a:bodyPr>
          <a:lstStyle/>
          <a:p>
            <a:pPr indent="0" marL="0">
              <a:buNone/>
            </a:pPr>
            <a:r>
              <a:rPr lang="en-US" sz="750" b="1" spc="55" kern="0" dirty="0">
                <a:solidFill>
                  <a:srgbClr val="16827E"/>
                </a:solidFill>
                <a:latin typeface="Aptos" pitchFamily="34" charset="0"/>
                <a:ea typeface="Aptos" pitchFamily="34" charset="-122"/>
                <a:cs typeface="Aptos" pitchFamily="34" charset="-120"/>
              </a:rPr>
              <a:t>SERVICE BLOCKERS</a:t>
            </a:r>
            <a:endParaRPr lang="en-US" sz="750" dirty="0"/>
          </a:p>
        </p:txBody>
      </p:sp>
      <p:sp>
        <p:nvSpPr>
          <p:cNvPr id="19" name="Text 17"/>
          <p:cNvSpPr/>
          <p:nvPr/>
        </p:nvSpPr>
        <p:spPr>
          <a:xfrm>
            <a:off x="822960" y="3547872"/>
            <a:ext cx="2423160" cy="292608"/>
          </a:xfrm>
          <a:prstGeom prst="rect">
            <a:avLst/>
          </a:prstGeom>
          <a:noFill/>
          <a:ln/>
        </p:spPr>
        <p:txBody>
          <a:bodyPr wrap="square" lIns="0" tIns="0" rIns="0" bIns="0" rtlCol="0" anchor="ctr">
            <a:normAutofit/>
          </a:bodyPr>
          <a:lstStyle/>
          <a:p>
            <a:pPr indent="0" marL="0">
              <a:buNone/>
            </a:pPr>
            <a:r>
              <a:rPr lang="en-US" sz="1900" b="1" dirty="0">
                <a:solidFill>
                  <a:srgbClr val="142C43"/>
                </a:solidFill>
                <a:latin typeface="Aptos Display" pitchFamily="34" charset="0"/>
                <a:ea typeface="Aptos Display" pitchFamily="34" charset="-122"/>
                <a:cs typeface="Aptos Display" pitchFamily="34" charset="-120"/>
              </a:rPr>
              <a:t>12/12 · 100%</a:t>
            </a:r>
            <a:endParaRPr lang="en-US" sz="1900" dirty="0"/>
          </a:p>
        </p:txBody>
      </p:sp>
      <p:sp>
        <p:nvSpPr>
          <p:cNvPr id="20" name="Text 18"/>
          <p:cNvSpPr/>
          <p:nvPr/>
        </p:nvSpPr>
        <p:spPr>
          <a:xfrm>
            <a:off x="822960" y="3922776"/>
            <a:ext cx="2880360" cy="146304"/>
          </a:xfrm>
          <a:prstGeom prst="rect">
            <a:avLst/>
          </a:prstGeom>
          <a:noFill/>
          <a:ln/>
        </p:spPr>
        <p:txBody>
          <a:bodyPr wrap="square" lIns="0" tIns="0" rIns="0" bIns="0" rtlCol="0" anchor="ctr">
            <a:normAutofit/>
          </a:bodyPr>
          <a:lstStyle/>
          <a:p>
            <a:pPr indent="0" marL="0">
              <a:buNone/>
            </a:pPr>
            <a:r>
              <a:rPr lang="en-US" sz="800" dirty="0">
                <a:solidFill>
                  <a:srgbClr val="718692"/>
                </a:solidFill>
                <a:latin typeface="Aptos" pitchFamily="34" charset="0"/>
                <a:ea typeface="Aptos" pitchFamily="34" charset="-122"/>
                <a:cs typeface="Aptos" pitchFamily="34" charset="-120"/>
              </a:rPr>
              <a:t>4 services × 3 scenarios</a:t>
            </a:r>
            <a:endParaRPr lang="en-US" sz="800" dirty="0"/>
          </a:p>
        </p:txBody>
      </p:sp>
      <p:sp>
        <p:nvSpPr>
          <p:cNvPr id="21" name="Shape 19"/>
          <p:cNvSpPr/>
          <p:nvPr/>
        </p:nvSpPr>
        <p:spPr>
          <a:xfrm>
            <a:off x="4389120" y="3154680"/>
            <a:ext cx="3401568" cy="1097280"/>
          </a:xfrm>
          <a:prstGeom prst="roundRect">
            <a:avLst>
              <a:gd name="adj" fmla="val 6667"/>
            </a:avLst>
          </a:prstGeom>
          <a:solidFill>
            <a:srgbClr val="FFFFFF"/>
          </a:solidFill>
          <a:ln w="10160">
            <a:solidFill>
              <a:srgbClr val="DCE6E9"/>
            </a:solidFill>
            <a:prstDash val="solid"/>
          </a:ln>
        </p:spPr>
      </p:sp>
      <p:sp>
        <p:nvSpPr>
          <p:cNvPr id="22" name="Text 20"/>
          <p:cNvSpPr/>
          <p:nvPr/>
        </p:nvSpPr>
        <p:spPr>
          <a:xfrm>
            <a:off x="4553712" y="3300984"/>
            <a:ext cx="2377440" cy="146304"/>
          </a:xfrm>
          <a:prstGeom prst="rect">
            <a:avLst/>
          </a:prstGeom>
          <a:noFill/>
          <a:ln/>
        </p:spPr>
        <p:txBody>
          <a:bodyPr wrap="square" lIns="0" tIns="0" rIns="0" bIns="0" rtlCol="0" anchor="ctr">
            <a:normAutofit/>
          </a:bodyPr>
          <a:lstStyle/>
          <a:p>
            <a:pPr indent="0" marL="0">
              <a:buNone/>
            </a:pPr>
            <a:r>
              <a:rPr lang="en-US" sz="750" b="1" spc="55" kern="0" dirty="0">
                <a:solidFill>
                  <a:srgbClr val="16827E"/>
                </a:solidFill>
                <a:latin typeface="Aptos" pitchFamily="34" charset="0"/>
                <a:ea typeface="Aptos" pitchFamily="34" charset="-122"/>
                <a:cs typeface="Aptos" pitchFamily="34" charset="-120"/>
              </a:rPr>
              <a:t>APPROVED TEST COPY</a:t>
            </a:r>
            <a:endParaRPr lang="en-US" sz="750" dirty="0"/>
          </a:p>
        </p:txBody>
      </p:sp>
      <p:sp>
        <p:nvSpPr>
          <p:cNvPr id="23" name="Text 21"/>
          <p:cNvSpPr/>
          <p:nvPr/>
        </p:nvSpPr>
        <p:spPr>
          <a:xfrm>
            <a:off x="4553712" y="3547872"/>
            <a:ext cx="2423160" cy="292608"/>
          </a:xfrm>
          <a:prstGeom prst="rect">
            <a:avLst/>
          </a:prstGeom>
          <a:noFill/>
          <a:ln/>
        </p:spPr>
        <p:txBody>
          <a:bodyPr wrap="square" lIns="0" tIns="0" rIns="0" bIns="0" rtlCol="0" anchor="ctr">
            <a:normAutofit/>
          </a:bodyPr>
          <a:lstStyle/>
          <a:p>
            <a:pPr indent="0" marL="0">
              <a:buNone/>
            </a:pPr>
            <a:r>
              <a:rPr lang="en-US" sz="1900" b="1" dirty="0">
                <a:solidFill>
                  <a:srgbClr val="142C43"/>
                </a:solidFill>
                <a:latin typeface="Aptos Display" pitchFamily="34" charset="0"/>
                <a:ea typeface="Aptos Display" pitchFamily="34" charset="-122"/>
                <a:cs typeface="Aptos Display" pitchFamily="34" charset="-120"/>
              </a:rPr>
              <a:t>3/3 · 100%</a:t>
            </a:r>
            <a:endParaRPr lang="en-US" sz="1900" dirty="0"/>
          </a:p>
        </p:txBody>
      </p:sp>
      <p:sp>
        <p:nvSpPr>
          <p:cNvPr id="24" name="Text 22"/>
          <p:cNvSpPr/>
          <p:nvPr/>
        </p:nvSpPr>
        <p:spPr>
          <a:xfrm>
            <a:off x="4553712" y="3922776"/>
            <a:ext cx="2880360" cy="146304"/>
          </a:xfrm>
          <a:prstGeom prst="rect">
            <a:avLst/>
          </a:prstGeom>
          <a:noFill/>
          <a:ln/>
        </p:spPr>
        <p:txBody>
          <a:bodyPr wrap="square" lIns="0" tIns="0" rIns="0" bIns="0" rtlCol="0" anchor="ctr">
            <a:normAutofit/>
          </a:bodyPr>
          <a:lstStyle/>
          <a:p>
            <a:pPr indent="0" marL="0">
              <a:buNone/>
            </a:pPr>
            <a:r>
              <a:rPr lang="en-US" sz="800" dirty="0">
                <a:solidFill>
                  <a:srgbClr val="718692"/>
                </a:solidFill>
                <a:latin typeface="Aptos" pitchFamily="34" charset="0"/>
                <a:ea typeface="Aptos" pitchFamily="34" charset="-122"/>
                <a:cs typeface="Aptos" pitchFamily="34" charset="-120"/>
              </a:rPr>
              <a:t>copy + file/data checks</a:t>
            </a:r>
            <a:endParaRPr lang="en-US" sz="800" dirty="0"/>
          </a:p>
        </p:txBody>
      </p:sp>
      <p:sp>
        <p:nvSpPr>
          <p:cNvPr id="25" name="Shape 23"/>
          <p:cNvSpPr/>
          <p:nvPr/>
        </p:nvSpPr>
        <p:spPr>
          <a:xfrm>
            <a:off x="8119872" y="3154680"/>
            <a:ext cx="3401568" cy="1097280"/>
          </a:xfrm>
          <a:prstGeom prst="roundRect">
            <a:avLst>
              <a:gd name="adj" fmla="val 6667"/>
            </a:avLst>
          </a:prstGeom>
          <a:solidFill>
            <a:srgbClr val="FFFFFF"/>
          </a:solidFill>
          <a:ln w="10160">
            <a:solidFill>
              <a:srgbClr val="DCE6E9"/>
            </a:solidFill>
            <a:prstDash val="solid"/>
          </a:ln>
        </p:spPr>
      </p:sp>
      <p:sp>
        <p:nvSpPr>
          <p:cNvPr id="26" name="Text 24"/>
          <p:cNvSpPr/>
          <p:nvPr/>
        </p:nvSpPr>
        <p:spPr>
          <a:xfrm>
            <a:off x="8284464" y="3300984"/>
            <a:ext cx="2377440" cy="146304"/>
          </a:xfrm>
          <a:prstGeom prst="rect">
            <a:avLst/>
          </a:prstGeom>
          <a:noFill/>
          <a:ln/>
        </p:spPr>
        <p:txBody>
          <a:bodyPr wrap="square" lIns="0" tIns="0" rIns="0" bIns="0" rtlCol="0" anchor="ctr">
            <a:normAutofit/>
          </a:bodyPr>
          <a:lstStyle/>
          <a:p>
            <a:pPr indent="0" marL="0">
              <a:buNone/>
            </a:pPr>
            <a:r>
              <a:rPr lang="en-US" sz="750" b="1" spc="55" kern="0" dirty="0">
                <a:solidFill>
                  <a:srgbClr val="16827E"/>
                </a:solidFill>
                <a:latin typeface="Aptos" pitchFamily="34" charset="0"/>
                <a:ea typeface="Aptos" pitchFamily="34" charset="-122"/>
                <a:cs typeface="Aptos" pitchFamily="34" charset="-120"/>
              </a:rPr>
              <a:t>UNSAFE COPY DENIED</a:t>
            </a:r>
            <a:endParaRPr lang="en-US" sz="750" dirty="0"/>
          </a:p>
        </p:txBody>
      </p:sp>
      <p:sp>
        <p:nvSpPr>
          <p:cNvPr id="27" name="Text 25"/>
          <p:cNvSpPr/>
          <p:nvPr/>
        </p:nvSpPr>
        <p:spPr>
          <a:xfrm>
            <a:off x="8284464" y="3547872"/>
            <a:ext cx="2423160" cy="292608"/>
          </a:xfrm>
          <a:prstGeom prst="rect">
            <a:avLst/>
          </a:prstGeom>
          <a:noFill/>
          <a:ln/>
        </p:spPr>
        <p:txBody>
          <a:bodyPr wrap="square" lIns="0" tIns="0" rIns="0" bIns="0" rtlCol="0" anchor="ctr">
            <a:normAutofit/>
          </a:bodyPr>
          <a:lstStyle/>
          <a:p>
            <a:pPr indent="0" marL="0">
              <a:buNone/>
            </a:pPr>
            <a:r>
              <a:rPr lang="en-US" sz="1900" b="1" dirty="0">
                <a:solidFill>
                  <a:srgbClr val="142C43"/>
                </a:solidFill>
                <a:latin typeface="Aptos Display" pitchFamily="34" charset="0"/>
                <a:ea typeface="Aptos Display" pitchFamily="34" charset="-122"/>
                <a:cs typeface="Aptos Display" pitchFamily="34" charset="-120"/>
              </a:rPr>
              <a:t>2/2 · 100%</a:t>
            </a:r>
            <a:endParaRPr lang="en-US" sz="1900" dirty="0"/>
          </a:p>
        </p:txBody>
      </p:sp>
      <p:sp>
        <p:nvSpPr>
          <p:cNvPr id="28" name="Text 26"/>
          <p:cNvSpPr/>
          <p:nvPr/>
        </p:nvSpPr>
        <p:spPr>
          <a:xfrm>
            <a:off x="8284464" y="3922776"/>
            <a:ext cx="2880360" cy="146304"/>
          </a:xfrm>
          <a:prstGeom prst="rect">
            <a:avLst/>
          </a:prstGeom>
          <a:noFill/>
          <a:ln/>
        </p:spPr>
        <p:txBody>
          <a:bodyPr wrap="square" lIns="0" tIns="0" rIns="0" bIns="0" rtlCol="0" anchor="ctr">
            <a:normAutofit/>
          </a:bodyPr>
          <a:lstStyle/>
          <a:p>
            <a:pPr indent="0" marL="0">
              <a:buNone/>
            </a:pPr>
            <a:r>
              <a:rPr lang="en-US" sz="800" dirty="0">
                <a:solidFill>
                  <a:srgbClr val="718692"/>
                </a:solidFill>
                <a:latin typeface="Aptos" pitchFamily="34" charset="0"/>
                <a:ea typeface="Aptos" pitchFamily="34" charset="-122"/>
                <a:cs typeface="Aptos" pitchFamily="34" charset="-120"/>
              </a:rPr>
              <a:t>pending or untrusted</a:t>
            </a:r>
            <a:endParaRPr lang="en-US" sz="800" dirty="0"/>
          </a:p>
        </p:txBody>
      </p:sp>
      <p:sp>
        <p:nvSpPr>
          <p:cNvPr id="29" name="Shape 27"/>
          <p:cNvSpPr/>
          <p:nvPr/>
        </p:nvSpPr>
        <p:spPr>
          <a:xfrm>
            <a:off x="676656" y="4718304"/>
            <a:ext cx="10881360" cy="859536"/>
          </a:xfrm>
          <a:prstGeom prst="roundRect">
            <a:avLst>
              <a:gd name="adj" fmla="val 8511"/>
            </a:avLst>
          </a:prstGeom>
          <a:solidFill>
            <a:srgbClr val="FBF3E6"/>
          </a:solidFill>
          <a:ln w="10160">
            <a:solidFill>
              <a:srgbClr val="EEDFC3"/>
            </a:solidFill>
            <a:prstDash val="solid"/>
          </a:ln>
        </p:spPr>
      </p:sp>
      <p:sp>
        <p:nvSpPr>
          <p:cNvPr id="30" name="Text 28"/>
          <p:cNvSpPr/>
          <p:nvPr/>
        </p:nvSpPr>
        <p:spPr>
          <a:xfrm>
            <a:off x="905256" y="4956048"/>
            <a:ext cx="1005840" cy="146304"/>
          </a:xfrm>
          <a:prstGeom prst="rect">
            <a:avLst/>
          </a:prstGeom>
          <a:noFill/>
          <a:ln/>
        </p:spPr>
        <p:txBody>
          <a:bodyPr wrap="square" lIns="0" tIns="0" rIns="0" bIns="0" rtlCol="0" anchor="ctr">
            <a:normAutofit/>
          </a:bodyPr>
          <a:lstStyle/>
          <a:p>
            <a:pPr indent="0" marL="0">
              <a:buNone/>
            </a:pPr>
            <a:r>
              <a:rPr lang="en-US" sz="800" b="1" spc="60" kern="0" dirty="0">
                <a:solidFill>
                  <a:srgbClr val="B7781E"/>
                </a:solidFill>
                <a:latin typeface="Aptos" pitchFamily="34" charset="0"/>
                <a:ea typeface="Aptos" pitchFamily="34" charset="-122"/>
                <a:cs typeface="Aptos" pitchFamily="34" charset="-120"/>
              </a:rPr>
              <a:t>AI BASELINE</a:t>
            </a:r>
            <a:endParaRPr lang="en-US" sz="800" dirty="0"/>
          </a:p>
        </p:txBody>
      </p:sp>
      <p:sp>
        <p:nvSpPr>
          <p:cNvPr id="31" name="Text 29"/>
          <p:cNvSpPr/>
          <p:nvPr/>
        </p:nvSpPr>
        <p:spPr>
          <a:xfrm>
            <a:off x="2048256" y="4882896"/>
            <a:ext cx="9070848" cy="292608"/>
          </a:xfrm>
          <a:prstGeom prst="rect">
            <a:avLst/>
          </a:prstGeom>
          <a:noFill/>
          <a:ln/>
        </p:spPr>
        <p:txBody>
          <a:bodyPr wrap="square" lIns="0" tIns="0" rIns="0" bIns="0" rtlCol="0" anchor="ctr">
            <a:normAutofit/>
          </a:bodyPr>
          <a:lstStyle/>
          <a:p>
            <a:pPr indent="0" marL="0">
              <a:buNone/>
            </a:pPr>
            <a:r>
              <a:rPr lang="en-US" sz="1000" b="1" dirty="0">
                <a:solidFill>
                  <a:srgbClr val="203B50"/>
                </a:solidFill>
                <a:latin typeface="Aptos" pitchFamily="34" charset="0"/>
                <a:ea typeface="Aptos" pitchFamily="34" charset="-122"/>
                <a:cs typeface="Aptos" pitchFamily="34" charset="-120"/>
              </a:rPr>
              <a:t>Fallback actions match rule-only baseline · evidence/action IDs constrained · local model accuracy not run</a:t>
            </a:r>
            <a:endParaRPr lang="en-US" sz="1000" dirty="0"/>
          </a:p>
        </p:txBody>
      </p:sp>
      <p:sp>
        <p:nvSpPr>
          <p:cNvPr id="32" name="Text 30"/>
          <p:cNvSpPr/>
          <p:nvPr/>
        </p:nvSpPr>
        <p:spPr>
          <a:xfrm>
            <a:off x="868680" y="5879592"/>
            <a:ext cx="10424160" cy="182880"/>
          </a:xfrm>
          <a:prstGeom prst="rect">
            <a:avLst/>
          </a:prstGeom>
          <a:noFill/>
          <a:ln/>
        </p:spPr>
        <p:txBody>
          <a:bodyPr wrap="square" lIns="0" tIns="0" rIns="0" bIns="0" rtlCol="0" anchor="ctr">
            <a:normAutofit/>
          </a:bodyPr>
          <a:lstStyle/>
          <a:p>
            <a:pPr algn="ctr" indent="0" marL="0">
              <a:buNone/>
            </a:pPr>
            <a:r>
              <a:rPr lang="en-US" sz="800" dirty="0">
                <a:solidFill>
                  <a:srgbClr val="718692"/>
                </a:solidFill>
                <a:latin typeface="Aptos" pitchFamily="34" charset="0"/>
                <a:ea typeface="Aptos" pitchFamily="34" charset="-122"/>
                <a:cs typeface="Aptos" pitchFamily="34" charset="-120"/>
              </a:rPr>
              <a:t>npm audit: 0 findings after image-size override  ·  pip-audit: 0 findings  ·  synthetic only</a:t>
            </a:r>
            <a:endParaRPr lang="en-US" sz="800" dirty="0"/>
          </a:p>
        </p:txBody>
      </p:sp>
      <p:sp>
        <p:nvSpPr>
          <p:cNvPr id="25" name="Slide Number Placeholder 0"/>
          <p:cNvSpPr>
            <a:spLocks noGrp="1"/>
          </p:cNvSpPr>
          <p:nvPr>
            <p:ph type="sldNum" sz="quarter" idx="4294967295"/>
          </p:nvPr>
        </p:nvSpPr>
        <p:spPr>
          <a:xfrm>
            <a:off x="11740896" y="6547104"/>
            <a:ext cx="228600" cy="146304"/>
          </a:xfrm>
          <a:prstGeom prst="rect">
            <a:avLst/>
          </a:prstGeom>
          <a:extLst>
            <a:ext uri="{C572A759-6A51-4108-AA02-DFA0A04FC94B}">
              <ma14:wrappingTextBoxFlag xmlns:ma14="http://schemas.microsoft.com/office/mac/drawingml/2011/main" val="0"/>
            </a:ext>
          </a:extLst>
        </p:spPr>
        <p:txBody>
          <a:bodyPr/>
          <a:lstStyle>
            <a:lvl1pPr>
              <a:defRPr sz="700">
                <a:solidFill>
                  <a:srgbClr val="80929D"/>
                </a:solidFill>
                <a:latin typeface="Aptos"/>
                <a:ea typeface="Aptos"/>
                <a:cs typeface="Aptos"/>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84048"/>
            <a:ext cx="10881360" cy="164592"/>
          </a:xfrm>
          <a:prstGeom prst="rect">
            <a:avLst/>
          </a:prstGeom>
          <a:noFill/>
          <a:ln/>
        </p:spPr>
        <p:txBody>
          <a:bodyPr wrap="square" lIns="0" tIns="0" rIns="0" bIns="0" rtlCol="0" anchor="ctr">
            <a:normAutofit/>
          </a:bodyPr>
          <a:lstStyle/>
          <a:p>
            <a:pPr indent="0" marL="0">
              <a:buNone/>
            </a:pPr>
            <a:r>
              <a:rPr lang="en-US" sz="800" b="1" spc="160" kern="0" dirty="0">
                <a:solidFill>
                  <a:srgbClr val="16827E"/>
                </a:solidFill>
                <a:latin typeface="Aptos" pitchFamily="34" charset="0"/>
                <a:ea typeface="Aptos" pitchFamily="34" charset="-122"/>
                <a:cs typeface="Aptos" pitchFamily="34" charset="-120"/>
              </a:rPr>
              <a:t>COMMERCIAL MODEL</a:t>
            </a:r>
            <a:endParaRPr lang="en-US" sz="800" dirty="0"/>
          </a:p>
        </p:txBody>
      </p:sp>
      <p:sp>
        <p:nvSpPr>
          <p:cNvPr id="3" name="Text 1"/>
          <p:cNvSpPr/>
          <p:nvPr/>
        </p:nvSpPr>
        <p:spPr>
          <a:xfrm>
            <a:off x="566928" y="694944"/>
            <a:ext cx="10972800" cy="438912"/>
          </a:xfrm>
          <a:prstGeom prst="rect">
            <a:avLst/>
          </a:prstGeom>
          <a:noFill/>
          <a:ln/>
        </p:spPr>
        <p:txBody>
          <a:bodyPr wrap="square" lIns="0" tIns="0" rIns="0" bIns="0" rtlCol="0" anchor="ctr">
            <a:normAutofit/>
          </a:bodyPr>
          <a:lstStyle/>
          <a:p>
            <a:pPr indent="0" marL="0">
              <a:buNone/>
            </a:pPr>
            <a:r>
              <a:rPr lang="en-US" sz="2500" b="1" spc="-60" kern="0" dirty="0">
                <a:solidFill>
                  <a:srgbClr val="142C43"/>
                </a:solidFill>
                <a:latin typeface="Aptos Display" pitchFamily="34" charset="0"/>
                <a:ea typeface="Aptos Display" pitchFamily="34" charset="-122"/>
                <a:cs typeface="Aptos Display" pitchFamily="34" charset="-120"/>
              </a:rPr>
              <a:t>Services-led pilots can fund a recurring assurance layer</a:t>
            </a:r>
            <a:endParaRPr lang="en-US" sz="2500" dirty="0"/>
          </a:p>
        </p:txBody>
      </p:sp>
      <p:sp>
        <p:nvSpPr>
          <p:cNvPr id="4" name="Text 2"/>
          <p:cNvSpPr/>
          <p:nvPr/>
        </p:nvSpPr>
        <p:spPr>
          <a:xfrm>
            <a:off x="585216" y="1216152"/>
            <a:ext cx="10972800" cy="256032"/>
          </a:xfrm>
          <a:prstGeom prst="rect">
            <a:avLst/>
          </a:prstGeom>
          <a:noFill/>
          <a:ln/>
        </p:spPr>
        <p:txBody>
          <a:bodyPr wrap="square" lIns="0" tIns="0" rIns="0" bIns="0" rtlCol="0" anchor="ctr">
            <a:normAutofit/>
          </a:bodyPr>
          <a:lstStyle/>
          <a:p>
            <a:pPr indent="0" marL="0">
              <a:buNone/>
            </a:pPr>
            <a:r>
              <a:rPr lang="en-US" sz="1000" dirty="0">
                <a:solidFill>
                  <a:srgbClr val="718692"/>
                </a:solidFill>
                <a:latin typeface="Aptos" pitchFamily="34" charset="0"/>
                <a:ea typeface="Aptos" pitchFamily="34" charset="-122"/>
                <a:cs typeface="Aptos" pitchFamily="34" charset="-120"/>
              </a:rPr>
              <a:t>Illustrative first-year planning model · all figures are assumptions, not market pricing.</a:t>
            </a:r>
            <a:endParaRPr lang="en-US" sz="1000" dirty="0"/>
          </a:p>
        </p:txBody>
      </p:sp>
      <p:sp>
        <p:nvSpPr>
          <p:cNvPr id="5" name="Shape 3"/>
          <p:cNvSpPr/>
          <p:nvPr/>
        </p:nvSpPr>
        <p:spPr>
          <a:xfrm>
            <a:off x="676656" y="1828800"/>
            <a:ext cx="2377440" cy="420624"/>
          </a:xfrm>
          <a:prstGeom prst="rect">
            <a:avLst>
              <a:gd name="adj" fmla="val 17391"/>
            </a:avLst>
          </a:prstGeom>
          <a:solidFill>
            <a:srgbClr val="142C43"/>
          </a:solidFill>
          <a:ln w="10160">
            <a:solidFill>
              <a:srgbClr val="142C43"/>
            </a:solidFill>
            <a:prstDash val="solid"/>
          </a:ln>
        </p:spPr>
      </p:sp>
      <p:sp>
        <p:nvSpPr>
          <p:cNvPr id="6" name="Text 4"/>
          <p:cNvSpPr/>
          <p:nvPr/>
        </p:nvSpPr>
        <p:spPr>
          <a:xfrm>
            <a:off x="731520" y="1965960"/>
            <a:ext cx="2267712" cy="118872"/>
          </a:xfrm>
          <a:prstGeom prst="rect">
            <a:avLst/>
          </a:prstGeom>
          <a:noFill/>
          <a:ln/>
        </p:spPr>
        <p:txBody>
          <a:bodyPr wrap="square" lIns="0" tIns="0" rIns="0" bIns="0" rtlCol="0" anchor="ctr">
            <a:normAutofit/>
          </a:bodyPr>
          <a:lstStyle/>
          <a:p>
            <a:pPr algn="l" indent="0" marL="0">
              <a:buNone/>
            </a:pPr>
            <a:r>
              <a:rPr lang="en-US" sz="700" b="1" spc="45" kern="0" dirty="0">
                <a:solidFill>
                  <a:srgbClr val="C5D7DE"/>
                </a:solidFill>
                <a:latin typeface="Aptos" pitchFamily="34" charset="0"/>
                <a:ea typeface="Aptos" pitchFamily="34" charset="-122"/>
                <a:cs typeface="Aptos" pitchFamily="34" charset="-120"/>
              </a:rPr>
              <a:t>CUSTOMERS</a:t>
            </a:r>
            <a:endParaRPr lang="en-US" sz="700" dirty="0"/>
          </a:p>
        </p:txBody>
      </p:sp>
      <p:sp>
        <p:nvSpPr>
          <p:cNvPr id="7" name="Shape 5"/>
          <p:cNvSpPr/>
          <p:nvPr/>
        </p:nvSpPr>
        <p:spPr>
          <a:xfrm>
            <a:off x="3054096" y="1828800"/>
            <a:ext cx="2057400" cy="420624"/>
          </a:xfrm>
          <a:prstGeom prst="rect">
            <a:avLst>
              <a:gd name="adj" fmla="val 17391"/>
            </a:avLst>
          </a:prstGeom>
          <a:solidFill>
            <a:srgbClr val="142C43"/>
          </a:solidFill>
          <a:ln w="10160">
            <a:solidFill>
              <a:srgbClr val="142C43"/>
            </a:solidFill>
            <a:prstDash val="solid"/>
          </a:ln>
        </p:spPr>
      </p:sp>
      <p:sp>
        <p:nvSpPr>
          <p:cNvPr id="8" name="Text 6"/>
          <p:cNvSpPr/>
          <p:nvPr/>
        </p:nvSpPr>
        <p:spPr>
          <a:xfrm>
            <a:off x="3108960" y="1965960"/>
            <a:ext cx="1947672" cy="118872"/>
          </a:xfrm>
          <a:prstGeom prst="rect">
            <a:avLst/>
          </a:prstGeom>
          <a:noFill/>
          <a:ln/>
        </p:spPr>
        <p:txBody>
          <a:bodyPr wrap="square" lIns="0" tIns="0" rIns="0" bIns="0" rtlCol="0" anchor="ctr">
            <a:normAutofit/>
          </a:bodyPr>
          <a:lstStyle/>
          <a:p>
            <a:pPr algn="r" indent="0" marL="0">
              <a:buNone/>
            </a:pPr>
            <a:r>
              <a:rPr lang="en-US" sz="700" b="1" spc="45" kern="0" dirty="0">
                <a:solidFill>
                  <a:srgbClr val="C5D7DE"/>
                </a:solidFill>
                <a:latin typeface="Aptos" pitchFamily="34" charset="0"/>
                <a:ea typeface="Aptos" pitchFamily="34" charset="-122"/>
                <a:cs typeface="Aptos" pitchFamily="34" charset="-120"/>
              </a:rPr>
              <a:t>REVENUE</a:t>
            </a:r>
            <a:endParaRPr lang="en-US" sz="700" dirty="0"/>
          </a:p>
        </p:txBody>
      </p:sp>
      <p:sp>
        <p:nvSpPr>
          <p:cNvPr id="9" name="Shape 7"/>
          <p:cNvSpPr/>
          <p:nvPr/>
        </p:nvSpPr>
        <p:spPr>
          <a:xfrm>
            <a:off x="5111496" y="1828800"/>
            <a:ext cx="2057400" cy="420624"/>
          </a:xfrm>
          <a:prstGeom prst="rect">
            <a:avLst>
              <a:gd name="adj" fmla="val 17391"/>
            </a:avLst>
          </a:prstGeom>
          <a:solidFill>
            <a:srgbClr val="142C43"/>
          </a:solidFill>
          <a:ln w="10160">
            <a:solidFill>
              <a:srgbClr val="142C43"/>
            </a:solidFill>
            <a:prstDash val="solid"/>
          </a:ln>
        </p:spPr>
      </p:sp>
      <p:sp>
        <p:nvSpPr>
          <p:cNvPr id="10" name="Text 8"/>
          <p:cNvSpPr/>
          <p:nvPr/>
        </p:nvSpPr>
        <p:spPr>
          <a:xfrm>
            <a:off x="5166360" y="1965960"/>
            <a:ext cx="1947672" cy="118872"/>
          </a:xfrm>
          <a:prstGeom prst="rect">
            <a:avLst/>
          </a:prstGeom>
          <a:noFill/>
          <a:ln/>
        </p:spPr>
        <p:txBody>
          <a:bodyPr wrap="square" lIns="0" tIns="0" rIns="0" bIns="0" rtlCol="0" anchor="ctr">
            <a:normAutofit/>
          </a:bodyPr>
          <a:lstStyle/>
          <a:p>
            <a:pPr algn="r" indent="0" marL="0">
              <a:buNone/>
            </a:pPr>
            <a:r>
              <a:rPr lang="en-US" sz="700" b="1" spc="45" kern="0" dirty="0">
                <a:solidFill>
                  <a:srgbClr val="C5D7DE"/>
                </a:solidFill>
                <a:latin typeface="Aptos" pitchFamily="34" charset="0"/>
                <a:ea typeface="Aptos" pitchFamily="34" charset="-122"/>
                <a:cs typeface="Aptos" pitchFamily="34" charset="-120"/>
              </a:rPr>
              <a:t>DIRECT COST</a:t>
            </a:r>
            <a:endParaRPr lang="en-US" sz="700" dirty="0"/>
          </a:p>
        </p:txBody>
      </p:sp>
      <p:sp>
        <p:nvSpPr>
          <p:cNvPr id="11" name="Shape 9"/>
          <p:cNvSpPr/>
          <p:nvPr/>
        </p:nvSpPr>
        <p:spPr>
          <a:xfrm>
            <a:off x="7168896" y="1828800"/>
            <a:ext cx="2057400" cy="420624"/>
          </a:xfrm>
          <a:prstGeom prst="rect">
            <a:avLst>
              <a:gd name="adj" fmla="val 17391"/>
            </a:avLst>
          </a:prstGeom>
          <a:solidFill>
            <a:srgbClr val="142C43"/>
          </a:solidFill>
          <a:ln w="10160">
            <a:solidFill>
              <a:srgbClr val="142C43"/>
            </a:solidFill>
            <a:prstDash val="solid"/>
          </a:ln>
        </p:spPr>
      </p:sp>
      <p:sp>
        <p:nvSpPr>
          <p:cNvPr id="12" name="Text 10"/>
          <p:cNvSpPr/>
          <p:nvPr/>
        </p:nvSpPr>
        <p:spPr>
          <a:xfrm>
            <a:off x="7223760" y="1965960"/>
            <a:ext cx="1947672" cy="118872"/>
          </a:xfrm>
          <a:prstGeom prst="rect">
            <a:avLst/>
          </a:prstGeom>
          <a:noFill/>
          <a:ln/>
        </p:spPr>
        <p:txBody>
          <a:bodyPr wrap="square" lIns="0" tIns="0" rIns="0" bIns="0" rtlCol="0" anchor="ctr">
            <a:normAutofit/>
          </a:bodyPr>
          <a:lstStyle/>
          <a:p>
            <a:pPr algn="r" indent="0" marL="0">
              <a:buNone/>
            </a:pPr>
            <a:r>
              <a:rPr lang="en-US" sz="700" b="1" spc="45" kern="0" dirty="0">
                <a:solidFill>
                  <a:srgbClr val="C5D7DE"/>
                </a:solidFill>
                <a:latin typeface="Aptos" pitchFamily="34" charset="0"/>
                <a:ea typeface="Aptos" pitchFamily="34" charset="-122"/>
                <a:cs typeface="Aptos" pitchFamily="34" charset="-120"/>
              </a:rPr>
              <a:t>GROSS PROFIT*</a:t>
            </a:r>
            <a:endParaRPr lang="en-US" sz="700" dirty="0"/>
          </a:p>
        </p:txBody>
      </p:sp>
      <p:sp>
        <p:nvSpPr>
          <p:cNvPr id="13" name="Shape 11"/>
          <p:cNvSpPr/>
          <p:nvPr/>
        </p:nvSpPr>
        <p:spPr>
          <a:xfrm>
            <a:off x="9226296" y="1828800"/>
            <a:ext cx="2057400" cy="420624"/>
          </a:xfrm>
          <a:prstGeom prst="rect">
            <a:avLst>
              <a:gd name="adj" fmla="val 17391"/>
            </a:avLst>
          </a:prstGeom>
          <a:solidFill>
            <a:srgbClr val="142C43"/>
          </a:solidFill>
          <a:ln w="10160">
            <a:solidFill>
              <a:srgbClr val="142C43"/>
            </a:solidFill>
            <a:prstDash val="solid"/>
          </a:ln>
        </p:spPr>
      </p:sp>
      <p:sp>
        <p:nvSpPr>
          <p:cNvPr id="14" name="Text 12"/>
          <p:cNvSpPr/>
          <p:nvPr/>
        </p:nvSpPr>
        <p:spPr>
          <a:xfrm>
            <a:off x="9281160" y="1965960"/>
            <a:ext cx="1947672" cy="118872"/>
          </a:xfrm>
          <a:prstGeom prst="rect">
            <a:avLst/>
          </a:prstGeom>
          <a:noFill/>
          <a:ln/>
        </p:spPr>
        <p:txBody>
          <a:bodyPr wrap="square" lIns="0" tIns="0" rIns="0" bIns="0" rtlCol="0" anchor="ctr">
            <a:normAutofit/>
          </a:bodyPr>
          <a:lstStyle/>
          <a:p>
            <a:pPr algn="r" indent="0" marL="0">
              <a:buNone/>
            </a:pPr>
            <a:r>
              <a:rPr lang="en-US" sz="700" b="1" spc="45" kern="0" dirty="0">
                <a:solidFill>
                  <a:srgbClr val="C5D7DE"/>
                </a:solidFill>
                <a:latin typeface="Aptos" pitchFamily="34" charset="0"/>
                <a:ea typeface="Aptos" pitchFamily="34" charset="-122"/>
                <a:cs typeface="Aptos" pitchFamily="34" charset="-120"/>
              </a:rPr>
              <a:t>NET RESULT*</a:t>
            </a:r>
            <a:endParaRPr lang="en-US" sz="700" dirty="0"/>
          </a:p>
        </p:txBody>
      </p:sp>
      <p:sp>
        <p:nvSpPr>
          <p:cNvPr id="15" name="Shape 13"/>
          <p:cNvSpPr/>
          <p:nvPr/>
        </p:nvSpPr>
        <p:spPr>
          <a:xfrm>
            <a:off x="676656" y="2258568"/>
            <a:ext cx="2377440" cy="484632"/>
          </a:xfrm>
          <a:prstGeom prst="rect">
            <a:avLst>
              <a:gd name="adj" fmla="val 15094"/>
            </a:avLst>
          </a:prstGeom>
          <a:solidFill>
            <a:srgbClr val="FFFFFF"/>
          </a:solidFill>
          <a:ln w="10160">
            <a:solidFill>
              <a:srgbClr val="DCE6E9"/>
            </a:solidFill>
            <a:prstDash val="solid"/>
          </a:ln>
        </p:spPr>
      </p:sp>
      <p:sp>
        <p:nvSpPr>
          <p:cNvPr id="16" name="Text 14"/>
          <p:cNvSpPr/>
          <p:nvPr/>
        </p:nvSpPr>
        <p:spPr>
          <a:xfrm>
            <a:off x="740664" y="2404872"/>
            <a:ext cx="2249424" cy="155448"/>
          </a:xfrm>
          <a:prstGeom prst="rect">
            <a:avLst/>
          </a:prstGeom>
          <a:noFill/>
          <a:ln/>
        </p:spPr>
        <p:txBody>
          <a:bodyPr wrap="square" lIns="0" tIns="0" rIns="0" bIns="0" rtlCol="0" anchor="ctr">
            <a:normAutofit/>
          </a:bodyPr>
          <a:lstStyle/>
          <a:p>
            <a:pPr algn="l" indent="0" marL="0">
              <a:buNone/>
            </a:pPr>
            <a:r>
              <a:rPr lang="en-US" sz="1100" b="1" dirty="0">
                <a:solidFill>
                  <a:srgbClr val="142C43"/>
                </a:solidFill>
                <a:latin typeface="Aptos" pitchFamily="34" charset="0"/>
                <a:ea typeface="Aptos" pitchFamily="34" charset="-122"/>
                <a:cs typeface="Aptos" pitchFamily="34" charset="-120"/>
              </a:rPr>
              <a:t>1</a:t>
            </a:r>
            <a:endParaRPr lang="en-US" sz="1100" dirty="0"/>
          </a:p>
        </p:txBody>
      </p:sp>
      <p:sp>
        <p:nvSpPr>
          <p:cNvPr id="17" name="Shape 15"/>
          <p:cNvSpPr/>
          <p:nvPr/>
        </p:nvSpPr>
        <p:spPr>
          <a:xfrm>
            <a:off x="3054096" y="2258568"/>
            <a:ext cx="2057400" cy="484632"/>
          </a:xfrm>
          <a:prstGeom prst="rect">
            <a:avLst>
              <a:gd name="adj" fmla="val 15094"/>
            </a:avLst>
          </a:prstGeom>
          <a:solidFill>
            <a:srgbClr val="FFFFFF"/>
          </a:solidFill>
          <a:ln w="10160">
            <a:solidFill>
              <a:srgbClr val="DCE6E9"/>
            </a:solidFill>
            <a:prstDash val="solid"/>
          </a:ln>
        </p:spPr>
      </p:sp>
      <p:sp>
        <p:nvSpPr>
          <p:cNvPr id="18" name="Text 16"/>
          <p:cNvSpPr/>
          <p:nvPr/>
        </p:nvSpPr>
        <p:spPr>
          <a:xfrm>
            <a:off x="3118104" y="2404872"/>
            <a:ext cx="1929384" cy="155448"/>
          </a:xfrm>
          <a:prstGeom prst="rect">
            <a:avLst/>
          </a:prstGeom>
          <a:noFill/>
          <a:ln/>
        </p:spPr>
        <p:txBody>
          <a:bodyPr wrap="square" lIns="0" tIns="0" rIns="0" bIns="0" rtlCol="0" anchor="ctr">
            <a:normAutofit/>
          </a:bodyPr>
          <a:lstStyle/>
          <a:p>
            <a:pPr algn="r" indent="0" marL="0">
              <a:buNone/>
            </a:pPr>
            <a:r>
              <a:rPr lang="en-US" sz="1100" dirty="0">
                <a:solidFill>
                  <a:srgbClr val="142C43"/>
                </a:solidFill>
                <a:latin typeface="Aptos" pitchFamily="34" charset="0"/>
                <a:ea typeface="Aptos" pitchFamily="34" charset="-122"/>
                <a:cs typeface="Aptos" pitchFamily="34" charset="-120"/>
              </a:rPr>
              <a:t>$78k</a:t>
            </a:r>
            <a:endParaRPr lang="en-US" sz="1100" dirty="0"/>
          </a:p>
        </p:txBody>
      </p:sp>
      <p:sp>
        <p:nvSpPr>
          <p:cNvPr id="19" name="Shape 17"/>
          <p:cNvSpPr/>
          <p:nvPr/>
        </p:nvSpPr>
        <p:spPr>
          <a:xfrm>
            <a:off x="5111496" y="2258568"/>
            <a:ext cx="2057400" cy="484632"/>
          </a:xfrm>
          <a:prstGeom prst="rect">
            <a:avLst>
              <a:gd name="adj" fmla="val 15094"/>
            </a:avLst>
          </a:prstGeom>
          <a:solidFill>
            <a:srgbClr val="FFFFFF"/>
          </a:solidFill>
          <a:ln w="10160">
            <a:solidFill>
              <a:srgbClr val="DCE6E9"/>
            </a:solidFill>
            <a:prstDash val="solid"/>
          </a:ln>
        </p:spPr>
      </p:sp>
      <p:sp>
        <p:nvSpPr>
          <p:cNvPr id="20" name="Text 18"/>
          <p:cNvSpPr/>
          <p:nvPr/>
        </p:nvSpPr>
        <p:spPr>
          <a:xfrm>
            <a:off x="5175504" y="2404872"/>
            <a:ext cx="1929384" cy="155448"/>
          </a:xfrm>
          <a:prstGeom prst="rect">
            <a:avLst/>
          </a:prstGeom>
          <a:noFill/>
          <a:ln/>
        </p:spPr>
        <p:txBody>
          <a:bodyPr wrap="square" lIns="0" tIns="0" rIns="0" bIns="0" rtlCol="0" anchor="ctr">
            <a:normAutofit/>
          </a:bodyPr>
          <a:lstStyle/>
          <a:p>
            <a:pPr algn="r" indent="0" marL="0">
              <a:buNone/>
            </a:pPr>
            <a:r>
              <a:rPr lang="en-US" sz="1100" dirty="0">
                <a:solidFill>
                  <a:srgbClr val="142C43"/>
                </a:solidFill>
                <a:latin typeface="Aptos" pitchFamily="34" charset="0"/>
                <a:ea typeface="Aptos" pitchFamily="34" charset="-122"/>
                <a:cs typeface="Aptos" pitchFamily="34" charset="-120"/>
              </a:rPr>
              <a:t>$18k</a:t>
            </a:r>
            <a:endParaRPr lang="en-US" sz="1100" dirty="0"/>
          </a:p>
        </p:txBody>
      </p:sp>
      <p:sp>
        <p:nvSpPr>
          <p:cNvPr id="21" name="Shape 19"/>
          <p:cNvSpPr/>
          <p:nvPr/>
        </p:nvSpPr>
        <p:spPr>
          <a:xfrm>
            <a:off x="7168896" y="2258568"/>
            <a:ext cx="2057400" cy="484632"/>
          </a:xfrm>
          <a:prstGeom prst="rect">
            <a:avLst>
              <a:gd name="adj" fmla="val 15094"/>
            </a:avLst>
          </a:prstGeom>
          <a:solidFill>
            <a:srgbClr val="FFFFFF"/>
          </a:solidFill>
          <a:ln w="10160">
            <a:solidFill>
              <a:srgbClr val="DCE6E9"/>
            </a:solidFill>
            <a:prstDash val="solid"/>
          </a:ln>
        </p:spPr>
      </p:sp>
      <p:sp>
        <p:nvSpPr>
          <p:cNvPr id="22" name="Text 20"/>
          <p:cNvSpPr/>
          <p:nvPr/>
        </p:nvSpPr>
        <p:spPr>
          <a:xfrm>
            <a:off x="7232904" y="2404872"/>
            <a:ext cx="1929384" cy="155448"/>
          </a:xfrm>
          <a:prstGeom prst="rect">
            <a:avLst/>
          </a:prstGeom>
          <a:noFill/>
          <a:ln/>
        </p:spPr>
        <p:txBody>
          <a:bodyPr wrap="square" lIns="0" tIns="0" rIns="0" bIns="0" rtlCol="0" anchor="ctr">
            <a:normAutofit/>
          </a:bodyPr>
          <a:lstStyle/>
          <a:p>
            <a:pPr algn="r" indent="0" marL="0">
              <a:buNone/>
            </a:pPr>
            <a:r>
              <a:rPr lang="en-US" sz="1100" dirty="0">
                <a:solidFill>
                  <a:srgbClr val="142C43"/>
                </a:solidFill>
                <a:latin typeface="Aptos" pitchFamily="34" charset="0"/>
                <a:ea typeface="Aptos" pitchFamily="34" charset="-122"/>
                <a:cs typeface="Aptos" pitchFamily="34" charset="-120"/>
              </a:rPr>
              <a:t>$60k</a:t>
            </a:r>
            <a:endParaRPr lang="en-US" sz="1100" dirty="0"/>
          </a:p>
        </p:txBody>
      </p:sp>
      <p:sp>
        <p:nvSpPr>
          <p:cNvPr id="23" name="Shape 21"/>
          <p:cNvSpPr/>
          <p:nvPr/>
        </p:nvSpPr>
        <p:spPr>
          <a:xfrm>
            <a:off x="9226296" y="2258568"/>
            <a:ext cx="2057400" cy="484632"/>
          </a:xfrm>
          <a:prstGeom prst="rect">
            <a:avLst>
              <a:gd name="adj" fmla="val 15094"/>
            </a:avLst>
          </a:prstGeom>
          <a:solidFill>
            <a:srgbClr val="FFFFFF"/>
          </a:solidFill>
          <a:ln w="10160">
            <a:solidFill>
              <a:srgbClr val="DCE6E9"/>
            </a:solidFill>
            <a:prstDash val="solid"/>
          </a:ln>
        </p:spPr>
      </p:sp>
      <p:sp>
        <p:nvSpPr>
          <p:cNvPr id="24" name="Text 22"/>
          <p:cNvSpPr/>
          <p:nvPr/>
        </p:nvSpPr>
        <p:spPr>
          <a:xfrm>
            <a:off x="9290304" y="2404872"/>
            <a:ext cx="1929384" cy="155448"/>
          </a:xfrm>
          <a:prstGeom prst="rect">
            <a:avLst/>
          </a:prstGeom>
          <a:noFill/>
          <a:ln/>
        </p:spPr>
        <p:txBody>
          <a:bodyPr wrap="square" lIns="0" tIns="0" rIns="0" bIns="0" rtlCol="0" anchor="ctr">
            <a:normAutofit/>
          </a:bodyPr>
          <a:lstStyle/>
          <a:p>
            <a:pPr algn="r" indent="0" marL="0">
              <a:buNone/>
            </a:pPr>
            <a:r>
              <a:rPr lang="en-US" sz="1100" b="1" dirty="0">
                <a:solidFill>
                  <a:srgbClr val="BF5851"/>
                </a:solidFill>
                <a:latin typeface="Aptos" pitchFamily="34" charset="0"/>
                <a:ea typeface="Aptos" pitchFamily="34" charset="-122"/>
                <a:cs typeface="Aptos" pitchFamily="34" charset="-120"/>
              </a:rPr>
              <a:t>-$200k</a:t>
            </a:r>
            <a:endParaRPr lang="en-US" sz="1100" dirty="0"/>
          </a:p>
        </p:txBody>
      </p:sp>
      <p:sp>
        <p:nvSpPr>
          <p:cNvPr id="25" name="Shape 23"/>
          <p:cNvSpPr/>
          <p:nvPr/>
        </p:nvSpPr>
        <p:spPr>
          <a:xfrm>
            <a:off x="676656" y="2752344"/>
            <a:ext cx="2377440" cy="484632"/>
          </a:xfrm>
          <a:prstGeom prst="rect">
            <a:avLst>
              <a:gd name="adj" fmla="val 15094"/>
            </a:avLst>
          </a:prstGeom>
          <a:solidFill>
            <a:srgbClr val="F0F5F7"/>
          </a:solidFill>
          <a:ln w="10160">
            <a:solidFill>
              <a:srgbClr val="DCE6E9"/>
            </a:solidFill>
            <a:prstDash val="solid"/>
          </a:ln>
        </p:spPr>
      </p:sp>
      <p:sp>
        <p:nvSpPr>
          <p:cNvPr id="26" name="Text 24"/>
          <p:cNvSpPr/>
          <p:nvPr/>
        </p:nvSpPr>
        <p:spPr>
          <a:xfrm>
            <a:off x="740664" y="2898648"/>
            <a:ext cx="2249424" cy="155448"/>
          </a:xfrm>
          <a:prstGeom prst="rect">
            <a:avLst/>
          </a:prstGeom>
          <a:noFill/>
          <a:ln/>
        </p:spPr>
        <p:txBody>
          <a:bodyPr wrap="square" lIns="0" tIns="0" rIns="0" bIns="0" rtlCol="0" anchor="ctr">
            <a:normAutofit/>
          </a:bodyPr>
          <a:lstStyle/>
          <a:p>
            <a:pPr algn="l" indent="0" marL="0">
              <a:buNone/>
            </a:pPr>
            <a:r>
              <a:rPr lang="en-US" sz="1100" b="1" dirty="0">
                <a:solidFill>
                  <a:srgbClr val="142C43"/>
                </a:solidFill>
                <a:latin typeface="Aptos" pitchFamily="34" charset="0"/>
                <a:ea typeface="Aptos" pitchFamily="34" charset="-122"/>
                <a:cs typeface="Aptos" pitchFamily="34" charset="-120"/>
              </a:rPr>
              <a:t>5</a:t>
            </a:r>
            <a:endParaRPr lang="en-US" sz="1100" dirty="0"/>
          </a:p>
        </p:txBody>
      </p:sp>
      <p:sp>
        <p:nvSpPr>
          <p:cNvPr id="27" name="Shape 25"/>
          <p:cNvSpPr/>
          <p:nvPr/>
        </p:nvSpPr>
        <p:spPr>
          <a:xfrm>
            <a:off x="3054096" y="2752344"/>
            <a:ext cx="2057400" cy="484632"/>
          </a:xfrm>
          <a:prstGeom prst="rect">
            <a:avLst>
              <a:gd name="adj" fmla="val 15094"/>
            </a:avLst>
          </a:prstGeom>
          <a:solidFill>
            <a:srgbClr val="F0F5F7"/>
          </a:solidFill>
          <a:ln w="10160">
            <a:solidFill>
              <a:srgbClr val="DCE6E9"/>
            </a:solidFill>
            <a:prstDash val="solid"/>
          </a:ln>
        </p:spPr>
      </p:sp>
      <p:sp>
        <p:nvSpPr>
          <p:cNvPr id="28" name="Text 26"/>
          <p:cNvSpPr/>
          <p:nvPr/>
        </p:nvSpPr>
        <p:spPr>
          <a:xfrm>
            <a:off x="3118104" y="2898648"/>
            <a:ext cx="1929384" cy="155448"/>
          </a:xfrm>
          <a:prstGeom prst="rect">
            <a:avLst/>
          </a:prstGeom>
          <a:noFill/>
          <a:ln/>
        </p:spPr>
        <p:txBody>
          <a:bodyPr wrap="square" lIns="0" tIns="0" rIns="0" bIns="0" rtlCol="0" anchor="ctr">
            <a:normAutofit/>
          </a:bodyPr>
          <a:lstStyle/>
          <a:p>
            <a:pPr algn="r" indent="0" marL="0">
              <a:buNone/>
            </a:pPr>
            <a:r>
              <a:rPr lang="en-US" sz="1100" dirty="0">
                <a:solidFill>
                  <a:srgbClr val="142C43"/>
                </a:solidFill>
                <a:latin typeface="Aptos" pitchFamily="34" charset="0"/>
                <a:ea typeface="Aptos" pitchFamily="34" charset="-122"/>
                <a:cs typeface="Aptos" pitchFamily="34" charset="-120"/>
              </a:rPr>
              <a:t>$390k</a:t>
            </a:r>
            <a:endParaRPr lang="en-US" sz="1100" dirty="0"/>
          </a:p>
        </p:txBody>
      </p:sp>
      <p:sp>
        <p:nvSpPr>
          <p:cNvPr id="29" name="Shape 27"/>
          <p:cNvSpPr/>
          <p:nvPr/>
        </p:nvSpPr>
        <p:spPr>
          <a:xfrm>
            <a:off x="5111496" y="2752344"/>
            <a:ext cx="2057400" cy="484632"/>
          </a:xfrm>
          <a:prstGeom prst="rect">
            <a:avLst>
              <a:gd name="adj" fmla="val 15094"/>
            </a:avLst>
          </a:prstGeom>
          <a:solidFill>
            <a:srgbClr val="F0F5F7"/>
          </a:solidFill>
          <a:ln w="10160">
            <a:solidFill>
              <a:srgbClr val="DCE6E9"/>
            </a:solidFill>
            <a:prstDash val="solid"/>
          </a:ln>
        </p:spPr>
      </p:sp>
      <p:sp>
        <p:nvSpPr>
          <p:cNvPr id="30" name="Text 28"/>
          <p:cNvSpPr/>
          <p:nvPr/>
        </p:nvSpPr>
        <p:spPr>
          <a:xfrm>
            <a:off x="5175504" y="2898648"/>
            <a:ext cx="1929384" cy="155448"/>
          </a:xfrm>
          <a:prstGeom prst="rect">
            <a:avLst/>
          </a:prstGeom>
          <a:noFill/>
          <a:ln/>
        </p:spPr>
        <p:txBody>
          <a:bodyPr wrap="square" lIns="0" tIns="0" rIns="0" bIns="0" rtlCol="0" anchor="ctr">
            <a:normAutofit/>
          </a:bodyPr>
          <a:lstStyle/>
          <a:p>
            <a:pPr algn="r" indent="0" marL="0">
              <a:buNone/>
            </a:pPr>
            <a:r>
              <a:rPr lang="en-US" sz="1100" dirty="0">
                <a:solidFill>
                  <a:srgbClr val="142C43"/>
                </a:solidFill>
                <a:latin typeface="Aptos" pitchFamily="34" charset="0"/>
                <a:ea typeface="Aptos" pitchFamily="34" charset="-122"/>
                <a:cs typeface="Aptos" pitchFamily="34" charset="-120"/>
              </a:rPr>
              <a:t>$90k</a:t>
            </a:r>
            <a:endParaRPr lang="en-US" sz="1100" dirty="0"/>
          </a:p>
        </p:txBody>
      </p:sp>
      <p:sp>
        <p:nvSpPr>
          <p:cNvPr id="31" name="Shape 29"/>
          <p:cNvSpPr/>
          <p:nvPr/>
        </p:nvSpPr>
        <p:spPr>
          <a:xfrm>
            <a:off x="7168896" y="2752344"/>
            <a:ext cx="2057400" cy="484632"/>
          </a:xfrm>
          <a:prstGeom prst="rect">
            <a:avLst>
              <a:gd name="adj" fmla="val 15094"/>
            </a:avLst>
          </a:prstGeom>
          <a:solidFill>
            <a:srgbClr val="F0F5F7"/>
          </a:solidFill>
          <a:ln w="10160">
            <a:solidFill>
              <a:srgbClr val="DCE6E9"/>
            </a:solidFill>
            <a:prstDash val="solid"/>
          </a:ln>
        </p:spPr>
      </p:sp>
      <p:sp>
        <p:nvSpPr>
          <p:cNvPr id="32" name="Text 30"/>
          <p:cNvSpPr/>
          <p:nvPr/>
        </p:nvSpPr>
        <p:spPr>
          <a:xfrm>
            <a:off x="7232904" y="2898648"/>
            <a:ext cx="1929384" cy="155448"/>
          </a:xfrm>
          <a:prstGeom prst="rect">
            <a:avLst/>
          </a:prstGeom>
          <a:noFill/>
          <a:ln/>
        </p:spPr>
        <p:txBody>
          <a:bodyPr wrap="square" lIns="0" tIns="0" rIns="0" bIns="0" rtlCol="0" anchor="ctr">
            <a:normAutofit/>
          </a:bodyPr>
          <a:lstStyle/>
          <a:p>
            <a:pPr algn="r" indent="0" marL="0">
              <a:buNone/>
            </a:pPr>
            <a:r>
              <a:rPr lang="en-US" sz="1100" dirty="0">
                <a:solidFill>
                  <a:srgbClr val="142C43"/>
                </a:solidFill>
                <a:latin typeface="Aptos" pitchFamily="34" charset="0"/>
                <a:ea typeface="Aptos" pitchFamily="34" charset="-122"/>
                <a:cs typeface="Aptos" pitchFamily="34" charset="-120"/>
              </a:rPr>
              <a:t>$300k</a:t>
            </a:r>
            <a:endParaRPr lang="en-US" sz="1100" dirty="0"/>
          </a:p>
        </p:txBody>
      </p:sp>
      <p:sp>
        <p:nvSpPr>
          <p:cNvPr id="33" name="Shape 31"/>
          <p:cNvSpPr/>
          <p:nvPr/>
        </p:nvSpPr>
        <p:spPr>
          <a:xfrm>
            <a:off x="9226296" y="2752344"/>
            <a:ext cx="2057400" cy="484632"/>
          </a:xfrm>
          <a:prstGeom prst="rect">
            <a:avLst>
              <a:gd name="adj" fmla="val 15094"/>
            </a:avLst>
          </a:prstGeom>
          <a:solidFill>
            <a:srgbClr val="F0F5F7"/>
          </a:solidFill>
          <a:ln w="10160">
            <a:solidFill>
              <a:srgbClr val="DCE6E9"/>
            </a:solidFill>
            <a:prstDash val="solid"/>
          </a:ln>
        </p:spPr>
      </p:sp>
      <p:sp>
        <p:nvSpPr>
          <p:cNvPr id="34" name="Text 32"/>
          <p:cNvSpPr/>
          <p:nvPr/>
        </p:nvSpPr>
        <p:spPr>
          <a:xfrm>
            <a:off x="9290304" y="2898648"/>
            <a:ext cx="1929384" cy="155448"/>
          </a:xfrm>
          <a:prstGeom prst="rect">
            <a:avLst/>
          </a:prstGeom>
          <a:noFill/>
          <a:ln/>
        </p:spPr>
        <p:txBody>
          <a:bodyPr wrap="square" lIns="0" tIns="0" rIns="0" bIns="0" rtlCol="0" anchor="ctr">
            <a:normAutofit/>
          </a:bodyPr>
          <a:lstStyle/>
          <a:p>
            <a:pPr algn="r" indent="0" marL="0">
              <a:buNone/>
            </a:pPr>
            <a:r>
              <a:rPr lang="en-US" sz="1100" b="1" dirty="0">
                <a:solidFill>
                  <a:srgbClr val="BF5851"/>
                </a:solidFill>
                <a:latin typeface="Aptos" pitchFamily="34" charset="0"/>
                <a:ea typeface="Aptos" pitchFamily="34" charset="-122"/>
                <a:cs typeface="Aptos" pitchFamily="34" charset="-120"/>
              </a:rPr>
              <a:t>-$60k</a:t>
            </a:r>
            <a:endParaRPr lang="en-US" sz="1100" dirty="0"/>
          </a:p>
        </p:txBody>
      </p:sp>
      <p:sp>
        <p:nvSpPr>
          <p:cNvPr id="35" name="Shape 33"/>
          <p:cNvSpPr/>
          <p:nvPr/>
        </p:nvSpPr>
        <p:spPr>
          <a:xfrm>
            <a:off x="676656" y="3246120"/>
            <a:ext cx="2377440" cy="484632"/>
          </a:xfrm>
          <a:prstGeom prst="rect">
            <a:avLst>
              <a:gd name="adj" fmla="val 15094"/>
            </a:avLst>
          </a:prstGeom>
          <a:solidFill>
            <a:srgbClr val="FFFFFF"/>
          </a:solidFill>
          <a:ln w="10160">
            <a:solidFill>
              <a:srgbClr val="DCE6E9"/>
            </a:solidFill>
            <a:prstDash val="solid"/>
          </a:ln>
        </p:spPr>
      </p:sp>
      <p:sp>
        <p:nvSpPr>
          <p:cNvPr id="36" name="Text 34"/>
          <p:cNvSpPr/>
          <p:nvPr/>
        </p:nvSpPr>
        <p:spPr>
          <a:xfrm>
            <a:off x="740664" y="3392424"/>
            <a:ext cx="2249424" cy="155448"/>
          </a:xfrm>
          <a:prstGeom prst="rect">
            <a:avLst/>
          </a:prstGeom>
          <a:noFill/>
          <a:ln/>
        </p:spPr>
        <p:txBody>
          <a:bodyPr wrap="square" lIns="0" tIns="0" rIns="0" bIns="0" rtlCol="0" anchor="ctr">
            <a:normAutofit/>
          </a:bodyPr>
          <a:lstStyle/>
          <a:p>
            <a:pPr algn="l" indent="0" marL="0">
              <a:buNone/>
            </a:pPr>
            <a:r>
              <a:rPr lang="en-US" sz="1100" b="1" dirty="0">
                <a:solidFill>
                  <a:srgbClr val="142C43"/>
                </a:solidFill>
                <a:latin typeface="Aptos" pitchFamily="34" charset="0"/>
                <a:ea typeface="Aptos" pitchFamily="34" charset="-122"/>
                <a:cs typeface="Aptos" pitchFamily="34" charset="-120"/>
              </a:rPr>
              <a:t>10</a:t>
            </a:r>
            <a:endParaRPr lang="en-US" sz="1100" dirty="0"/>
          </a:p>
        </p:txBody>
      </p:sp>
      <p:sp>
        <p:nvSpPr>
          <p:cNvPr id="37" name="Shape 35"/>
          <p:cNvSpPr/>
          <p:nvPr/>
        </p:nvSpPr>
        <p:spPr>
          <a:xfrm>
            <a:off x="3054096" y="3246120"/>
            <a:ext cx="2057400" cy="484632"/>
          </a:xfrm>
          <a:prstGeom prst="rect">
            <a:avLst>
              <a:gd name="adj" fmla="val 15094"/>
            </a:avLst>
          </a:prstGeom>
          <a:solidFill>
            <a:srgbClr val="FFFFFF"/>
          </a:solidFill>
          <a:ln w="10160">
            <a:solidFill>
              <a:srgbClr val="DCE6E9"/>
            </a:solidFill>
            <a:prstDash val="solid"/>
          </a:ln>
        </p:spPr>
      </p:sp>
      <p:sp>
        <p:nvSpPr>
          <p:cNvPr id="38" name="Text 36"/>
          <p:cNvSpPr/>
          <p:nvPr/>
        </p:nvSpPr>
        <p:spPr>
          <a:xfrm>
            <a:off x="3118104" y="3392424"/>
            <a:ext cx="1929384" cy="155448"/>
          </a:xfrm>
          <a:prstGeom prst="rect">
            <a:avLst/>
          </a:prstGeom>
          <a:noFill/>
          <a:ln/>
        </p:spPr>
        <p:txBody>
          <a:bodyPr wrap="square" lIns="0" tIns="0" rIns="0" bIns="0" rtlCol="0" anchor="ctr">
            <a:normAutofit/>
          </a:bodyPr>
          <a:lstStyle/>
          <a:p>
            <a:pPr algn="r" indent="0" marL="0">
              <a:buNone/>
            </a:pPr>
            <a:r>
              <a:rPr lang="en-US" sz="1100" dirty="0">
                <a:solidFill>
                  <a:srgbClr val="142C43"/>
                </a:solidFill>
                <a:latin typeface="Aptos" pitchFamily="34" charset="0"/>
                <a:ea typeface="Aptos" pitchFamily="34" charset="-122"/>
                <a:cs typeface="Aptos" pitchFamily="34" charset="-120"/>
              </a:rPr>
              <a:t>$780k</a:t>
            </a:r>
            <a:endParaRPr lang="en-US" sz="1100" dirty="0"/>
          </a:p>
        </p:txBody>
      </p:sp>
      <p:sp>
        <p:nvSpPr>
          <p:cNvPr id="39" name="Shape 37"/>
          <p:cNvSpPr/>
          <p:nvPr/>
        </p:nvSpPr>
        <p:spPr>
          <a:xfrm>
            <a:off x="5111496" y="3246120"/>
            <a:ext cx="2057400" cy="484632"/>
          </a:xfrm>
          <a:prstGeom prst="rect">
            <a:avLst>
              <a:gd name="adj" fmla="val 15094"/>
            </a:avLst>
          </a:prstGeom>
          <a:solidFill>
            <a:srgbClr val="FFFFFF"/>
          </a:solidFill>
          <a:ln w="10160">
            <a:solidFill>
              <a:srgbClr val="DCE6E9"/>
            </a:solidFill>
            <a:prstDash val="solid"/>
          </a:ln>
        </p:spPr>
      </p:sp>
      <p:sp>
        <p:nvSpPr>
          <p:cNvPr id="40" name="Text 38"/>
          <p:cNvSpPr/>
          <p:nvPr/>
        </p:nvSpPr>
        <p:spPr>
          <a:xfrm>
            <a:off x="5175504" y="3392424"/>
            <a:ext cx="1929384" cy="155448"/>
          </a:xfrm>
          <a:prstGeom prst="rect">
            <a:avLst/>
          </a:prstGeom>
          <a:noFill/>
          <a:ln/>
        </p:spPr>
        <p:txBody>
          <a:bodyPr wrap="square" lIns="0" tIns="0" rIns="0" bIns="0" rtlCol="0" anchor="ctr">
            <a:normAutofit/>
          </a:bodyPr>
          <a:lstStyle/>
          <a:p>
            <a:pPr algn="r" indent="0" marL="0">
              <a:buNone/>
            </a:pPr>
            <a:r>
              <a:rPr lang="en-US" sz="1100" dirty="0">
                <a:solidFill>
                  <a:srgbClr val="142C43"/>
                </a:solidFill>
                <a:latin typeface="Aptos" pitchFamily="34" charset="0"/>
                <a:ea typeface="Aptos" pitchFamily="34" charset="-122"/>
                <a:cs typeface="Aptos" pitchFamily="34" charset="-120"/>
              </a:rPr>
              <a:t>$180k</a:t>
            </a:r>
            <a:endParaRPr lang="en-US" sz="1100" dirty="0"/>
          </a:p>
        </p:txBody>
      </p:sp>
      <p:sp>
        <p:nvSpPr>
          <p:cNvPr id="41" name="Shape 39"/>
          <p:cNvSpPr/>
          <p:nvPr/>
        </p:nvSpPr>
        <p:spPr>
          <a:xfrm>
            <a:off x="7168896" y="3246120"/>
            <a:ext cx="2057400" cy="484632"/>
          </a:xfrm>
          <a:prstGeom prst="rect">
            <a:avLst>
              <a:gd name="adj" fmla="val 15094"/>
            </a:avLst>
          </a:prstGeom>
          <a:solidFill>
            <a:srgbClr val="FFFFFF"/>
          </a:solidFill>
          <a:ln w="10160">
            <a:solidFill>
              <a:srgbClr val="DCE6E9"/>
            </a:solidFill>
            <a:prstDash val="solid"/>
          </a:ln>
        </p:spPr>
      </p:sp>
      <p:sp>
        <p:nvSpPr>
          <p:cNvPr id="42" name="Text 40"/>
          <p:cNvSpPr/>
          <p:nvPr/>
        </p:nvSpPr>
        <p:spPr>
          <a:xfrm>
            <a:off x="7232904" y="3392424"/>
            <a:ext cx="1929384" cy="155448"/>
          </a:xfrm>
          <a:prstGeom prst="rect">
            <a:avLst/>
          </a:prstGeom>
          <a:noFill/>
          <a:ln/>
        </p:spPr>
        <p:txBody>
          <a:bodyPr wrap="square" lIns="0" tIns="0" rIns="0" bIns="0" rtlCol="0" anchor="ctr">
            <a:normAutofit/>
          </a:bodyPr>
          <a:lstStyle/>
          <a:p>
            <a:pPr algn="r" indent="0" marL="0">
              <a:buNone/>
            </a:pPr>
            <a:r>
              <a:rPr lang="en-US" sz="1100" dirty="0">
                <a:solidFill>
                  <a:srgbClr val="142C43"/>
                </a:solidFill>
                <a:latin typeface="Aptos" pitchFamily="34" charset="0"/>
                <a:ea typeface="Aptos" pitchFamily="34" charset="-122"/>
                <a:cs typeface="Aptos" pitchFamily="34" charset="-120"/>
              </a:rPr>
              <a:t>$600k</a:t>
            </a:r>
            <a:endParaRPr lang="en-US" sz="1100" dirty="0"/>
          </a:p>
        </p:txBody>
      </p:sp>
      <p:sp>
        <p:nvSpPr>
          <p:cNvPr id="43" name="Shape 41"/>
          <p:cNvSpPr/>
          <p:nvPr/>
        </p:nvSpPr>
        <p:spPr>
          <a:xfrm>
            <a:off x="9226296" y="3246120"/>
            <a:ext cx="2057400" cy="484632"/>
          </a:xfrm>
          <a:prstGeom prst="rect">
            <a:avLst>
              <a:gd name="adj" fmla="val 15094"/>
            </a:avLst>
          </a:prstGeom>
          <a:solidFill>
            <a:srgbClr val="FFFFFF"/>
          </a:solidFill>
          <a:ln w="10160">
            <a:solidFill>
              <a:srgbClr val="DCE6E9"/>
            </a:solidFill>
            <a:prstDash val="solid"/>
          </a:ln>
        </p:spPr>
      </p:sp>
      <p:sp>
        <p:nvSpPr>
          <p:cNvPr id="44" name="Text 42"/>
          <p:cNvSpPr/>
          <p:nvPr/>
        </p:nvSpPr>
        <p:spPr>
          <a:xfrm>
            <a:off x="9290304" y="3392424"/>
            <a:ext cx="1929384" cy="155448"/>
          </a:xfrm>
          <a:prstGeom prst="rect">
            <a:avLst/>
          </a:prstGeom>
          <a:noFill/>
          <a:ln/>
        </p:spPr>
        <p:txBody>
          <a:bodyPr wrap="square" lIns="0" tIns="0" rIns="0" bIns="0" rtlCol="0" anchor="ctr">
            <a:normAutofit/>
          </a:bodyPr>
          <a:lstStyle/>
          <a:p>
            <a:pPr algn="r" indent="0" marL="0">
              <a:buNone/>
            </a:pPr>
            <a:r>
              <a:rPr lang="en-US" sz="1100" b="1" dirty="0">
                <a:solidFill>
                  <a:srgbClr val="142C43"/>
                </a:solidFill>
                <a:latin typeface="Aptos" pitchFamily="34" charset="0"/>
                <a:ea typeface="Aptos" pitchFamily="34" charset="-122"/>
                <a:cs typeface="Aptos" pitchFamily="34" charset="-120"/>
              </a:rPr>
              <a:t>$80k</a:t>
            </a:r>
            <a:endParaRPr lang="en-US" sz="1100" dirty="0"/>
          </a:p>
        </p:txBody>
      </p:sp>
      <p:sp>
        <p:nvSpPr>
          <p:cNvPr id="45" name="Shape 43"/>
          <p:cNvSpPr/>
          <p:nvPr/>
        </p:nvSpPr>
        <p:spPr>
          <a:xfrm>
            <a:off x="676656" y="3739896"/>
            <a:ext cx="2377440" cy="484632"/>
          </a:xfrm>
          <a:prstGeom prst="rect">
            <a:avLst>
              <a:gd name="adj" fmla="val 15094"/>
            </a:avLst>
          </a:prstGeom>
          <a:solidFill>
            <a:srgbClr val="F0F5F7"/>
          </a:solidFill>
          <a:ln w="10160">
            <a:solidFill>
              <a:srgbClr val="DCE6E9"/>
            </a:solidFill>
            <a:prstDash val="solid"/>
          </a:ln>
        </p:spPr>
      </p:sp>
      <p:sp>
        <p:nvSpPr>
          <p:cNvPr id="46" name="Text 44"/>
          <p:cNvSpPr/>
          <p:nvPr/>
        </p:nvSpPr>
        <p:spPr>
          <a:xfrm>
            <a:off x="740664" y="3886200"/>
            <a:ext cx="2249424" cy="155448"/>
          </a:xfrm>
          <a:prstGeom prst="rect">
            <a:avLst/>
          </a:prstGeom>
          <a:noFill/>
          <a:ln/>
        </p:spPr>
        <p:txBody>
          <a:bodyPr wrap="square" lIns="0" tIns="0" rIns="0" bIns="0" rtlCol="0" anchor="ctr">
            <a:normAutofit/>
          </a:bodyPr>
          <a:lstStyle/>
          <a:p>
            <a:pPr algn="l" indent="0" marL="0">
              <a:buNone/>
            </a:pPr>
            <a:r>
              <a:rPr lang="en-US" sz="1100" b="1" dirty="0">
                <a:solidFill>
                  <a:srgbClr val="142C43"/>
                </a:solidFill>
                <a:latin typeface="Aptos" pitchFamily="34" charset="0"/>
                <a:ea typeface="Aptos" pitchFamily="34" charset="-122"/>
                <a:cs typeface="Aptos" pitchFamily="34" charset="-120"/>
              </a:rPr>
              <a:t>25</a:t>
            </a:r>
            <a:endParaRPr lang="en-US" sz="1100" dirty="0"/>
          </a:p>
        </p:txBody>
      </p:sp>
      <p:sp>
        <p:nvSpPr>
          <p:cNvPr id="47" name="Shape 45"/>
          <p:cNvSpPr/>
          <p:nvPr/>
        </p:nvSpPr>
        <p:spPr>
          <a:xfrm>
            <a:off x="3054096" y="3739896"/>
            <a:ext cx="2057400" cy="484632"/>
          </a:xfrm>
          <a:prstGeom prst="rect">
            <a:avLst>
              <a:gd name="adj" fmla="val 15094"/>
            </a:avLst>
          </a:prstGeom>
          <a:solidFill>
            <a:srgbClr val="F0F5F7"/>
          </a:solidFill>
          <a:ln w="10160">
            <a:solidFill>
              <a:srgbClr val="DCE6E9"/>
            </a:solidFill>
            <a:prstDash val="solid"/>
          </a:ln>
        </p:spPr>
      </p:sp>
      <p:sp>
        <p:nvSpPr>
          <p:cNvPr id="48" name="Text 46"/>
          <p:cNvSpPr/>
          <p:nvPr/>
        </p:nvSpPr>
        <p:spPr>
          <a:xfrm>
            <a:off x="3118104" y="3886200"/>
            <a:ext cx="1929384" cy="155448"/>
          </a:xfrm>
          <a:prstGeom prst="rect">
            <a:avLst/>
          </a:prstGeom>
          <a:noFill/>
          <a:ln/>
        </p:spPr>
        <p:txBody>
          <a:bodyPr wrap="square" lIns="0" tIns="0" rIns="0" bIns="0" rtlCol="0" anchor="ctr">
            <a:normAutofit/>
          </a:bodyPr>
          <a:lstStyle/>
          <a:p>
            <a:pPr algn="r" indent="0" marL="0">
              <a:buNone/>
            </a:pPr>
            <a:r>
              <a:rPr lang="en-US" sz="1100" dirty="0">
                <a:solidFill>
                  <a:srgbClr val="142C43"/>
                </a:solidFill>
                <a:latin typeface="Aptos" pitchFamily="34" charset="0"/>
                <a:ea typeface="Aptos" pitchFamily="34" charset="-122"/>
                <a:cs typeface="Aptos" pitchFamily="34" charset="-120"/>
              </a:rPr>
              <a:t>$1.95m</a:t>
            </a:r>
            <a:endParaRPr lang="en-US" sz="1100" dirty="0"/>
          </a:p>
        </p:txBody>
      </p:sp>
      <p:sp>
        <p:nvSpPr>
          <p:cNvPr id="49" name="Shape 47"/>
          <p:cNvSpPr/>
          <p:nvPr/>
        </p:nvSpPr>
        <p:spPr>
          <a:xfrm>
            <a:off x="5111496" y="3739896"/>
            <a:ext cx="2057400" cy="484632"/>
          </a:xfrm>
          <a:prstGeom prst="rect">
            <a:avLst>
              <a:gd name="adj" fmla="val 15094"/>
            </a:avLst>
          </a:prstGeom>
          <a:solidFill>
            <a:srgbClr val="F0F5F7"/>
          </a:solidFill>
          <a:ln w="10160">
            <a:solidFill>
              <a:srgbClr val="DCE6E9"/>
            </a:solidFill>
            <a:prstDash val="solid"/>
          </a:ln>
        </p:spPr>
      </p:sp>
      <p:sp>
        <p:nvSpPr>
          <p:cNvPr id="50" name="Text 48"/>
          <p:cNvSpPr/>
          <p:nvPr/>
        </p:nvSpPr>
        <p:spPr>
          <a:xfrm>
            <a:off x="5175504" y="3886200"/>
            <a:ext cx="1929384" cy="155448"/>
          </a:xfrm>
          <a:prstGeom prst="rect">
            <a:avLst/>
          </a:prstGeom>
          <a:noFill/>
          <a:ln/>
        </p:spPr>
        <p:txBody>
          <a:bodyPr wrap="square" lIns="0" tIns="0" rIns="0" bIns="0" rtlCol="0" anchor="ctr">
            <a:normAutofit/>
          </a:bodyPr>
          <a:lstStyle/>
          <a:p>
            <a:pPr algn="r" indent="0" marL="0">
              <a:buNone/>
            </a:pPr>
            <a:r>
              <a:rPr lang="en-US" sz="1100" dirty="0">
                <a:solidFill>
                  <a:srgbClr val="142C43"/>
                </a:solidFill>
                <a:latin typeface="Aptos" pitchFamily="34" charset="0"/>
                <a:ea typeface="Aptos" pitchFamily="34" charset="-122"/>
                <a:cs typeface="Aptos" pitchFamily="34" charset="-120"/>
              </a:rPr>
              <a:t>$450k</a:t>
            </a:r>
            <a:endParaRPr lang="en-US" sz="1100" dirty="0"/>
          </a:p>
        </p:txBody>
      </p:sp>
      <p:sp>
        <p:nvSpPr>
          <p:cNvPr id="51" name="Shape 49"/>
          <p:cNvSpPr/>
          <p:nvPr/>
        </p:nvSpPr>
        <p:spPr>
          <a:xfrm>
            <a:off x="7168896" y="3739896"/>
            <a:ext cx="2057400" cy="484632"/>
          </a:xfrm>
          <a:prstGeom prst="rect">
            <a:avLst>
              <a:gd name="adj" fmla="val 15094"/>
            </a:avLst>
          </a:prstGeom>
          <a:solidFill>
            <a:srgbClr val="F0F5F7"/>
          </a:solidFill>
          <a:ln w="10160">
            <a:solidFill>
              <a:srgbClr val="DCE6E9"/>
            </a:solidFill>
            <a:prstDash val="solid"/>
          </a:ln>
        </p:spPr>
      </p:sp>
      <p:sp>
        <p:nvSpPr>
          <p:cNvPr id="52" name="Text 50"/>
          <p:cNvSpPr/>
          <p:nvPr/>
        </p:nvSpPr>
        <p:spPr>
          <a:xfrm>
            <a:off x="7232904" y="3886200"/>
            <a:ext cx="1929384" cy="155448"/>
          </a:xfrm>
          <a:prstGeom prst="rect">
            <a:avLst/>
          </a:prstGeom>
          <a:noFill/>
          <a:ln/>
        </p:spPr>
        <p:txBody>
          <a:bodyPr wrap="square" lIns="0" tIns="0" rIns="0" bIns="0" rtlCol="0" anchor="ctr">
            <a:normAutofit/>
          </a:bodyPr>
          <a:lstStyle/>
          <a:p>
            <a:pPr algn="r" indent="0" marL="0">
              <a:buNone/>
            </a:pPr>
            <a:r>
              <a:rPr lang="en-US" sz="1100" dirty="0">
                <a:solidFill>
                  <a:srgbClr val="142C43"/>
                </a:solidFill>
                <a:latin typeface="Aptos" pitchFamily="34" charset="0"/>
                <a:ea typeface="Aptos" pitchFamily="34" charset="-122"/>
                <a:cs typeface="Aptos" pitchFamily="34" charset="-120"/>
              </a:rPr>
              <a:t>$1.50m</a:t>
            </a:r>
            <a:endParaRPr lang="en-US" sz="1100" dirty="0"/>
          </a:p>
        </p:txBody>
      </p:sp>
      <p:sp>
        <p:nvSpPr>
          <p:cNvPr id="53" name="Shape 51"/>
          <p:cNvSpPr/>
          <p:nvPr/>
        </p:nvSpPr>
        <p:spPr>
          <a:xfrm>
            <a:off x="9226296" y="3739896"/>
            <a:ext cx="2057400" cy="484632"/>
          </a:xfrm>
          <a:prstGeom prst="rect">
            <a:avLst>
              <a:gd name="adj" fmla="val 15094"/>
            </a:avLst>
          </a:prstGeom>
          <a:solidFill>
            <a:srgbClr val="F0F5F7"/>
          </a:solidFill>
          <a:ln w="10160">
            <a:solidFill>
              <a:srgbClr val="DCE6E9"/>
            </a:solidFill>
            <a:prstDash val="solid"/>
          </a:ln>
        </p:spPr>
      </p:sp>
      <p:sp>
        <p:nvSpPr>
          <p:cNvPr id="54" name="Text 52"/>
          <p:cNvSpPr/>
          <p:nvPr/>
        </p:nvSpPr>
        <p:spPr>
          <a:xfrm>
            <a:off x="9290304" y="3886200"/>
            <a:ext cx="1929384" cy="155448"/>
          </a:xfrm>
          <a:prstGeom prst="rect">
            <a:avLst/>
          </a:prstGeom>
          <a:noFill/>
          <a:ln/>
        </p:spPr>
        <p:txBody>
          <a:bodyPr wrap="square" lIns="0" tIns="0" rIns="0" bIns="0" rtlCol="0" anchor="ctr">
            <a:normAutofit/>
          </a:bodyPr>
          <a:lstStyle/>
          <a:p>
            <a:pPr algn="r" indent="0" marL="0">
              <a:buNone/>
            </a:pPr>
            <a:r>
              <a:rPr lang="en-US" sz="1100" b="1" dirty="0">
                <a:solidFill>
                  <a:srgbClr val="142C43"/>
                </a:solidFill>
                <a:latin typeface="Aptos" pitchFamily="34" charset="0"/>
                <a:ea typeface="Aptos" pitchFamily="34" charset="-122"/>
                <a:cs typeface="Aptos" pitchFamily="34" charset="-120"/>
              </a:rPr>
              <a:t>$750k</a:t>
            </a:r>
            <a:endParaRPr lang="en-US" sz="1100" dirty="0"/>
          </a:p>
        </p:txBody>
      </p:sp>
      <p:sp>
        <p:nvSpPr>
          <p:cNvPr id="55" name="Text 53"/>
          <p:cNvSpPr/>
          <p:nvPr/>
        </p:nvSpPr>
        <p:spPr>
          <a:xfrm>
            <a:off x="758952" y="4480560"/>
            <a:ext cx="10789920" cy="228600"/>
          </a:xfrm>
          <a:prstGeom prst="rect">
            <a:avLst/>
          </a:prstGeom>
          <a:noFill/>
          <a:ln/>
        </p:spPr>
        <p:txBody>
          <a:bodyPr wrap="square" lIns="0" tIns="0" rIns="0" bIns="0" rtlCol="0" anchor="ctr">
            <a:normAutofit/>
          </a:bodyPr>
          <a:lstStyle/>
          <a:p>
            <a:pPr indent="0" marL="0">
              <a:buNone/>
            </a:pPr>
            <a:r>
              <a:rPr lang="en-US" sz="1000" b="1" dirty="0">
                <a:solidFill>
                  <a:srgbClr val="142C43"/>
                </a:solidFill>
                <a:latin typeface="Aptos" pitchFamily="34" charset="0"/>
                <a:ea typeface="Aptos" pitchFamily="34" charset="-122"/>
                <a:cs typeface="Aptos" pitchFamily="34" charset="-120"/>
              </a:rPr>
              <a:t>Per customer first year: $18k implementation + $48k license + $12k support = $78k revenue.</a:t>
            </a:r>
            <a:endParaRPr lang="en-US" sz="1000" dirty="0"/>
          </a:p>
        </p:txBody>
      </p:sp>
      <p:sp>
        <p:nvSpPr>
          <p:cNvPr id="56" name="Text 54"/>
          <p:cNvSpPr/>
          <p:nvPr/>
        </p:nvSpPr>
        <p:spPr>
          <a:xfrm>
            <a:off x="758952" y="4864608"/>
            <a:ext cx="10789920" cy="237744"/>
          </a:xfrm>
          <a:prstGeom prst="rect">
            <a:avLst/>
          </a:prstGeom>
          <a:noFill/>
          <a:ln/>
        </p:spPr>
        <p:txBody>
          <a:bodyPr wrap="square" lIns="0" tIns="0" rIns="0" bIns="0" rtlCol="0" anchor="ctr">
            <a:normAutofit/>
          </a:bodyPr>
          <a:lstStyle/>
          <a:p>
            <a:pPr indent="0" marL="0">
              <a:buNone/>
            </a:pPr>
            <a:r>
              <a:rPr lang="en-US" sz="800" dirty="0">
                <a:solidFill>
                  <a:srgbClr val="718692"/>
                </a:solidFill>
                <a:latin typeface="Aptos" pitchFamily="34" charset="0"/>
                <a:ea typeface="Aptos" pitchFamily="34" charset="-122"/>
                <a:cs typeface="Aptos" pitchFamily="34" charset="-120"/>
              </a:rPr>
              <a:t>*Gross profit = revenue minus direct delivery costs. Net result also subtracts assumed fixed business overhead. Pre-tax; excludes tax, financing, and customer acquisition/churn costs.</a:t>
            </a:r>
            <a:endParaRPr lang="en-US" sz="800" dirty="0"/>
          </a:p>
        </p:txBody>
      </p:sp>
      <p:sp>
        <p:nvSpPr>
          <p:cNvPr id="57" name="Shape 55"/>
          <p:cNvSpPr/>
          <p:nvPr/>
        </p:nvSpPr>
        <p:spPr>
          <a:xfrm>
            <a:off x="758952" y="5358384"/>
            <a:ext cx="10744200" cy="493776"/>
          </a:xfrm>
          <a:prstGeom prst="roundRect">
            <a:avLst>
              <a:gd name="adj" fmla="val 14815"/>
            </a:avLst>
          </a:prstGeom>
          <a:solidFill>
            <a:srgbClr val="E4F2EC"/>
          </a:solidFill>
          <a:ln w="10160">
            <a:solidFill>
              <a:srgbClr val="D8EBE3"/>
            </a:solidFill>
            <a:prstDash val="solid"/>
          </a:ln>
        </p:spPr>
      </p:sp>
      <p:sp>
        <p:nvSpPr>
          <p:cNvPr id="58" name="Text 56"/>
          <p:cNvSpPr/>
          <p:nvPr/>
        </p:nvSpPr>
        <p:spPr>
          <a:xfrm>
            <a:off x="932688" y="5522976"/>
            <a:ext cx="10332720" cy="155448"/>
          </a:xfrm>
          <a:prstGeom prst="rect">
            <a:avLst/>
          </a:prstGeom>
          <a:noFill/>
          <a:ln/>
        </p:spPr>
        <p:txBody>
          <a:bodyPr wrap="square" lIns="0" tIns="0" rIns="0" bIns="0" rtlCol="0" anchor="ctr">
            <a:normAutofit/>
          </a:bodyPr>
          <a:lstStyle/>
          <a:p>
            <a:pPr algn="ctr" indent="0" marL="0">
              <a:buNone/>
            </a:pPr>
            <a:r>
              <a:rPr lang="en-US" sz="900" b="1" dirty="0">
                <a:solidFill>
                  <a:srgbClr val="27826B"/>
                </a:solidFill>
                <a:latin typeface="Aptos" pitchFamily="34" charset="0"/>
                <a:ea typeface="Aptos" pitchFamily="34" charset="-122"/>
                <a:cs typeface="Aptos" pitchFamily="34" charset="-120"/>
              </a:rPr>
              <a:t>Measure customer ROI with validated outage costs, recovery labor and evidence-preparation hours; do not use generic loss claims.</a:t>
            </a:r>
            <a:endParaRPr lang="en-US" sz="900" dirty="0"/>
          </a:p>
        </p:txBody>
      </p:sp>
      <p:sp>
        <p:nvSpPr>
          <p:cNvPr id="25" name="Slide Number Placeholder 0"/>
          <p:cNvSpPr>
            <a:spLocks noGrp="1"/>
          </p:cNvSpPr>
          <p:nvPr>
            <p:ph type="sldNum" sz="quarter" idx="4294967295"/>
          </p:nvPr>
        </p:nvSpPr>
        <p:spPr>
          <a:xfrm>
            <a:off x="11740896" y="6547104"/>
            <a:ext cx="228600" cy="146304"/>
          </a:xfrm>
          <a:prstGeom prst="rect">
            <a:avLst/>
          </a:prstGeom>
          <a:extLst>
            <a:ext uri="{C572A759-6A51-4108-AA02-DFA0A04FC94B}">
              <ma14:wrappingTextBoxFlag xmlns:ma14="http://schemas.microsoft.com/office/mac/drawingml/2011/main" val="0"/>
            </a:ext>
          </a:extLst>
        </p:spPr>
        <p:txBody>
          <a:bodyPr/>
          <a:lstStyle>
            <a:lvl1pPr>
              <a:defRPr sz="700">
                <a:solidFill>
                  <a:srgbClr val="80929D"/>
                </a:solidFill>
                <a:latin typeface="Aptos"/>
                <a:ea typeface="Aptos"/>
                <a:cs typeface="Aptos"/>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C43"/>
        </a:solidFill>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32A092"/>
          </a:solidFill>
          <a:ln w="12700">
            <a:solidFill>
              <a:srgbClr val="32A092"/>
            </a:solidFill>
            <a:prstDash val="solid"/>
          </a:ln>
        </p:spPr>
      </p:sp>
      <p:sp>
        <p:nvSpPr>
          <p:cNvPr id="3" name="Shape 1"/>
          <p:cNvSpPr/>
          <p:nvPr/>
        </p:nvSpPr>
        <p:spPr>
          <a:xfrm>
            <a:off x="713232" y="749808"/>
            <a:ext cx="1572768" cy="246888"/>
          </a:xfrm>
          <a:prstGeom prst="roundRect">
            <a:avLst>
              <a:gd name="adj" fmla="val 29630"/>
            </a:avLst>
          </a:prstGeom>
          <a:solidFill>
            <a:srgbClr val="21495C"/>
          </a:solidFill>
          <a:ln w="10160">
            <a:solidFill>
              <a:srgbClr val="21495C"/>
            </a:solidFill>
            <a:prstDash val="solid"/>
          </a:ln>
        </p:spPr>
      </p:sp>
      <p:sp>
        <p:nvSpPr>
          <p:cNvPr id="4" name="Text 2"/>
          <p:cNvSpPr/>
          <p:nvPr/>
        </p:nvSpPr>
        <p:spPr>
          <a:xfrm>
            <a:off x="768096" y="763524"/>
            <a:ext cx="1463040" cy="201168"/>
          </a:xfrm>
          <a:prstGeom prst="rect">
            <a:avLst/>
          </a:prstGeom>
          <a:noFill/>
          <a:ln/>
        </p:spPr>
        <p:txBody>
          <a:bodyPr wrap="square" lIns="0" tIns="0" rIns="0" bIns="0" rtlCol="0" anchor="ctr">
            <a:normAutofit/>
          </a:bodyPr>
          <a:lstStyle/>
          <a:p>
            <a:pPr algn="ctr" indent="0" marL="0">
              <a:buNone/>
            </a:pPr>
            <a:r>
              <a:rPr lang="en-US" sz="700" b="1" spc="50" kern="0" dirty="0">
                <a:solidFill>
                  <a:srgbClr val="A9E7DB"/>
                </a:solidFill>
                <a:latin typeface="Aptos" pitchFamily="34" charset="0"/>
                <a:ea typeface="Aptos" pitchFamily="34" charset="-122"/>
                <a:cs typeface="Aptos" pitchFamily="34" charset="-120"/>
              </a:rPr>
              <a:t>WHAT WE NEED NEXT</a:t>
            </a:r>
            <a:endParaRPr lang="en-US" sz="700" dirty="0"/>
          </a:p>
        </p:txBody>
      </p:sp>
      <p:sp>
        <p:nvSpPr>
          <p:cNvPr id="5" name="Text 3"/>
          <p:cNvSpPr/>
          <p:nvPr/>
        </p:nvSpPr>
        <p:spPr>
          <a:xfrm>
            <a:off x="713232" y="1417320"/>
            <a:ext cx="8046720" cy="1097280"/>
          </a:xfrm>
          <a:prstGeom prst="rect">
            <a:avLst/>
          </a:prstGeom>
          <a:noFill/>
          <a:ln/>
        </p:spPr>
        <p:txBody>
          <a:bodyPr wrap="square" lIns="0" tIns="0" rIns="0" bIns="0" rtlCol="0" anchor="t">
            <a:normAutofit/>
          </a:bodyPr>
          <a:lstStyle/>
          <a:p>
            <a:pPr indent="0" marL="0">
              <a:buNone/>
            </a:pPr>
            <a:r>
              <a:rPr lang="en-US" sz="3100" b="1" spc="-65" kern="0" dirty="0">
                <a:solidFill>
                  <a:srgbClr val="FFFFFF"/>
                </a:solidFill>
                <a:latin typeface="Aptos Display" pitchFamily="34" charset="0"/>
                <a:ea typeface="Aptos Display" pitchFamily="34" charset="-122"/>
                <a:cs typeface="Aptos Display" pitchFamily="34" charset="-120"/>
              </a:rPr>
              <a:t>Pilot the evidence layer</a:t>
            </a:r>
            <a:endParaRPr lang="en-US" sz="3100" dirty="0"/>
          </a:p>
          <a:p>
            <a:pPr indent="0" marL="0">
              <a:buNone/>
            </a:pPr>
            <a:r>
              <a:rPr lang="en-US" sz="3100" b="1" spc="-65" kern="0" dirty="0">
                <a:solidFill>
                  <a:srgbClr val="FFFFFF"/>
                </a:solidFill>
                <a:latin typeface="Aptos Display" pitchFamily="34" charset="0"/>
                <a:ea typeface="Aptos Display" pitchFamily="34" charset="-122"/>
                <a:cs typeface="Aptos Display" pitchFamily="34" charset="-120"/>
              </a:rPr>
              <a:t>with a critical-service team.</a:t>
            </a:r>
            <a:endParaRPr lang="en-US" sz="3100" dirty="0"/>
          </a:p>
        </p:txBody>
      </p:sp>
      <p:sp>
        <p:nvSpPr>
          <p:cNvPr id="6" name="Shape 4"/>
          <p:cNvSpPr/>
          <p:nvPr/>
        </p:nvSpPr>
        <p:spPr>
          <a:xfrm>
            <a:off x="777240" y="3227832"/>
            <a:ext cx="310896" cy="310896"/>
          </a:xfrm>
          <a:prstGeom prst="ellipse">
            <a:avLst/>
          </a:prstGeom>
          <a:solidFill>
            <a:srgbClr val="1D5C64"/>
          </a:solidFill>
          <a:ln w="12700">
            <a:solidFill>
              <a:srgbClr val="1D5C64"/>
            </a:solidFill>
            <a:prstDash val="solid"/>
          </a:ln>
        </p:spPr>
      </p:sp>
      <p:sp>
        <p:nvSpPr>
          <p:cNvPr id="7" name="Text 5"/>
          <p:cNvSpPr/>
          <p:nvPr/>
        </p:nvSpPr>
        <p:spPr>
          <a:xfrm>
            <a:off x="777240" y="3300984"/>
            <a:ext cx="310896" cy="118872"/>
          </a:xfrm>
          <a:prstGeom prst="rect">
            <a:avLst/>
          </a:prstGeom>
          <a:noFill/>
          <a:ln/>
        </p:spPr>
        <p:txBody>
          <a:bodyPr wrap="square" lIns="0" tIns="0" rIns="0" bIns="0" rtlCol="0" anchor="ctr">
            <a:normAutofit/>
          </a:bodyPr>
          <a:lstStyle/>
          <a:p>
            <a:pPr algn="ctr" indent="0" marL="0">
              <a:buNone/>
            </a:pPr>
            <a:r>
              <a:rPr lang="en-US" sz="700" b="1" dirty="0">
                <a:solidFill>
                  <a:srgbClr val="A9E7DB"/>
                </a:solidFill>
                <a:latin typeface="Aptos" pitchFamily="34" charset="0"/>
                <a:ea typeface="Aptos" pitchFamily="34" charset="-122"/>
                <a:cs typeface="Aptos" pitchFamily="34" charset="-120"/>
              </a:rPr>
              <a:t>01</a:t>
            </a:r>
            <a:endParaRPr lang="en-US" sz="700" dirty="0"/>
          </a:p>
        </p:txBody>
      </p:sp>
      <p:sp>
        <p:nvSpPr>
          <p:cNvPr id="8" name="Text 6"/>
          <p:cNvSpPr/>
          <p:nvPr/>
        </p:nvSpPr>
        <p:spPr>
          <a:xfrm>
            <a:off x="1298448" y="3191256"/>
            <a:ext cx="1920240" cy="201168"/>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Aptos" pitchFamily="34" charset="0"/>
                <a:ea typeface="Aptos" pitchFamily="34" charset="-122"/>
                <a:cs typeface="Aptos" pitchFamily="34" charset="-120"/>
              </a:rPr>
              <a:t>One service catalog</a:t>
            </a:r>
            <a:endParaRPr lang="en-US" sz="1200" dirty="0"/>
          </a:p>
        </p:txBody>
      </p:sp>
      <p:sp>
        <p:nvSpPr>
          <p:cNvPr id="9" name="Text 7"/>
          <p:cNvSpPr/>
          <p:nvPr/>
        </p:nvSpPr>
        <p:spPr>
          <a:xfrm>
            <a:off x="3108960" y="3200400"/>
            <a:ext cx="5394960" cy="256032"/>
          </a:xfrm>
          <a:prstGeom prst="rect">
            <a:avLst/>
          </a:prstGeom>
          <a:noFill/>
          <a:ln/>
        </p:spPr>
        <p:txBody>
          <a:bodyPr wrap="square" lIns="0" tIns="0" rIns="0" bIns="0" rtlCol="0" anchor="ctr">
            <a:normAutofit/>
          </a:bodyPr>
          <a:lstStyle/>
          <a:p>
            <a:pPr indent="0" marL="0">
              <a:buNone/>
            </a:pPr>
            <a:r>
              <a:rPr lang="en-US" sz="900" dirty="0">
                <a:solidFill>
                  <a:srgbClr val="AFC3CC"/>
                </a:solidFill>
                <a:latin typeface="Aptos" pitchFamily="34" charset="0"/>
                <a:ea typeface="Aptos" pitchFamily="34" charset="-122"/>
                <a:cs typeface="Aptos" pitchFamily="34" charset="-120"/>
              </a:rPr>
              <a:t>3–5 services, owners, data-loss/time-to-recover targets and dependencies</a:t>
            </a:r>
            <a:endParaRPr lang="en-US" sz="900" dirty="0"/>
          </a:p>
        </p:txBody>
      </p:sp>
      <p:sp>
        <p:nvSpPr>
          <p:cNvPr id="10" name="Shape 8"/>
          <p:cNvSpPr/>
          <p:nvPr/>
        </p:nvSpPr>
        <p:spPr>
          <a:xfrm>
            <a:off x="777240" y="3931920"/>
            <a:ext cx="310896" cy="310896"/>
          </a:xfrm>
          <a:prstGeom prst="ellipse">
            <a:avLst/>
          </a:prstGeom>
          <a:solidFill>
            <a:srgbClr val="1D5C64"/>
          </a:solidFill>
          <a:ln w="12700">
            <a:solidFill>
              <a:srgbClr val="1D5C64"/>
            </a:solidFill>
            <a:prstDash val="solid"/>
          </a:ln>
        </p:spPr>
      </p:sp>
      <p:sp>
        <p:nvSpPr>
          <p:cNvPr id="11" name="Text 9"/>
          <p:cNvSpPr/>
          <p:nvPr/>
        </p:nvSpPr>
        <p:spPr>
          <a:xfrm>
            <a:off x="777240" y="4005072"/>
            <a:ext cx="310896" cy="118872"/>
          </a:xfrm>
          <a:prstGeom prst="rect">
            <a:avLst/>
          </a:prstGeom>
          <a:noFill/>
          <a:ln/>
        </p:spPr>
        <p:txBody>
          <a:bodyPr wrap="square" lIns="0" tIns="0" rIns="0" bIns="0" rtlCol="0" anchor="ctr">
            <a:normAutofit/>
          </a:bodyPr>
          <a:lstStyle/>
          <a:p>
            <a:pPr algn="ctr" indent="0" marL="0">
              <a:buNone/>
            </a:pPr>
            <a:r>
              <a:rPr lang="en-US" sz="700" b="1" dirty="0">
                <a:solidFill>
                  <a:srgbClr val="A9E7DB"/>
                </a:solidFill>
                <a:latin typeface="Aptos" pitchFamily="34" charset="0"/>
                <a:ea typeface="Aptos" pitchFamily="34" charset="-122"/>
                <a:cs typeface="Aptos" pitchFamily="34" charset="-120"/>
              </a:rPr>
              <a:t>02</a:t>
            </a:r>
            <a:endParaRPr lang="en-US" sz="700" dirty="0"/>
          </a:p>
        </p:txBody>
      </p:sp>
      <p:sp>
        <p:nvSpPr>
          <p:cNvPr id="12" name="Text 10"/>
          <p:cNvSpPr/>
          <p:nvPr/>
        </p:nvSpPr>
        <p:spPr>
          <a:xfrm>
            <a:off x="1298448" y="3895344"/>
            <a:ext cx="1920240" cy="201168"/>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Aptos" pitchFamily="34" charset="0"/>
                <a:ea typeface="Aptos" pitchFamily="34" charset="-122"/>
                <a:cs typeface="Aptos" pitchFamily="34" charset="-120"/>
              </a:rPr>
              <a:t>One joint exercise</a:t>
            </a:r>
            <a:endParaRPr lang="en-US" sz="1200" dirty="0"/>
          </a:p>
        </p:txBody>
      </p:sp>
      <p:sp>
        <p:nvSpPr>
          <p:cNvPr id="13" name="Text 11"/>
          <p:cNvSpPr/>
          <p:nvPr/>
        </p:nvSpPr>
        <p:spPr>
          <a:xfrm>
            <a:off x="3108960" y="3904488"/>
            <a:ext cx="5394960" cy="256032"/>
          </a:xfrm>
          <a:prstGeom prst="rect">
            <a:avLst/>
          </a:prstGeom>
          <a:noFill/>
          <a:ln/>
        </p:spPr>
        <p:txBody>
          <a:bodyPr wrap="square" lIns="0" tIns="0" rIns="0" bIns="0" rtlCol="0" anchor="ctr">
            <a:normAutofit/>
          </a:bodyPr>
          <a:lstStyle/>
          <a:p>
            <a:pPr indent="0" marL="0">
              <a:buNone/>
            </a:pPr>
            <a:r>
              <a:rPr lang="en-US" sz="900" dirty="0">
                <a:solidFill>
                  <a:srgbClr val="AFC3CC"/>
                </a:solidFill>
                <a:latin typeface="Aptos" pitchFamily="34" charset="0"/>
                <a:ea typeface="Aptos" pitchFamily="34" charset="-122"/>
                <a:cs typeface="Aptos" pitchFamily="34" charset="-120"/>
              </a:rPr>
              <a:t>Physical loss + ransomware + a compound disruption scenario</a:t>
            </a:r>
            <a:endParaRPr lang="en-US" sz="900" dirty="0"/>
          </a:p>
        </p:txBody>
      </p:sp>
      <p:sp>
        <p:nvSpPr>
          <p:cNvPr id="14" name="Shape 12"/>
          <p:cNvSpPr/>
          <p:nvPr/>
        </p:nvSpPr>
        <p:spPr>
          <a:xfrm>
            <a:off x="777240" y="4636008"/>
            <a:ext cx="310896" cy="310896"/>
          </a:xfrm>
          <a:prstGeom prst="ellipse">
            <a:avLst/>
          </a:prstGeom>
          <a:solidFill>
            <a:srgbClr val="1D5C64"/>
          </a:solidFill>
          <a:ln w="12700">
            <a:solidFill>
              <a:srgbClr val="1D5C64"/>
            </a:solidFill>
            <a:prstDash val="solid"/>
          </a:ln>
        </p:spPr>
      </p:sp>
      <p:sp>
        <p:nvSpPr>
          <p:cNvPr id="15" name="Text 13"/>
          <p:cNvSpPr/>
          <p:nvPr/>
        </p:nvSpPr>
        <p:spPr>
          <a:xfrm>
            <a:off x="777240" y="4709160"/>
            <a:ext cx="310896" cy="118872"/>
          </a:xfrm>
          <a:prstGeom prst="rect">
            <a:avLst/>
          </a:prstGeom>
          <a:noFill/>
          <a:ln/>
        </p:spPr>
        <p:txBody>
          <a:bodyPr wrap="square" lIns="0" tIns="0" rIns="0" bIns="0" rtlCol="0" anchor="ctr">
            <a:normAutofit/>
          </a:bodyPr>
          <a:lstStyle/>
          <a:p>
            <a:pPr algn="ctr" indent="0" marL="0">
              <a:buNone/>
            </a:pPr>
            <a:r>
              <a:rPr lang="en-US" sz="700" b="1" dirty="0">
                <a:solidFill>
                  <a:srgbClr val="A9E7DB"/>
                </a:solidFill>
                <a:latin typeface="Aptos" pitchFamily="34" charset="0"/>
                <a:ea typeface="Aptos" pitchFamily="34" charset="-122"/>
                <a:cs typeface="Aptos" pitchFamily="34" charset="-120"/>
              </a:rPr>
              <a:t>03</a:t>
            </a:r>
            <a:endParaRPr lang="en-US" sz="700" dirty="0"/>
          </a:p>
        </p:txBody>
      </p:sp>
      <p:sp>
        <p:nvSpPr>
          <p:cNvPr id="16" name="Text 14"/>
          <p:cNvSpPr/>
          <p:nvPr/>
        </p:nvSpPr>
        <p:spPr>
          <a:xfrm>
            <a:off x="1298448" y="4599432"/>
            <a:ext cx="1920240" cy="201168"/>
          </a:xfrm>
          <a:prstGeom prst="rect">
            <a:avLst/>
          </a:prstGeom>
          <a:noFill/>
          <a:ln/>
        </p:spPr>
        <p:txBody>
          <a:bodyPr wrap="square" lIns="0" tIns="0" rIns="0" bIns="0" rtlCol="0" anchor="ctr">
            <a:normAutofit/>
          </a:bodyPr>
          <a:lstStyle/>
          <a:p>
            <a:pPr indent="0" marL="0">
              <a:buNone/>
            </a:pPr>
            <a:r>
              <a:rPr lang="en-US" sz="1200" b="1" dirty="0">
                <a:solidFill>
                  <a:srgbClr val="FFFFFF"/>
                </a:solidFill>
                <a:latin typeface="Aptos" pitchFamily="34" charset="0"/>
                <a:ea typeface="Aptos" pitchFamily="34" charset="-122"/>
                <a:cs typeface="Aptos" pitchFamily="34" charset="-120"/>
              </a:rPr>
              <a:t>One measured result</a:t>
            </a:r>
            <a:endParaRPr lang="en-US" sz="1200" dirty="0"/>
          </a:p>
        </p:txBody>
      </p:sp>
      <p:sp>
        <p:nvSpPr>
          <p:cNvPr id="17" name="Text 15"/>
          <p:cNvSpPr/>
          <p:nvPr/>
        </p:nvSpPr>
        <p:spPr>
          <a:xfrm>
            <a:off x="3108960" y="4608576"/>
            <a:ext cx="5394960" cy="256032"/>
          </a:xfrm>
          <a:prstGeom prst="rect">
            <a:avLst/>
          </a:prstGeom>
          <a:noFill/>
          <a:ln/>
        </p:spPr>
        <p:txBody>
          <a:bodyPr wrap="square" lIns="0" tIns="0" rIns="0" bIns="0" rtlCol="0" anchor="ctr">
            <a:normAutofit/>
          </a:bodyPr>
          <a:lstStyle/>
          <a:p>
            <a:pPr indent="0" marL="0">
              <a:buNone/>
            </a:pPr>
            <a:r>
              <a:rPr lang="en-US" sz="900" dirty="0">
                <a:solidFill>
                  <a:srgbClr val="AFC3CC"/>
                </a:solidFill>
                <a:latin typeface="Aptos" pitchFamily="34" charset="0"/>
                <a:ea typeface="Aptos" pitchFamily="34" charset="-122"/>
                <a:cs typeface="Aptos" pitchFamily="34" charset="-120"/>
              </a:rPr>
              <a:t>Known gaps, approved isolated test, observed duration and report</a:t>
            </a:r>
            <a:endParaRPr lang="en-US" sz="900" dirty="0"/>
          </a:p>
        </p:txBody>
      </p:sp>
      <p:sp>
        <p:nvSpPr>
          <p:cNvPr id="18" name="Shape 16"/>
          <p:cNvSpPr/>
          <p:nvPr/>
        </p:nvSpPr>
        <p:spPr>
          <a:xfrm>
            <a:off x="777240" y="5577840"/>
            <a:ext cx="10104120" cy="0"/>
          </a:xfrm>
          <a:prstGeom prst="line">
            <a:avLst/>
          </a:prstGeom>
          <a:noFill/>
          <a:ln w="12700">
            <a:solidFill>
              <a:srgbClr val="3B5A6E"/>
            </a:solidFill>
            <a:prstDash val="solid"/>
          </a:ln>
        </p:spPr>
      </p:sp>
      <p:sp>
        <p:nvSpPr>
          <p:cNvPr id="19" name="Text 17"/>
          <p:cNvSpPr/>
          <p:nvPr/>
        </p:nvSpPr>
        <p:spPr>
          <a:xfrm>
            <a:off x="777240" y="5879592"/>
            <a:ext cx="4114800" cy="320040"/>
          </a:xfrm>
          <a:prstGeom prst="rect">
            <a:avLst/>
          </a:prstGeom>
          <a:noFill/>
          <a:ln/>
        </p:spPr>
        <p:txBody>
          <a:bodyPr wrap="square" lIns="0" tIns="0" rIns="0" bIns="0" rtlCol="0" anchor="ctr">
            <a:normAutofit/>
          </a:bodyPr>
          <a:lstStyle/>
          <a:p>
            <a:pPr indent="0" marL="0">
              <a:buNone/>
            </a:pPr>
            <a:r>
              <a:rPr lang="en-US" sz="1900" b="1" dirty="0">
                <a:solidFill>
                  <a:srgbClr val="A7E3D7"/>
                </a:solidFill>
                <a:latin typeface="Aptos Display" pitchFamily="34" charset="0"/>
                <a:ea typeface="Aptos Display" pitchFamily="34" charset="-122"/>
                <a:cs typeface="Aptos Display" pitchFamily="34" charset="-120"/>
              </a:rPr>
              <a:t>ResilienceGuard</a:t>
            </a:r>
            <a:endParaRPr lang="en-US" sz="1900" dirty="0"/>
          </a:p>
        </p:txBody>
      </p:sp>
      <p:sp>
        <p:nvSpPr>
          <p:cNvPr id="20" name="Text 18"/>
          <p:cNvSpPr/>
          <p:nvPr/>
        </p:nvSpPr>
        <p:spPr>
          <a:xfrm>
            <a:off x="7680960" y="5934456"/>
            <a:ext cx="3017520" cy="201168"/>
          </a:xfrm>
          <a:prstGeom prst="rect">
            <a:avLst/>
          </a:prstGeom>
          <a:noFill/>
          <a:ln/>
        </p:spPr>
        <p:txBody>
          <a:bodyPr wrap="square" lIns="0" tIns="0" rIns="0" bIns="0" rtlCol="0" anchor="ctr">
            <a:normAutofit/>
          </a:bodyPr>
          <a:lstStyle/>
          <a:p>
            <a:pPr algn="r" indent="0" marL="0">
              <a:buNone/>
            </a:pPr>
            <a:r>
              <a:rPr lang="en-US" sz="1100" dirty="0">
                <a:solidFill>
                  <a:srgbClr val="B9CCD4"/>
                </a:solidFill>
                <a:latin typeface="Aptos" pitchFamily="34" charset="0"/>
                <a:ea typeface="Aptos" pitchFamily="34" charset="-122"/>
                <a:cs typeface="Aptos" pitchFamily="34" charset="-120"/>
              </a:rPr>
              <a:t>Know what comes back.</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ResilienceGuard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ResilienceGuard | Know what comes back</dc:title>
  <dc:subject>Eureka hackathon submission: cyber and disaster recovery readiness</dc:subject>
  <dc:creator>ResilienceGuard</dc:creator>
  <cp:lastModifiedBy>ResilienceGuard</cp:lastModifiedBy>
  <cp:revision>1</cp:revision>
  <dcterms:created xsi:type="dcterms:W3CDTF">2026-10-27T06:44:45Z</dcterms:created>
  <dcterms:modified xsi:type="dcterms:W3CDTF">2026-10-27T06:44:45Z</dcterms:modified>
</cp:coreProperties>
</file>