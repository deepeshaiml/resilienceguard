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1"/>
  </p:sldMasterIdLst>
  <p:notesMasterIdLst>
    <p:notesMasterId r:id="rId16"/>
  </p:notesMasterIdLst>
  <p:sldIdLst>
    <p:sldId id="256" r:id="rId2"/>
    <p:sldId id="366" r:id="rId3"/>
    <p:sldId id="286" r:id="rId4"/>
    <p:sldId id="394" r:id="rId5"/>
    <p:sldId id="397" r:id="rId6"/>
    <p:sldId id="358" r:id="rId7"/>
    <p:sldId id="378" r:id="rId8"/>
    <p:sldId id="363" r:id="rId9"/>
    <p:sldId id="360" r:id="rId10"/>
    <p:sldId id="353" r:id="rId11"/>
    <p:sldId id="398" r:id="rId12"/>
    <p:sldId id="337" r:id="rId13"/>
    <p:sldId id="317" r:id="rId14"/>
    <p:sldId id="399" r:id="rId15"/>
  </p:sldIdLst>
  <p:sldSz cx="12192000" cy="6858000"/>
  <p:notesSz cx="6858000" cy="9144000"/>
  <p:embeddedFontLst>
    <p:embeddedFont>
      <p:font typeface="Lora Medium" pitchFamily="2" charset="77"/>
      <p:regular r:id="rId17"/>
      <p:italic r:id="rId18"/>
    </p:embeddedFont>
    <p:embeddedFont>
      <p:font typeface="Lora SemiBold" pitchFamily="2" charset="77"/>
      <p:regular r:id="rId19"/>
      <p:bold r:id="rId20"/>
      <p:italic r:id="rId21"/>
      <p:boldItalic r:id="rId22"/>
    </p:embeddedFont>
    <p:embeddedFont>
      <p:font typeface="OpenAI Sans" panose="020B0004030202060203" pitchFamily="34" charset="77"/>
      <p:regular r:id="rId23"/>
      <p:bold r:id="rId24"/>
      <p:italic r:id="rId25"/>
      <p:boldItalic r:id="rId26"/>
    </p:embeddedFont>
    <p:embeddedFont>
      <p:font typeface="Roboto" panose="02000000000000000000" pitchFamily="2" charset="0"/>
      <p:regular r:id="rId27"/>
      <p:bold r:id="rId28"/>
      <p:italic r:id="rId29"/>
      <p:boldItalic r:id="rId30"/>
    </p:embeddedFont>
    <p:embeddedFont>
      <p:font typeface="Roboto Medium" panose="02000000000000000000" pitchFamily="2" charset="0"/>
      <p:regular r:id="rId31"/>
      <p:italic r:id="rId32"/>
    </p:embeddedFont>
    <p:embeddedFont>
      <p:font typeface="Roboto SemiBold" panose="02000000000000000000" pitchFamily="2" charset="0"/>
      <p:regular r:id="rId33"/>
      <p:bold r:id="rId34"/>
      <p:italic r:id="rId35"/>
      <p:boldItalic r:id="rId36"/>
    </p:embeddedFont>
    <p:embeddedFont>
      <p:font typeface="Roboto Serif 14pt" pitchFamily="2" charset="77"/>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2"/>
    <p:restoredTop sz="94658"/>
  </p:normalViewPr>
  <p:slideViewPr>
    <p:cSldViewPr snapToGrid="0">
      <p:cViewPr varScale="1">
        <p:scale>
          <a:sx n="116" d="100"/>
          <a:sy n="116" d="100"/>
        </p:scale>
        <p:origin x="1024"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font" Target="fonts/font23.fntdata"/><Relationship Id="rId21" Type="http://schemas.openxmlformats.org/officeDocument/2006/relationships/font" Target="fonts/font5.fntdata"/><Relationship Id="rId34" Type="http://schemas.openxmlformats.org/officeDocument/2006/relationships/font" Target="fonts/font18.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font" Target="fonts/font2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c16r3="http://schemas.microsoft.com/office/drawing/2017/03/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title>
      <c:tx>
        <c:rich>
          <a:bodyPr/>
          <a:lstStyle/>
          <a:p>
            <a:pPr>
              <a:defRPr lang="en-US" sz="1200">
                <a:solidFill>
                  <a:schemeClr val="tx1"/>
                </a:solidFill>
              </a:defRPr>
            </a:pPr>
            <a:r>
              <a:rPr lang="en-US" sz="1200"/>
              <a:t>Revenue and direct costs · USD thousands</a:t>
            </a:r>
            <a:endParaRPr lang="en-US"/>
          </a:p>
        </c:rich>
      </c:tx>
      <c:layout>
        <c:manualLayout>
          <c:xMode val="edge"/>
          <c:yMode val="edge"/>
          <c:x val="1.3821697687269586E-2"/>
          <c:y val="2.527575450117403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2455523605030237E-2"/>
          <c:y val="0.16727494328876974"/>
          <c:w val="0.89079564466982142"/>
          <c:h val="0.69664696219264577"/>
        </c:manualLayout>
      </c:layout>
      <c:barChart>
        <c:barDir val="col"/>
        <c:grouping val="clustered"/>
        <c:varyColors val="0"/>
        <c:ser>
          <c:idx val="0"/>
          <c:order val="0"/>
          <c:tx>
            <c:strRef>
              <c:f>Sheet1!$B$1</c:f>
              <c:strCache>
                <c:ptCount val="1"/>
                <c:pt idx="0">
                  <c:v>Revenue ($000s)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c:v>
                </c:pt>
                <c:pt idx="1">
                  <c:v>5</c:v>
                </c:pt>
                <c:pt idx="2">
                  <c:v>10</c:v>
                </c:pt>
                <c:pt idx="3">
                  <c:v>25</c:v>
                </c:pt>
              </c:strCache>
            </c:strRef>
          </c:cat>
          <c:val>
            <c:numRef>
              <c:f>Sheet1!$B$2:$B$5</c:f>
              <c:numCache>
                <c:formatCode>0</c:formatCode>
                <c:ptCount val="4"/>
                <c:pt idx="0">
                  <c:v>78</c:v>
                </c:pt>
                <c:pt idx="1">
                  <c:v>390</c:v>
                </c:pt>
                <c:pt idx="2">
                  <c:v>780</c:v>
                </c:pt>
                <c:pt idx="3">
                  <c:v>1950</c:v>
                </c:pt>
              </c:numCache>
            </c:numRef>
          </c:val>
          <c:extLst>
            <c:ext uri="{C3380CC4-5D6E-409C-BE32-E72D297353CC}">
              <c16:uniqueId val="{00000000-230A-0D4B-B6D2-57328A27E5E2}"/>
            </c:ext>
          </c:extLst>
        </c:ser>
        <c:dLbls>
          <c:showLegendKey val="0"/>
          <c:showVal val="0"/>
          <c:showCatName val="0"/>
          <c:showSerName val="0"/>
          <c:showPercent val="0"/>
          <c:showBubbleSize val="0"/>
        </c:dLbls>
        <c:gapWidth val="83"/>
        <c:axId val="1785928255"/>
        <c:axId val="1769229823"/>
      </c:barChart>
      <c:lineChart>
        <c:grouping val="standard"/>
        <c:varyColors val="0"/>
        <c:ser>
          <c:idx val="1"/>
          <c:order val="1"/>
          <c:tx>
            <c:strRef>
              <c:f>Sheet1!$C$1</c:f>
              <c:strCache>
                <c:ptCount val="1"/>
                <c:pt idx="0">
                  <c:v>Direct costs ($000s)</c:v>
                </c:pt>
              </c:strCache>
            </c:strRef>
          </c:tx>
          <c:spPr>
            <a:ln w="28575" cap="rnd">
              <a:solidFill>
                <a:schemeClr val="tx2">
                  <a:lumMod val="50000"/>
                  <a:lumOff val="50000"/>
                </a:schemeClr>
              </a:solidFill>
              <a:round/>
            </a:ln>
            <a:effectLst/>
          </c:spPr>
          <c:marker>
            <c:symbol val="circle"/>
            <c:size val="6"/>
            <c:spPr>
              <a:solidFill>
                <a:schemeClr val="tx2">
                  <a:lumMod val="50000"/>
                  <a:lumOff val="50000"/>
                </a:schemeClr>
              </a:solidFill>
              <a:ln w="9525">
                <a:solidFill>
                  <a:schemeClr val="tx2">
                    <a:lumMod val="50000"/>
                    <a:lumOff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c:v>
                </c:pt>
                <c:pt idx="1">
                  <c:v>5</c:v>
                </c:pt>
                <c:pt idx="2">
                  <c:v>10</c:v>
                </c:pt>
                <c:pt idx="3">
                  <c:v>25</c:v>
                </c:pt>
              </c:strCache>
            </c:strRef>
          </c:cat>
          <c:val>
            <c:numRef>
              <c:f>Sheet1!$C$2:$C$5</c:f>
              <c:numCache>
                <c:formatCode>0</c:formatCode>
                <c:ptCount val="4"/>
                <c:pt idx="0">
                  <c:v>18</c:v>
                </c:pt>
                <c:pt idx="1">
                  <c:v>90</c:v>
                </c:pt>
                <c:pt idx="2">
                  <c:v>180</c:v>
                </c:pt>
                <c:pt idx="3">
                  <c:v>450</c:v>
                </c:pt>
              </c:numCache>
            </c:numRef>
          </c:val>
          <c:smooth val="0"/>
          <c:extLst>
            <c:ext uri="{C3380CC4-5D6E-409C-BE32-E72D297353CC}">
              <c16:uniqueId val="{00000001-230A-0D4B-B6D2-57328A27E5E2}"/>
            </c:ext>
          </c:extLst>
        </c:ser>
        <c:dLbls>
          <c:showLegendKey val="0"/>
          <c:showVal val="0"/>
          <c:showCatName val="0"/>
          <c:showSerName val="0"/>
          <c:showPercent val="0"/>
          <c:showBubbleSize val="0"/>
        </c:dLbls>
        <c:marker val="1"/>
        <c:smooth val="0"/>
        <c:axId val="1785928255"/>
        <c:axId val="1769229823"/>
      </c:lineChart>
      <c:catAx>
        <c:axId val="1785928255"/>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769229823"/>
        <c:crosses val="autoZero"/>
        <c:auto val="1"/>
        <c:lblAlgn val="ctr"/>
        <c:lblOffset val="100"/>
        <c:noMultiLvlLbl val="0"/>
      </c:catAx>
      <c:valAx>
        <c:axId val="176922982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crossAx val="1785928255"/>
        <c:crosses val="autoZero"/>
        <c:crossBetween val="between"/>
      </c:valAx>
      <c:spPr>
        <a:noFill/>
        <a:ln>
          <a:noFill/>
        </a:ln>
        <a:effectLst/>
      </c:spPr>
    </c:plotArea>
    <c:legend>
      <c:legendPos val="b"/>
      <c:layout>
        <c:manualLayout>
          <c:xMode val="edge"/>
          <c:yMode val="edge"/>
          <c:x val="0.58067453497943666"/>
          <c:y val="2.738737462131148E-2"/>
          <c:w val="0.39987338466900668"/>
          <c:h val="4.612394889586491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c16r3="http://schemas.microsoft.com/office/drawing/2017/03/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title>
      <c:tx>
        <c:rich>
          <a:bodyPr/>
          <a:lstStyle/>
          <a:p>
            <a:pPr>
              <a:defRPr lang="en-US" sz="1200">
                <a:solidFill>
                  <a:schemeClr val="tx1"/>
                </a:solidFill>
              </a:defRPr>
            </a:pPr>
            <a:r>
              <a:rPr lang="en-US" sz="1200"/>
              <a:t>Gross profit and fixed overhead · USD thousands</a:t>
            </a:r>
            <a:endParaRPr lang="en-US"/>
          </a:p>
        </c:rich>
      </c:tx>
      <c:layout>
        <c:manualLayout>
          <c:xMode val="edge"/>
          <c:yMode val="edge"/>
          <c:x val="1.3821697687269586E-2"/>
          <c:y val="2.527575450117403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2455523605030237E-2"/>
          <c:y val="0.16727494328876974"/>
          <c:w val="0.89079564466982142"/>
          <c:h val="0.69664696219264577"/>
        </c:manualLayout>
      </c:layout>
      <c:barChart>
        <c:barDir val="col"/>
        <c:grouping val="clustered"/>
        <c:varyColors val="0"/>
        <c:ser>
          <c:idx val="0"/>
          <c:order val="0"/>
          <c:tx>
            <c:strRef>
              <c:f>Sheet1!$B$1</c:f>
              <c:strCache>
                <c:ptCount val="1"/>
                <c:pt idx="0">
                  <c:v>Gross profit ($000s)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c:v>
                </c:pt>
                <c:pt idx="1">
                  <c:v>5</c:v>
                </c:pt>
                <c:pt idx="2">
                  <c:v>10</c:v>
                </c:pt>
                <c:pt idx="3">
                  <c:v>25</c:v>
                </c:pt>
              </c:strCache>
            </c:strRef>
          </c:cat>
          <c:val>
            <c:numRef>
              <c:f>Sheet1!$B$2:$B$5</c:f>
              <c:numCache>
                <c:formatCode>0</c:formatCode>
                <c:ptCount val="4"/>
                <c:pt idx="0">
                  <c:v>60</c:v>
                </c:pt>
                <c:pt idx="1">
                  <c:v>300</c:v>
                </c:pt>
                <c:pt idx="2">
                  <c:v>600</c:v>
                </c:pt>
                <c:pt idx="3">
                  <c:v>1500</c:v>
                </c:pt>
              </c:numCache>
            </c:numRef>
          </c:val>
          <c:extLst>
            <c:ext uri="{C3380CC4-5D6E-409C-BE32-E72D297353CC}">
              <c16:uniqueId val="{00000000-230A-0D4B-B6D2-57328A27E5E2}"/>
            </c:ext>
          </c:extLst>
        </c:ser>
        <c:dLbls>
          <c:showLegendKey val="0"/>
          <c:showVal val="0"/>
          <c:showCatName val="0"/>
          <c:showSerName val="0"/>
          <c:showPercent val="0"/>
          <c:showBubbleSize val="0"/>
        </c:dLbls>
        <c:gapWidth val="83"/>
        <c:axId val="1785928255"/>
        <c:axId val="1769229823"/>
      </c:barChart>
      <c:lineChart>
        <c:grouping val="standard"/>
        <c:varyColors val="0"/>
        <c:ser>
          <c:idx val="1"/>
          <c:order val="1"/>
          <c:tx>
            <c:strRef>
              <c:f>Sheet1!$C$1</c:f>
              <c:strCache>
                <c:ptCount val="1"/>
                <c:pt idx="0">
                  <c:v>Fixed overhead ($000s)</c:v>
                </c:pt>
              </c:strCache>
            </c:strRef>
          </c:tx>
          <c:spPr>
            <a:ln w="28575" cap="rnd">
              <a:solidFill>
                <a:schemeClr val="tx2">
                  <a:lumMod val="50000"/>
                  <a:lumOff val="50000"/>
                </a:schemeClr>
              </a:solidFill>
              <a:round/>
            </a:ln>
            <a:effectLst/>
          </c:spPr>
          <c:marker>
            <c:symbol val="circle"/>
            <c:size val="6"/>
            <c:spPr>
              <a:solidFill>
                <a:schemeClr val="tx2">
                  <a:lumMod val="50000"/>
                  <a:lumOff val="50000"/>
                </a:schemeClr>
              </a:solidFill>
              <a:ln w="9525">
                <a:solidFill>
                  <a:schemeClr val="tx2">
                    <a:lumMod val="50000"/>
                    <a:lumOff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c:v>
                </c:pt>
                <c:pt idx="1">
                  <c:v>5</c:v>
                </c:pt>
                <c:pt idx="2">
                  <c:v>10</c:v>
                </c:pt>
                <c:pt idx="3">
                  <c:v>25</c:v>
                </c:pt>
              </c:strCache>
            </c:strRef>
          </c:cat>
          <c:val>
            <c:numRef>
              <c:f>Sheet1!$C$2:$C$5</c:f>
              <c:numCache>
                <c:formatCode>0</c:formatCode>
                <c:ptCount val="4"/>
                <c:pt idx="0">
                  <c:v>260</c:v>
                </c:pt>
                <c:pt idx="1">
                  <c:v>360</c:v>
                </c:pt>
                <c:pt idx="2">
                  <c:v>520</c:v>
                </c:pt>
                <c:pt idx="3">
                  <c:v>750</c:v>
                </c:pt>
              </c:numCache>
            </c:numRef>
          </c:val>
          <c:smooth val="0"/>
          <c:extLst>
            <c:ext uri="{C3380CC4-5D6E-409C-BE32-E72D297353CC}">
              <c16:uniqueId val="{00000001-230A-0D4B-B6D2-57328A27E5E2}"/>
            </c:ext>
          </c:extLst>
        </c:ser>
        <c:dLbls>
          <c:showLegendKey val="0"/>
          <c:showVal val="0"/>
          <c:showCatName val="0"/>
          <c:showSerName val="0"/>
          <c:showPercent val="0"/>
          <c:showBubbleSize val="0"/>
        </c:dLbls>
        <c:marker val="1"/>
        <c:smooth val="0"/>
        <c:axId val="1785928255"/>
        <c:axId val="1769229823"/>
      </c:lineChart>
      <c:catAx>
        <c:axId val="1785928255"/>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769229823"/>
        <c:crosses val="autoZero"/>
        <c:auto val="1"/>
        <c:lblAlgn val="ctr"/>
        <c:lblOffset val="100"/>
        <c:noMultiLvlLbl val="0"/>
      </c:catAx>
      <c:valAx>
        <c:axId val="176922982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crossAx val="1785928255"/>
        <c:crosses val="autoZero"/>
        <c:crossBetween val="between"/>
      </c:valAx>
      <c:spPr>
        <a:noFill/>
        <a:ln>
          <a:noFill/>
        </a:ln>
        <a:effectLst/>
      </c:spPr>
    </c:plotArea>
    <c:legend>
      <c:legendPos val="b"/>
      <c:layout>
        <c:manualLayout>
          <c:xMode val="edge"/>
          <c:yMode val="edge"/>
          <c:x val="0.58067453497943666"/>
          <c:y val="2.738737462131148E-2"/>
          <c:w val="0.39987338466900668"/>
          <c:h val="4.612394889586491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7/7/26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This is a product-stage business review, not a report of a completed sales quarter. The MVP runs against invented hospital-style data. Its measured results cover rule checks and a few local sample-file copies only. Revenue and cost figures later in the deck are illustrative planning assumptions, not market-verified prices or actual customers.</a:t>
            </a:r>
            <a:endParaRPr lang="en-US"/>
          </a:p>
        </p:txBody>
      </p:sp>
      <p:sp>
        <p:nvSpPr>
          <p:cNvPr id="4" name="Slide Number Placeholder 3"/>
          <p:cNvSpPr>
            <a:spLocks noGrp="1"/>
          </p:cNvSpPr>
          <p:nvPr>
            <p:ph type="sldNum" sz="quarter" idx="5"/>
          </p:nvPr>
        </p:nvSpPr>
        <p:spPr/>
        <p:txBody>
          <a:bodyPr/>
          <a:lstStyle/>
          <a:p>
            <a:fld id="{F9AAA0A2-FFE2-354C-9768-C35E42B6251D}" type="slidenum">
              <a:rPr lang="en-US" smtClean="0"/>
              <a:t>1</a:t>
            </a:fld>
            <a:endParaRPr lang="en-US"/>
          </a:p>
        </p:txBody>
      </p:sp>
    </p:spTree>
    <p:extLst>
      <p:ext uri="{BB962C8B-B14F-4D97-AF65-F5344CB8AC3E}">
        <p14:creationId val="3596334103"/>
      </p:ext>
    </p:extLst>
  </p:cSld>
  <p:clrMapOvr>
    <a:masterClrMapping/>
  </p:clrMapOvr>
</p:notes>
</file>

<file path=ppt/notesSlides/notesSlide2.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We will review the MVP verdict, the synthetic scorecard, service-level findings, the illustrative economics, risks, and the proposed pilot decisions. No customer or production data is used in this review.</a:t>
            </a:r>
            <a:endParaRPr lang="en-US"/>
          </a:p>
        </p:txBody>
      </p:sp>
      <p:sp>
        <p:nvSpPr>
          <p:cNvPr id="4" name="Slide Number Placeholder 3"/>
          <p:cNvSpPr>
            <a:spLocks noGrp="1"/>
          </p:cNvSpPr>
          <p:nvPr>
            <p:ph type="sldNum" sz="quarter" idx="5"/>
          </p:nvPr>
        </p:nvSpPr>
        <p:spPr/>
        <p:txBody>
          <a:bodyPr/>
          <a:lstStyle/>
          <a:p>
            <a:fld id="{F9AAA0A2-FFE2-354C-9768-C35E42B6251D}" type="slidenum">
              <a:rPr lang="en-US" smtClean="0"/>
              <a:t>2</a:t>
            </a:fld>
            <a:endParaRPr lang="en-US"/>
          </a:p>
        </p:txBody>
      </p:sp>
    </p:spTree>
    <p:extLst>
      <p:ext uri="{BB962C8B-B14F-4D97-AF65-F5344CB8AC3E}">
        <p14:creationId val="3561787214"/>
      </p:ext>
    </p:extLst>
  </p:cSld>
  <p:clrMapOvr>
    <a:masterClrMapping/>
  </p:clrMapOvr>
</p:notes>
</file>

<file path=ppt/notesSlides/notesSlide3.xml><?xml version="1.0" encoding="utf-8"?>
<p:notes xmlns:a="http://schemas.openxmlformats.org/drawingml/2006/main"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xml:space="preserve">The local MVP is implemented and its backend suite passed 10 of 10 tests. The synthetic checks matched expected labels. Three actual file-copy runs passed the sample file fingerprint and JSON structure checks. The most important limitation is that a database file check does not restore the hospital application. Ask leadership to name a pilot owner and identify a small set of services for a future supervised assessment; no pilot or customer commitment exists yet.</a:t>
            </a:r>
            <a:endParaRPr lang="en-US"/>
          </a:p>
        </p:txBody>
      </p:sp>
    </p:spTree>
  </p:cSld>
  <p:clrMapOvr>
    <a:masterClrMapping/>
  </p:clrMapOvr>
</p:notes>
</file>

<file path=ppt/notesSlides/notesSlide4.xml><?xml version="1.0" encoding="utf-8"?>
<p:notes xmlns:a="http://schemas.openxmlformats.org/drawingml/2006/main" xmlns:a16="http://schemas.microsoft.com/office/drawing/2014/main" xmlns:p="http://schemas.openxmlformats.org/presentationml/2006/main" xmlns:p14="http://schemas.microsoft.com/office/powerpoint/2010/main" showMasterSp="0" showMasterPhAnim="0">
  <p:cSld>
    <p:spTree>
      <p:nvGrpSpPr>
        <p:cNvPr id="1" name="Shape 528">
          <a:extLst>
            <a:ext uri="{FF2B5EF4-FFF2-40B4-BE49-F238E27FC236}">
              <a16:creationId id="{FB72F921-54D6-E907-7BBA-A2D08F3DCA86}"/>
            </a:ext>
          </a:extLst>
        </p:cNvPr>
        <p:cNvGrpSpPr/>
        <p:nvPr/>
      </p:nvGrpSpPr>
      <p:grpSpPr>
        <a:xfrm>
          <a:off x="0" y="0"/>
          <a:ext cx="0" cy="0"/>
          <a:chOff x="0" y="0"/>
          <a:chExt cx="0" cy="0"/>
        </a:xfrm>
      </p:grpSpPr>
      <p:sp>
        <p:nvSpPr>
          <p:cNvPr id="529" name="Google Shape;529;g31f2634f057_2_64:notes">
            <a:extLst>
              <a:ext uri="{FF2B5EF4-FFF2-40B4-BE49-F238E27FC236}">
                <a16:creationId id="{1DBDF75A-5C6A-7C74-D0A7-94385DBCACE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id="{E2C6E797-3671-7C12-6FF8-CDD9BCC4DE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xml:space="preserve">Each fraction is correct classifications divided by the fixed synthetic examples checked. For example, 5/5 means all five known file cases matched their expected fingerprint label. The dependency matrix checked four services across three scenarios. The 0.581 millisecond average measures file copy, fingerprint comparison, and simple JSON validation; it is not application recovery time or a service-level objective result. These numbers do not estimate real-world reliability.</a:t>
            </a:r>
            <a:endParaRPr lang="en-US"/>
          </a:p>
        </p:txBody>
      </p:sp>
    </p:spTree>
    <p:extLst>
      <p:ext uri="{BB962C8B-B14F-4D97-AF65-F5344CB8AC3E}">
        <p14:creationId val="2096960337"/>
      </p:ext>
    </p:extLst>
  </p:cSld>
  <p:clrMapOvr>
    <a:masterClrMapping/>
  </p:clrMapOvr>
</p:notes>
</file>

<file path=ppt/notesSlides/notesSlide5.xml><?xml version="1.0" encoding="utf-8"?>
<p:notes xmlns:a="http://schemas.openxmlformats.org/drawingml/2006/main" xmlns:a16="http://schemas.microsoft.com/office/drawing/2014/main" xmlns:p="http://schemas.openxmlformats.org/presentationml/2006/main" xmlns:p14="http://schemas.microsoft.com/office/powerpoint/2010/main" showMasterSp="0" showMasterPhAnim="0">
  <p:cSld>
    <p:spTree>
      <p:nvGrpSpPr>
        <p:cNvPr id="1" name="Shape 528">
          <a:extLst>
            <a:ext uri="{FF2B5EF4-FFF2-40B4-BE49-F238E27FC236}">
              <a16:creationId id="{E30C862B-049F-B436-7F35-91EE3D911DCC}"/>
            </a:ext>
          </a:extLst>
        </p:cNvPr>
        <p:cNvGrpSpPr/>
        <p:nvPr/>
      </p:nvGrpSpPr>
      <p:grpSpPr>
        <a:xfrm>
          <a:off x="0" y="0"/>
          <a:ext cx="0" cy="0"/>
          <a:chOff x="0" y="0"/>
          <a:chExt cx="0" cy="0"/>
        </a:xfrm>
      </p:grpSpPr>
      <p:sp>
        <p:nvSpPr>
          <p:cNvPr id="529" name="Google Shape;529;g31f2634f057_2_64:notes">
            <a:extLst>
              <a:ext uri="{FF2B5EF4-FFF2-40B4-BE49-F238E27FC236}">
                <a16:creationId id="{9EF9CC9C-1F90-C4AD-F667-199F86F685D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id="{58CD0644-321E-6D30-5913-BFF9A2B8E3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xml:space="preserve">The MVP imports synthetic service and backup information, checks age and file fingerprints, applies three disruption scenarios, follows service requirements, and records a human decision. The test writes a registered synthetic file to a separate local folder and reports what happened. It does not scan for malware, connect to backup vendors, restore a PostgreSQL database, or modify production.</a:t>
            </a:r>
            <a:endParaRPr lang="en-US"/>
          </a:p>
        </p:txBody>
      </p:sp>
    </p:spTree>
    <p:extLst>
      <p:ext uri="{BB962C8B-B14F-4D97-AF65-F5344CB8AC3E}">
        <p14:creationId val="3744021485"/>
      </p:ext>
    </p:extLst>
  </p:cSld>
  <p:clrMapOvr>
    <a:masterClrMapping/>
  </p:clrMapOvr>
</p:notes>
</file>

<file path=ppt/notesSlides/notesSlide6.xml><?xml version="1.0" encoding="utf-8"?>
<p:notes xmlns:a="http://schemas.openxmlformats.org/drawingml/2006/main" xmlns:a16="http://schemas.microsoft.com/office/drawing/2014/main" xmlns:p="http://schemas.openxmlformats.org/presentationml/2006/main" xmlns:p14="http://schemas.microsoft.com/office/powerpoint/2010/main" showMasterSp="0" showMasterPhAnim="0">
  <p:cSld>
    <p:spTree>
      <p:nvGrpSpPr>
        <p:cNvPr id="1" name="Shape 528">
          <a:extLst>
            <a:ext uri="{FF2B5EF4-FFF2-40B4-BE49-F238E27FC236}">
              <a16:creationId id="{CB30B3C1-D818-E0F9-1E40-85E862088E8D}"/>
            </a:ext>
          </a:extLst>
        </p:cNvPr>
        <p:cNvGrpSpPr/>
        <p:nvPr/>
      </p:nvGrpSpPr>
      <p:grpSpPr>
        <a:xfrm>
          <a:off x="0" y="0"/>
          <a:ext cx="0" cy="0"/>
          <a:chOff x="0" y="0"/>
          <a:chExt cx="0" cy="0"/>
        </a:xfrm>
      </p:grpSpPr>
      <p:sp>
        <p:nvSpPr>
          <p:cNvPr id="529" name="Google Shape;529;g31f2634f057_2_64:notes">
            <a:extLst>
              <a:ext uri="{FF2B5EF4-FFF2-40B4-BE49-F238E27FC236}">
                <a16:creationId id="{33E18C8F-F2F8-56EA-C905-4B0E377B0BE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id="{25ECFD9E-E6AC-EBEE-FC82-79604D288B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xml:space="preserve">At the fixed 08:00 demo time, the 05:00 West database file matches its saved fingerprint but is three hours old. The configured data-loss target is two hours, so the candidate is one hour outside target. It can be tested with that gap clearly displayed. The 07:00 file was deliberately altered and does not match. Directory Store has no backup record; that blocks identity and consequently the hospital app. Malware status stays unknown because no scanner ran.</a:t>
            </a:r>
            <a:endParaRPr lang="en-US"/>
          </a:p>
        </p:txBody>
      </p:sp>
    </p:spTree>
    <p:extLst>
      <p:ext uri="{BB962C8B-B14F-4D97-AF65-F5344CB8AC3E}">
        <p14:creationId val="1674431604"/>
      </p:ext>
    </p:extLst>
  </p:cSld>
  <p:clrMapOvr>
    <a:masterClrMapping/>
  </p:clrMapOvr>
</p:notes>
</file>

<file path=ppt/notesSlides/notesSlide7.xml><?xml version="1.0" encoding="utf-8"?>
<p:notes xmlns:a="http://schemas.openxmlformats.org/drawingml/2006/main" xmlns:a16="http://schemas.microsoft.com/office/drawing/2014/main" xmlns:p="http://schemas.openxmlformats.org/presentationml/2006/main" xmlns:p14="http://schemas.microsoft.com/office/powerpoint/2010/main" showMasterSp="0" showMasterPhAnim="0">
  <p:cSld>
    <p:spTree>
      <p:nvGrpSpPr>
        <p:cNvPr id="1" name="Shape 528">
          <a:extLst>
            <a:ext uri="{FF2B5EF4-FFF2-40B4-BE49-F238E27FC236}">
              <a16:creationId id="{8CFF8FD1-F32C-FBBD-584A-C36FE0DF491E}"/>
            </a:ext>
          </a:extLst>
        </p:cNvPr>
        <p:cNvGrpSpPr/>
        <p:nvPr/>
      </p:nvGrpSpPr>
      <p:grpSpPr>
        <a:xfrm>
          <a:off x="0" y="0"/>
          <a:ext cx="0" cy="0"/>
          <a:chOff x="0" y="0"/>
          <a:chExt cx="0" cy="0"/>
        </a:xfrm>
      </p:grpSpPr>
      <p:sp>
        <p:nvSpPr>
          <p:cNvPr id="529" name="Google Shape;529;g31f2634f057_2_64:notes">
            <a:extLst>
              <a:ext uri="{FF2B5EF4-FFF2-40B4-BE49-F238E27FC236}">
                <a16:creationId id="{C2432F26-92DC-62C8-ED09-AB1B1F5F551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id="{3E256758-F923-3503-0236-6FA20A85D2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xml:space="preserve">The current evidence proves the synthetic rules and file-level workflow run as expected. It does not establish actual recovery for any hospital or utility. Production deployment would require identity and role controls, independent approvals, immutable audit protection, vendor integrations, and workload-specific restore validation. The optional local language model was not run; its accuracy is unmeasured. The deterministic fallback matched the rule-only action IDs.</a:t>
            </a:r>
            <a:endParaRPr lang="en-US"/>
          </a:p>
        </p:txBody>
      </p:sp>
    </p:spTree>
    <p:extLst>
      <p:ext uri="{BB962C8B-B14F-4D97-AF65-F5344CB8AC3E}">
        <p14:creationId val="2474701720"/>
      </p:ext>
    </p:extLst>
  </p:cSld>
  <p:clrMapOvr>
    <a:masterClrMapping/>
  </p:clrMapOvr>
</p:notes>
</file>

<file path=ppt/notesSlides/notesSlide8.xml><?xml version="1.0" encoding="utf-8"?>
<p:notes xmlns:a="http://schemas.openxmlformats.org/drawingml/2006/main" xmlns:a16="http://schemas.microsoft.com/office/drawing/2014/main" xmlns:p="http://schemas.openxmlformats.org/presentationml/2006/main" xmlns:p14="http://schemas.microsoft.com/office/powerpoint/2010/main" showMasterSp="0" showMasterPhAnim="0">
  <p:cSld>
    <p:spTree>
      <p:nvGrpSpPr>
        <p:cNvPr id="1" name="Shape 528">
          <a:extLst>
            <a:ext uri="{FF2B5EF4-FFF2-40B4-BE49-F238E27FC236}">
              <a16:creationId id="{8A5A6CCB-F299-ADEB-D492-5FE3101CBB0B}"/>
            </a:ext>
          </a:extLst>
        </p:cNvPr>
        <p:cNvGrpSpPr/>
        <p:nvPr/>
      </p:nvGrpSpPr>
      <p:grpSpPr>
        <a:xfrm>
          <a:off x="0" y="0"/>
          <a:ext cx="0" cy="0"/>
          <a:chOff x="0" y="0"/>
          <a:chExt cx="0" cy="0"/>
        </a:xfrm>
      </p:grpSpPr>
      <p:sp>
        <p:nvSpPr>
          <p:cNvPr id="529" name="Google Shape;529;g31f2634f057_2_64:notes">
            <a:extLst>
              <a:ext uri="{FF2B5EF4-FFF2-40B4-BE49-F238E27FC236}">
                <a16:creationId id="{16137CCB-04A6-5F38-95AD-985416E1A47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id="{D091A5E6-876C-B5D0-B6CE-ECBD1EA864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xml:space="preserve">This is the central business insight: backup file quality is only one part of recovery readiness. A file may match the saved fingerprint but be older than the data-loss target, and a separate missing directory copy can block identity. The current service assessment surfaces both issues; it does not claim that the hospital application has been restored.</a:t>
            </a:r>
            <a:endParaRPr lang="en-US"/>
          </a:p>
        </p:txBody>
      </p:sp>
    </p:spTree>
    <p:extLst>
      <p:ext uri="{BB962C8B-B14F-4D97-AF65-F5344CB8AC3E}">
        <p14:creationId val="3981533039"/>
      </p:ext>
    </p:extLst>
  </p:cSld>
  <p:clrMapOvr>
    <a:masterClrMapping/>
  </p:clrMapOvr>
</p:notes>
</file>

<file path=ppt/notesSlides/notesSlide9.xml><?xml version="1.0" encoding="utf-8"?>
<p:notes xmlns:a="http://schemas.openxmlformats.org/drawingml/2006/main" xmlns:a16="http://schemas.microsoft.com/office/drawing/2014/main" xmlns:p="http://schemas.openxmlformats.org/presentationml/2006/main" xmlns:p14="http://schemas.microsoft.com/office/powerpoint/2010/main" showMasterSp="0" showMasterPhAnim="0">
  <p:cSld>
    <p:spTree>
      <p:nvGrpSpPr>
        <p:cNvPr id="1" name="Shape 528">
          <a:extLst>
            <a:ext uri="{FF2B5EF4-FFF2-40B4-BE49-F238E27FC236}">
              <a16:creationId id="{D2FA91CC-0B77-6DA0-1482-7083FF9F63F7}"/>
            </a:ext>
          </a:extLst>
        </p:cNvPr>
        <p:cNvGrpSpPr/>
        <p:nvPr/>
      </p:nvGrpSpPr>
      <p:grpSpPr>
        <a:xfrm>
          <a:off x="0" y="0"/>
          <a:ext cx="0" cy="0"/>
          <a:chOff x="0" y="0"/>
          <a:chExt cx="0" cy="0"/>
        </a:xfrm>
      </p:grpSpPr>
      <p:sp>
        <p:nvSpPr>
          <p:cNvPr id="529" name="Google Shape;529;g31f2634f057_2_64:notes">
            <a:extLst>
              <a:ext uri="{FF2B5EF4-FFF2-40B4-BE49-F238E27FC236}">
                <a16:creationId id="{FF79B991-DA38-9CBA-D34B-4F082108B24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id="{FA8076AB-FD4D-6EBD-3F87-066813F800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xml:space="preserve">The table uses four customer-count scenarios from the business case. First-year revenue assumes an 18-thousand-dollar implementation fee, a 48-thousand-dollar annual license, and 12-thousand-dollar annual support per customer. Direct costs are assumed at 18-thousand dollars per customer. Gross profit is revenue less direct costs. None of these prices or delivery costs is market-verified, and the table is not a forecast.</a:t>
            </a:r>
            <a:endParaRPr lang="en-US"/>
          </a:p>
        </p:txBody>
      </p:sp>
    </p:spTree>
    <p:extLst>
      <p:ext uri="{BB962C8B-B14F-4D97-AF65-F5344CB8AC3E}">
        <p14:creationId val="1730285577"/>
      </p:ext>
    </p:extLst>
  </p:cSld>
  <p:clrMapOvr>
    <a:masterClrMapping/>
  </p:clrMapOvr>
</p:notes>
</file>

<file path=ppt/notesSlides/notesSlide10.xml><?xml version="1.0" encoding="utf-8"?>
<p:notes xmlns:a="http://schemas.openxmlformats.org/drawingml/2006/main" xmlns:a16="http://schemas.microsoft.com/office/drawing/2014/main" xmlns:p="http://schemas.openxmlformats.org/presentationml/2006/main" xmlns:p14="http://schemas.microsoft.com/office/powerpoint/2010/main" showMasterSp="0" showMasterPhAnim="0">
  <p:cSld>
    <p:spTree>
      <p:nvGrpSpPr>
        <p:cNvPr id="1" name="Shape 528">
          <a:extLst>
            <a:ext uri="{FF2B5EF4-FFF2-40B4-BE49-F238E27FC236}">
              <a16:creationId id="{E067008F-DEAC-B8F4-2359-205F6F195BA8}"/>
            </a:ext>
          </a:extLst>
        </p:cNvPr>
        <p:cNvGrpSpPr/>
        <p:nvPr/>
      </p:nvGrpSpPr>
      <p:grpSpPr>
        <a:xfrm>
          <a:off x="0" y="0"/>
          <a:ext cx="0" cy="0"/>
          <a:chOff x="0" y="0"/>
          <a:chExt cx="0" cy="0"/>
        </a:xfrm>
      </p:grpSpPr>
      <p:sp>
        <p:nvSpPr>
          <p:cNvPr id="529" name="Google Shape;529;g31f2634f057_2_64:notes">
            <a:extLst>
              <a:ext uri="{FF2B5EF4-FFF2-40B4-BE49-F238E27FC236}">
                <a16:creationId id="{D0E8783A-C49B-DC37-27A0-5B583D55093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id="{12AD1EB6-38FE-E70D-9542-BC488087EC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xml:space="preserve">The chart compares assumed first-year revenue and direct delivery cost at one, five, ten, and twenty-five customers. The horizontal groups are customer counts; values are thousands of US dollars. Revenue includes implementation, license, and support. Direct cost is the planning assumption per customer multiplied by customer count. The cards separate recurring fees from one-time implementation work.</a:t>
            </a:r>
            <a:endParaRPr lang="en-US"/>
          </a:p>
        </p:txBody>
      </p:sp>
    </p:spTree>
    <p:extLst>
      <p:ext uri="{BB962C8B-B14F-4D97-AF65-F5344CB8AC3E}">
        <p14:creationId val="3094995101"/>
      </p:ext>
    </p:extLst>
  </p:cSld>
  <p:clrMapOvr>
    <a:masterClrMapping/>
  </p:clrMapOvr>
</p:notes>
</file>

<file path=ppt/notesSlides/notesSlide11.xml><?xml version="1.0" encoding="utf-8"?>
<p:notes xmlns:a="http://schemas.openxmlformats.org/drawingml/2006/main" xmlns:a16="http://schemas.microsoft.com/office/drawing/2014/main" xmlns:p="http://schemas.openxmlformats.org/presentationml/2006/main" xmlns:p14="http://schemas.microsoft.com/office/powerpoint/2010/main" showMasterSp="0" showMasterPhAnim="0">
  <p:cSld>
    <p:spTree>
      <p:nvGrpSpPr>
        <p:cNvPr id="1" name="Shape 528">
          <a:extLst>
            <a:ext uri="{FF2B5EF4-FFF2-40B4-BE49-F238E27FC236}">
              <a16:creationId id="{71054682-DD96-8E88-C2CA-AB1496CA8B18}"/>
            </a:ext>
          </a:extLst>
        </p:cNvPr>
        <p:cNvGrpSpPr/>
        <p:nvPr/>
      </p:nvGrpSpPr>
      <p:grpSpPr>
        <a:xfrm>
          <a:off x="0" y="0"/>
          <a:ext cx="0" cy="0"/>
          <a:chOff x="0" y="0"/>
          <a:chExt cx="0" cy="0"/>
        </a:xfrm>
      </p:grpSpPr>
      <p:sp>
        <p:nvSpPr>
          <p:cNvPr id="529" name="Google Shape;529;g31f2634f057_2_64:notes">
            <a:extLst>
              <a:ext uri="{FF2B5EF4-FFF2-40B4-BE49-F238E27FC236}">
                <a16:creationId id="{F4203AA1-1C05-EDFC-35F9-DD3970DA60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id="{DF80D632-F012-4540-2F11-B1545774C0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xml:space="preserve">This chart compares gross profit with assumed fixed business overhead. Under the current assumptions, net result is negative 200-thousand dollars at one customer, negative 60-thousand at five, positive 80-thousand at ten, and positive 750-thousand at twenty-five. The large cards highlight the last two scenarios. These are illustrative, pre-tax calculations and exclude customer acquisition costs, churn, financing, and taxes; they should not be presented as a forecast.</a:t>
            </a:r>
            <a:endParaRPr lang="en-US"/>
          </a:p>
        </p:txBody>
      </p:sp>
    </p:spTree>
    <p:extLst>
      <p:ext uri="{BB962C8B-B14F-4D97-AF65-F5344CB8AC3E}">
        <p14:creationId val="3346200507"/>
      </p:ext>
    </p:extLst>
  </p:cSld>
  <p:clrMapOvr>
    <a:masterClrMapping/>
  </p:clrMapOvr>
</p:notes>
</file>

<file path=ppt/notesSlides/notesSlide12.xml><?xml version="1.0" encoding="utf-8"?>
<p:notes xmlns:a="http://schemas.openxmlformats.org/drawingml/2006/main" xmlns:a16="http://schemas.microsoft.com/office/drawing/2014/main" xmlns:p="http://schemas.openxmlformats.org/presentationml/2006/main" xmlns:p14="http://schemas.microsoft.com/office/powerpoint/2010/main" showMasterSp="0" showMasterPhAnim="0">
  <p:cSld>
    <p:spTree>
      <p:nvGrpSpPr>
        <p:cNvPr id="1" name="Shape 528">
          <a:extLst>
            <a:ext uri="{FF2B5EF4-FFF2-40B4-BE49-F238E27FC236}">
              <a16:creationId id="{660624CF-871F-6C1A-3A40-064D75817138}"/>
            </a:ext>
          </a:extLst>
        </p:cNvPr>
        <p:cNvGrpSpPr/>
        <p:nvPr/>
      </p:nvGrpSpPr>
      <p:grpSpPr>
        <a:xfrm>
          <a:off x="0" y="0"/>
          <a:ext cx="0" cy="0"/>
          <a:chOff x="0" y="0"/>
          <a:chExt cx="0" cy="0"/>
        </a:xfrm>
      </p:grpSpPr>
      <p:sp>
        <p:nvSpPr>
          <p:cNvPr id="529" name="Google Shape;529;g31f2634f057_2_64:notes">
            <a:extLst>
              <a:ext uri="{FF2B5EF4-FFF2-40B4-BE49-F238E27FC236}">
                <a16:creationId id="{517905A2-2B1F-6EBD-F467-D5DA4CFF579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id="{836FD638-E9DC-1F2D-C7CC-0F9E5672A5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xml:space="preserve">This is a planning view of recommended follow-up work, not a funded or dated delivery plan. Priorities come from known MVP gaps: buyer and operator interviews, service mapping, independent approvals and audit hardening, backup-source adapters, malware scanning and isolated application/database checks, and pilot measurement. The bar positions suggest sequence only; timing and effort require scoping.</a:t>
            </a:r>
            <a:endParaRPr lang="en-US"/>
          </a:p>
        </p:txBody>
      </p:sp>
    </p:spTree>
    <p:extLst>
      <p:ext uri="{BB962C8B-B14F-4D97-AF65-F5344CB8AC3E}">
        <p14:creationId val="4154251914"/>
      </p:ext>
    </p:extLst>
  </p:cSld>
  <p:clrMapOvr>
    <a:masterClrMapping/>
  </p:clrMapOvr>
</p:notes>
</file>

<file path=ppt/notesSlides/notesSlide13.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2A8AD84C-D0F8-BA3C-FB72-70B27535FFBE}"/>
            </a:ext>
          </a:extLst>
        </p:cNvPr>
        <p:cNvGrpSpPr/>
        <p:nvPr/>
      </p:nvGrpSpPr>
      <p:grpSpPr>
        <a:xfrm>
          <a:off x="0" y="0"/>
          <a:ext cx="0" cy="0"/>
          <a:chOff x="0" y="0"/>
          <a:chExt cx="0" cy="0"/>
        </a:xfrm>
      </p:grpSpPr>
      <p:sp>
        <p:nvSpPr>
          <p:cNvPr id="2" name="Slide Image Placeholder 1">
            <a:extLst>
              <a:ext uri="{FF2B5EF4-FFF2-40B4-BE49-F238E27FC236}">
                <a16:creationId id="{266D9C57-F2D4-0074-5E69-DF23767A5E36}"/>
              </a:ext>
            </a:extLst>
          </p:cNvPr>
          <p:cNvSpPr>
            <a:spLocks noGrp="1" noRot="1" noChangeAspect="1"/>
          </p:cNvSpPr>
          <p:nvPr>
            <p:ph type="sldImg"/>
          </p:nvPr>
        </p:nvSpPr>
        <p:spPr/>
      </p:sp>
      <p:sp>
        <p:nvSpPr>
          <p:cNvPr id="3" name="Notes Placeholder 2">
            <a:extLst>
              <a:ext uri="{FF2B5EF4-FFF2-40B4-BE49-F238E27FC236}">
                <a16:creationId id="{34FC5DF4-FB2A-E8CB-7686-BDF529D24F55}"/>
              </a:ext>
            </a:extLst>
          </p:cNvPr>
          <p:cNvSpPr>
            <a:spLocks noGrp="1"/>
          </p:cNvSpPr>
          <p:nvPr>
            <p:ph type="body" idx="1"/>
          </p:nvPr>
        </p:nvSpPr>
        <p:spPr/>
        <p:txBody>
          <a:bodyPr/>
          <a:lstStyle/>
          <a:p>
            <a:r>
              <a:rPr lang="en-US" dirty="0"/>
              <a:t xml:space="preserve">Close by asking for three decisions: identify an accountable pilot owner, agree which services and evidence to include, and set measurable success criteria with the required security gates. A pilot would validate the problem and implementation effort; it would not establish guaranteed risk reduction or production readiness.</a:t>
            </a:r>
            <a:endParaRPr lang="en-US"/>
          </a:p>
        </p:txBody>
      </p:sp>
      <p:sp>
        <p:nvSpPr>
          <p:cNvPr id="4" name="Slide Number Placeholder 3">
            <a:extLst>
              <a:ext uri="{FF2B5EF4-FFF2-40B4-BE49-F238E27FC236}">
                <a16:creationId id="{9BAF5558-A05B-DB2E-9D41-A1A56C32A34D}"/>
              </a:ext>
            </a:extLst>
          </p:cNvPr>
          <p:cNvSpPr>
            <a:spLocks noGrp="1"/>
          </p:cNvSpPr>
          <p:nvPr>
            <p:ph type="sldNum" sz="quarter" idx="5"/>
          </p:nvPr>
        </p:nvSpPr>
        <p:spPr/>
        <p:txBody>
          <a:bodyPr/>
          <a:lstStyle/>
          <a:p>
            <a:fld id="{F9AAA0A2-FFE2-354C-9768-C35E42B6251D}" type="slidenum">
              <a:rPr lang="en-US" smtClean="0"/>
              <a:t>14</a:t>
            </a:fld>
            <a:endParaRPr lang="en-US"/>
          </a:p>
        </p:txBody>
      </p:sp>
    </p:spTree>
    <p:extLst>
      <p:ext uri="{BB962C8B-B14F-4D97-AF65-F5344CB8AC3E}">
        <p14:creationId val="4206625508"/>
      </p:ext>
    </p:extLst>
  </p:cSld>
  <p:clrMapOvr>
    <a:masterClrMapping/>
  </p:clrMapOvr>
</p:notes>
</file>

<file path=ppt/notesSlides/notesSlide14.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2A8AD84C-D0F8-BA3C-FB72-70B27535FFBE}"/>
            </a:ext>
          </a:extLst>
        </p:cNvPr>
        <p:cNvGrpSpPr/>
        <p:nvPr/>
      </p:nvGrpSpPr>
      <p:grpSpPr>
        <a:xfrm>
          <a:off x="0" y="0"/>
          <a:ext cx="0" cy="0"/>
          <a:chOff x="0" y="0"/>
          <a:chExt cx="0" cy="0"/>
        </a:xfrm>
      </p:grpSpPr>
      <p:sp>
        <p:nvSpPr>
          <p:cNvPr id="2" name="Slide Image Placeholder 1">
            <a:extLst>
              <a:ext uri="{FF2B5EF4-FFF2-40B4-BE49-F238E27FC236}">
                <a16:creationId id="{266D9C57-F2D4-0074-5E69-DF23767A5E36}"/>
              </a:ext>
            </a:extLst>
          </p:cNvPr>
          <p:cNvSpPr>
            <a:spLocks noGrp="1" noRot="1" noChangeAspect="1"/>
          </p:cNvSpPr>
          <p:nvPr>
            <p:ph type="sldImg"/>
          </p:nvPr>
        </p:nvSpPr>
        <p:spPr/>
      </p:sp>
      <p:sp>
        <p:nvSpPr>
          <p:cNvPr id="3" name="Notes Placeholder 2">
            <a:extLst>
              <a:ext uri="{FF2B5EF4-FFF2-40B4-BE49-F238E27FC236}">
                <a16:creationId id="{34FC5DF4-FB2A-E8CB-7686-BDF529D24F55}"/>
              </a:ext>
            </a:extLst>
          </p:cNvPr>
          <p:cNvSpPr>
            <a:spLocks noGrp="1"/>
          </p:cNvSpPr>
          <p:nvPr>
            <p:ph type="body" idx="1"/>
          </p:nvPr>
        </p:nvSpPr>
        <p:spPr/>
        <p:txBody>
          <a:bodyPr/>
          <a:lstStyle/>
          <a:p>
            <a:r>
              <a:rPr lang="en-US" dirty="0"/>
              <a:t xml:space="preserve">This is a proposed pilot sequence, not a scheduled commitment. First agree on service owners, targets, and dependencies. Then review the three synthetic disruption cases with operators. Finally, obtain explicit approval for an isolated synthetic file test and review its evidence. Dates remain to be agreed with a pilot organization.</a:t>
            </a:r>
            <a:endParaRPr lang="en-US"/>
          </a:p>
        </p:txBody>
      </p:sp>
      <p:sp>
        <p:nvSpPr>
          <p:cNvPr id="4" name="Slide Number Placeholder 3">
            <a:extLst>
              <a:ext uri="{FF2B5EF4-FFF2-40B4-BE49-F238E27FC236}">
                <a16:creationId id="{9BAF5558-A05B-DB2E-9D41-A1A56C32A34D}"/>
              </a:ext>
            </a:extLst>
          </p:cNvPr>
          <p:cNvSpPr>
            <a:spLocks noGrp="1"/>
          </p:cNvSpPr>
          <p:nvPr>
            <p:ph type="sldNum" sz="quarter" idx="5"/>
          </p:nvPr>
        </p:nvSpPr>
        <p:spPr/>
        <p:txBody>
          <a:bodyPr/>
          <a:lstStyle/>
          <a:p>
            <a:fld id="{F9AAA0A2-FFE2-354C-9768-C35E42B6251D}" type="slidenum">
              <a:rPr lang="en-US" smtClean="0"/>
              <a:t>14</a:t>
            </a:fld>
            <a:endParaRPr lang="en-US"/>
          </a:p>
        </p:txBody>
      </p:sp>
    </p:spTree>
    <p:extLst>
      <p:ext uri="{BB962C8B-B14F-4D97-AF65-F5344CB8AC3E}">
        <p14:creationId val="4206625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b="1" i="0">
                <a:latin typeface="Lora SemiBold"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699" y="6279294"/>
            <a:ext cx="8129411"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294"/>
            <a:ext cx="8705144"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294"/>
            <a:ext cx="7493000"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699" y="6279294"/>
            <a:ext cx="8466647"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699" y="6279294"/>
            <a:ext cx="7361767"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294"/>
            <a:ext cx="7587544"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294"/>
            <a:ext cx="7531100"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Lst>
  <p:hf hdr="0" dt="0"/>
  <p:txStyles>
    <p:titleStyle>
      <a:lvl1pPr algn="l" defTabSz="914400" rtl="0" eaLnBrk="1" latinLnBrk="0" hangingPunct="1">
        <a:lnSpc>
          <a:spcPct val="90000"/>
        </a:lnSpc>
        <a:spcBef>
          <a:spcPct val="0"/>
        </a:spcBef>
        <a:buNone/>
        <a:defRPr sz="2900" b="1" i="0" kern="1200">
          <a:solidFill>
            <a:schemeClr val="tx1"/>
          </a:solidFill>
          <a:latin typeface="Lora SemiBold" pitchFamily="2" charset="77"/>
          <a:ea typeface="+mj-ea"/>
          <a:cs typeface="Roboto Serif 14pt Medium"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520"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Notes" Type="http://schemas.openxmlformats.org/officeDocument/2006/relationships/notesSlide" Target="../notesSlides/notesSlide14.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4" name="Title 3">
            <a:extLst>
              <a:ext uri="{FF2B5EF4-FFF2-40B4-BE49-F238E27FC236}">
                <a16:creationId id="{706809B0-D483-45C1-B580-B57BB5CC520A}"/>
              </a:ext>
            </a:extLst>
          </p:cNvPr>
          <p:cNvSpPr>
            <a:spLocks noGrp="1"/>
          </p:cNvSpPr>
          <p:nvPr>
            <p:ph type="ctrTitle"/>
          </p:nvPr>
        </p:nvSpPr>
        <p:spPr>
          <a:xfrm>
            <a:off x="569969" y="1444887"/>
            <a:ext cx="9448800" cy="1726468"/>
          </a:xfrm>
        </p:spPr>
        <p:txBody>
          <a:bodyPr anchor="t">
            <a:noAutofit/>
          </a:bodyPr>
          <a:lstStyle/>
          <a:p>
            <a:r>
              <a:rPr lang="en-US" sz="5500" dirty="0">
                <a:solidFill>
                  <a:schemeClr val="accent1"/>
                </a:solidFill>
                <a:latin typeface="Lora Medium" pitchFamily="2" charset="77"/>
                <a:cs typeface="Roboto Serif 14pt" pitchFamily="2" charset="77"/>
              </a:rPr>
              <a:t>ResilienceGuard Business Review</a:t>
            </a:r>
          </a:p>
        </p:txBody>
      </p:sp>
      <p:sp>
        <p:nvSpPr>
          <p:cNvPr id="5" name="Subtitle 4">
            <a:extLst>
              <a:ext uri="{FF2B5EF4-FFF2-40B4-BE49-F238E27FC236}">
                <a16:creationId id="{7DD11E6E-01C0-D6E4-28D7-D7F6B94AF61C}"/>
              </a:ext>
            </a:extLst>
          </p:cNvPr>
          <p:cNvSpPr>
            <a:spLocks noGrp="1"/>
          </p:cNvSpPr>
          <p:nvPr>
            <p:ph type="subTitle" idx="1"/>
          </p:nvPr>
        </p:nvSpPr>
        <p:spPr>
          <a:xfrm>
            <a:off x="603019" y="5077241"/>
            <a:ext cx="6304556" cy="1076208"/>
          </a:xfrm>
          <a:noFill/>
        </p:spPr>
        <p:txBody>
          <a:bodyPr>
            <a:noAutofit/>
          </a:bodyPr>
          <a:lstStyle/>
          <a:p>
            <a:pPr>
              <a:lnSpc>
                <a:spcPct val="120000"/>
              </a:lnSpc>
            </a:pPr>
            <a:r>
              <a:rPr lang="en-US" sz="1400" dirty="0">
                <a:solidFill>
                  <a:schemeClr val="accent2">
                    <a:lumMod val="50000"/>
                  </a:schemeClr>
                </a:solidFill>
              </a:rPr>
              <a:t>MVP readiness, synthetic evaluation, service-level findings, illustrative first-year economics, and decisions for a supervised pilot. This is a product-stage review, not a report of quarterly customer or revenue performance.</a:t>
            </a:r>
          </a:p>
        </p:txBody>
      </p:sp>
      <p:sp>
        <p:nvSpPr>
          <p:cNvPr id="6" name="Subtitle 4">
            <a:extLst>
              <a:ext uri="{FF2B5EF4-FFF2-40B4-BE49-F238E27FC236}">
                <a16:creationId id="{C66AB198-0518-67DE-AB81-D65264FDA20F}"/>
              </a:ext>
            </a:extLst>
          </p:cNvPr>
          <p:cNvSpPr txBox="1">
            <a:spLocks/>
          </p:cNvSpPr>
          <p:nvPr/>
        </p:nvSpPr>
        <p:spPr>
          <a:xfrm>
            <a:off x="603018" y="4606175"/>
            <a:ext cx="6304556" cy="320279"/>
          </a:xfrm>
          <a:prstGeom prst="rect">
            <a:avLst/>
          </a:prstGeom>
          <a:noFill/>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1" dirty="0">
                <a:solidFill>
                  <a:schemeClr val="accent1"/>
                </a:solidFill>
                <a:latin typeface="Roboto SemiBold" panose="02000000000000000000" pitchFamily="2" charset="0"/>
                <a:ea typeface="Roboto SemiBold" panose="02000000000000000000" pitchFamily="2" charset="0"/>
              </a:rPr>
              <a:t>27 October 2026</a:t>
            </a:r>
          </a:p>
        </p:txBody>
      </p:sp>
      <p:sp>
        <p:nvSpPr>
          <p:cNvPr id="10" name="Subtitle 4">
            <a:extLst>
              <a:ext uri="{FF2B5EF4-FFF2-40B4-BE49-F238E27FC236}">
                <a16:creationId id="{CC2E0538-5645-7BC8-CF3A-FDF31FD97820}"/>
              </a:ext>
            </a:extLst>
          </p:cNvPr>
          <p:cNvSpPr txBox="1">
            <a:spLocks/>
          </p:cNvSpPr>
          <p:nvPr/>
        </p:nvSpPr>
        <p:spPr>
          <a:xfrm>
            <a:off x="603018" y="555606"/>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2">
                    <a:lumMod val="90000"/>
                  </a:schemeClr>
                </a:solidFill>
                <a:latin typeface="Roboto Medium" panose="02000000000000000000" pitchFamily="2" charset="0"/>
                <a:ea typeface="Roboto Medium" panose="02000000000000000000" pitchFamily="2" charset="0"/>
              </a:rPr>
              <a:t>ResilienceGuard · MVP 0.1.0</a:t>
            </a:r>
          </a:p>
        </p:txBody>
      </p:sp>
      <p:cxnSp>
        <p:nvCxnSpPr>
          <p:cNvPr id="7" name="Straight Connector 6">
            <a:extLst>
              <a:ext uri="{FF2B5EF4-FFF2-40B4-BE49-F238E27FC236}">
                <a16:creationId id="{89432B40-3197-639D-BB29-4C7C5CB396D4}"/>
              </a:ext>
            </a:extLst>
          </p:cNvPr>
          <p:cNvCxnSpPr>
            <a:cxnSpLocks/>
          </p:cNvCxnSpPr>
          <p:nvPr/>
        </p:nvCxn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val="1685088558"/>
      </p:ext>
    </p:extLst>
  </p:cSld>
  <p:clrMapOvr>
    <a:masterClrMapping/>
  </p:clrMapOvr>
</p:sld>
</file>

<file path=ppt/slides/slide2.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7C141967-5EF0-A8CE-385B-6D0A5866ECFF}"/>
            </a:ext>
          </a:extLst>
        </p:cNvPr>
        <p:cNvGrpSpPr/>
        <p:nvPr/>
      </p:nvGrpSpPr>
      <p:grpSpPr>
        <a:xfrm>
          <a:off x="0" y="0"/>
          <a:ext cx="0" cy="0"/>
          <a:chOff x="0" y="0"/>
          <a:chExt cx="0" cy="0"/>
        </a:xfrm>
      </p:grpSpPr>
      <p:sp>
        <p:nvSpPr>
          <p:cNvPr id="2" name="Slide Number Placeholder 1">
            <a:extLst>
              <a:ext uri="{FF2B5EF4-FFF2-40B4-BE49-F238E27FC236}">
                <a16:creationId id="{3108432E-6CC9-7470-65A5-7F6A330EFB4F}"/>
              </a:ext>
            </a:extLst>
          </p:cNvPr>
          <p:cNvSpPr>
            <a:spLocks noGrp="1"/>
          </p:cNvSpPr>
          <p:nvPr>
            <p:ph type="sldNum" sz="quarter" idx="4"/>
          </p:nvPr>
        </p:nvSpPr>
        <p:spPr/>
        <p:txBody>
          <a:bodyPr/>
          <a:lstStyle/>
          <a:p>
            <a:fld id="{00000000-1234-1234-1234-123412341234}" type="slidenum">
              <a:rPr lang="en" smtClean="0"/>
              <a:pPr/>
              <a:t>2</a:t>
            </a:fld>
            <a:endParaRPr lang="en"/>
          </a:p>
        </p:txBody>
      </p:sp>
      <p:sp>
        <p:nvSpPr>
          <p:cNvPr id="3" name="Title 2">
            <a:extLst>
              <a:ext uri="{FF2B5EF4-FFF2-40B4-BE49-F238E27FC236}">
                <a16:creationId id="{40BD946D-556A-ECA8-679C-19ABE963A4E5}"/>
              </a:ext>
            </a:extLst>
          </p:cNvPr>
          <p:cNvSpPr>
            <a:spLocks noGrp="1"/>
          </p:cNvSpPr>
          <p:nvPr>
            <p:ph type="title"/>
          </p:nvPr>
        </p:nvSpPr>
        <p:spPr>
          <a:xfrm>
            <a:off x="393699" y="1046195"/>
            <a:ext cx="9448800" cy="985805"/>
          </a:xfrm>
        </p:spPr>
        <p:txBody>
          <a:bodyPr>
            <a:normAutofit/>
          </a:bodyPr>
          <a:lstStyle/>
          <a:p>
            <a:r>
              <a:rPr lang="en-US" dirty="0"/>
              <a:t>Business review agenda</a:t>
            </a:r>
          </a:p>
        </p:txBody>
      </p:sp>
      <p:sp>
        <p:nvSpPr>
          <p:cNvPr id="5" name="Subtitle 4">
            <a:extLst>
              <a:ext uri="{FF2B5EF4-FFF2-40B4-BE49-F238E27FC236}">
                <a16:creationId id="{173F7058-30A0-0125-1A90-B808A012B5B4}"/>
              </a:ext>
            </a:extLst>
          </p:cNvPr>
          <p:cNvSpPr txBox="1">
            <a:spLocks/>
          </p:cNvSpPr>
          <p:nvPr/>
        </p:nvSpPr>
        <p:spPr>
          <a:xfrm>
            <a:off x="393699" y="392242"/>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1"/>
                </a:solidFill>
                <a:latin typeface="Roboto Medium" panose="02000000000000000000" pitchFamily="2" charset="0"/>
                <a:ea typeface="Roboto Medium" panose="02000000000000000000" pitchFamily="2" charset="0"/>
              </a:rPr>
              <a:t>Agenda</a:t>
            </a:r>
          </a:p>
        </p:txBody>
      </p:sp>
      <p:graphicFrame>
        <p:nvGraphicFramePr>
          <p:cNvPr id="7" name="Table 6">
            <a:extLst>
              <a:ext uri="{FF2B5EF4-FFF2-40B4-BE49-F238E27FC236}">
                <a16:creationId id="{AEB3874C-EF1B-D79F-C3F5-6702ABF89D27}"/>
              </a:ext>
            </a:extLst>
          </p:cNvPr>
          <p:cNvGraphicFramePr>
            <a:graphicFrameLocks noGrp="1"/>
          </p:cNvGraphicFramePr>
          <p:nvPr>
            <p:extLst>
              <p:ext uri="{D42A27DB-BD31-4B8C-83A1-F6EECF244321}">
                <p14:modId val="1396004950"/>
              </p:ext>
            </p:extLst>
          </p:nvPr>
        </p:nvGraphicFramePr>
        <p:xfrm>
          <a:off x="393700" y="2573020"/>
          <a:ext cx="11404600" cy="3566160"/>
        </p:xfrm>
        <a:graphic>
          <a:graphicData uri="http://schemas.openxmlformats.org/drawingml/2006/table">
            <a:tbl>
              <a:tblPr firstRow="1" bandRow="1">
                <a:tableStyleId>{5C22544A-7EE6-4342-B048-85BDC9FD1C3A}</a:tableStyleId>
              </a:tblPr>
              <a:tblGrid>
                <a:gridCol w="627578">
                  <a:extLst>
                    <a:ext uri="{9D8B030D-6E8A-4147-A177-3AD203B41FA5}">
                      <a16:colId val="1631070132"/>
                    </a:ext>
                  </a:extLst>
                </a:gridCol>
                <a:gridCol w="6875813">
                  <a:extLst>
                    <a:ext uri="{9D8B030D-6E8A-4147-A177-3AD203B41FA5}">
                      <a16:colId val="1616312772"/>
                    </a:ext>
                  </a:extLst>
                </a:gridCol>
                <a:gridCol w="3901209">
                  <a:extLst>
                    <a:ext uri="{9D8B030D-6E8A-4147-A177-3AD203B41FA5}">
                      <a16:colId val="3389027217"/>
                    </a:ext>
                  </a:extLst>
                </a:gridCol>
              </a:tblGrid>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01</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Executive verdict</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MVP review</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val="492842163"/>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02</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Scorecard and test results</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Evidence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val="3159605887"/>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03</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Service-level findings</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Scenario</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val="2970902002"/>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04</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Commercial assumptions</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Planning</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val="763852306"/>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05</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Risks and gaps</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Controls</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val="3874140170"/>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06</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Decisions and outlook</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Next steps</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val="51808150"/>
                  </a:ext>
                </a:extLst>
              </a:tr>
            </a:tbl>
          </a:graphicData>
        </a:graphic>
      </p:graphicFrame>
      <p:sp>
        <p:nvSpPr>
          <p:cNvPr id="4" name="Footer Placeholder 3">
            <a:extLst>
              <a:ext uri="{FF2B5EF4-FFF2-40B4-BE49-F238E27FC236}">
                <a16:creationId id="{F810BED8-CB43-D17C-4D24-32A4B0893D63}"/>
              </a:ext>
            </a:extLst>
          </p:cNvPr>
          <p:cNvSpPr>
            <a:spLocks noGrp="1"/>
          </p:cNvSpPr>
          <p:nvPr>
            <p:ph type="ftr" sz="quarter" idx="3"/>
          </p:nvPr>
        </p:nvSpPr>
        <p:spPr/>
        <p:txBody>
          <a:bodyPr/>
          <a:lstStyle/>
          <a:p>
            <a:endParaRPr lang="en-US" sz="1100" dirty="0"/>
          </a:p>
        </p:txBody>
      </p:sp>
    </p:spTree>
    <p:extLst>
      <p:ext uri="{BB962C8B-B14F-4D97-AF65-F5344CB8AC3E}">
        <p14:creationId val="3360133703"/>
      </p:ext>
    </p:extLst>
  </p:cSld>
  <p:clrMapOvr>
    <a:masterClrMapping/>
  </p:clrMapOvr>
</p:sld>
</file>

<file path=ppt/slides/slide3.xml><?xml version="1.0" encoding="utf-8"?>
<p:sld xmlns:a="http://schemas.openxmlformats.org/drawingml/2006/main" xmlns:a16="http://schemas.microsoft.com/office/drawing/2014/main" xmlns:p="http://schemas.openxmlformats.org/presentationml/2006/main">
  <p:cSld>
    <p:spTree>
      <p:nvGrpSpPr>
        <p:cNvPr id="1" name="Shape 531"/>
        <p:cNvGrpSpPr/>
        <p:nvPr/>
      </p:nvGrpSpPr>
      <p:grpSpPr>
        <a:xfrm>
          <a:off x="0" y="0"/>
          <a:ext cx="0" cy="0"/>
          <a:chOff x="0" y="0"/>
          <a:chExt cx="0" cy="0"/>
        </a:xfrm>
      </p:grpSpPr>
      <p:sp>
        <p:nvSpPr>
          <p:cNvPr id="534" name="Google Shape;534;p58"/>
          <p:cNvSpPr txBox="1">
            <a:spLocks noGrp="1"/>
          </p:cNvSpPr>
          <p:nvPr>
            <p:ph idx="1"/>
          </p:nvPr>
        </p:nvSpPr>
        <p:spPr>
          <a:xfrm>
            <a:off x="393699" y="2812968"/>
            <a:ext cx="5537200" cy="1865909"/>
          </a:xfrm>
          <a:prstGeom prst="rect">
            <a:avLst/>
          </a:prstGeom>
        </p:spPr>
        <p:txBody>
          <a:bodyPr spcFirstLastPara="1" vert="horz" wrap="square" lIns="0" tIns="0" rIns="0" bIns="0" rtlCol="0" anchor="t" anchorCtr="0">
            <a:noAutofit/>
          </a:body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The local MVP is implemented: 10 backend tests passed, synthetic dependency checks matched expected labels, and three sample-file restore checks passed. No customer systems or production workloads were tested.</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532" name="Google Shape;532;p58"/>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3</a:t>
            </a:fld>
            <a:endParaRPr dirty="0">
              <a:sym typeface="OpenAI Sans"/>
            </a:endParaRPr>
          </a:p>
        </p:txBody>
      </p:sp>
      <p:sp>
        <p:nvSpPr>
          <p:cNvPr id="2" name="Footer Placeholder 1">
            <a:extLst>
              <a:ext uri="{FF2B5EF4-FFF2-40B4-BE49-F238E27FC236}">
                <a16:creationId id="{51941D6B-3AD0-04BD-76AF-506638666ACC}"/>
              </a:ext>
            </a:extLst>
          </p:cNvPr>
          <p:cNvSpPr>
            <a:spLocks noGrp="1"/>
          </p:cNvSpPr>
          <p:nvPr>
            <p:ph type="ftr" sz="quarter" idx="3"/>
          </p:nvPr>
        </p:nvSpPr>
        <p:spPr/>
        <p:txBody>
          <a:bodyPr/>
          <a:lstStyle/>
          <a:p>
            <a:endParaRPr lang="en-US" sz="1100" dirty="0"/>
          </a:p>
        </p:txBody>
      </p:sp>
      <p:sp>
        <p:nvSpPr>
          <p:cNvPr id="5" name="Google Shape;534;p58">
            <a:extLst>
              <a:ext uri="{FF2B5EF4-FFF2-40B4-BE49-F238E27FC236}">
                <a16:creationId id="{A3548D03-1D0F-655D-DD48-D4BF5C80F44D}"/>
              </a:ext>
            </a:extLst>
          </p:cNvPr>
          <p:cNvSpPr txBox="1">
            <a:spLocks/>
          </p:cNvSpPr>
          <p:nvPr/>
        </p:nvSpPr>
        <p:spPr>
          <a:xfrm>
            <a:off x="393700" y="2111025"/>
            <a:ext cx="1844403"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MVP status</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6" name="Google Shape;534;p58">
            <a:extLst>
              <a:ext uri="{FF2B5EF4-FFF2-40B4-BE49-F238E27FC236}">
                <a16:creationId id="{4051D0BE-5D22-BCB4-EADF-44F16643D9F5}"/>
              </a:ext>
            </a:extLst>
          </p:cNvPr>
          <p:cNvSpPr txBox="1">
            <a:spLocks/>
          </p:cNvSpPr>
          <p:nvPr/>
        </p:nvSpPr>
        <p:spPr>
          <a:xfrm>
            <a:off x="6260109" y="2826992"/>
            <a:ext cx="5537200" cy="1001086"/>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The 05:00 database copy matches its saved fingerprint but is one hour older than the two-hour data-loss target. The hospital app remains blocked because Directory Data Store has no backup record.</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7" name="Google Shape;534;p58">
            <a:extLst>
              <a:ext uri="{FF2B5EF4-FFF2-40B4-BE49-F238E27FC236}">
                <a16:creationId id="{EE26938C-7FB7-798D-7C48-988932737F6D}"/>
              </a:ext>
            </a:extLst>
          </p:cNvPr>
          <p:cNvSpPr txBox="1">
            <a:spLocks/>
          </p:cNvSpPr>
          <p:nvPr/>
        </p:nvSpPr>
        <p:spPr>
          <a:xfrm>
            <a:off x="6260109" y="2344035"/>
            <a:ext cx="5537200"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The most important insight</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10" name="Title 2">
            <a:extLst>
              <a:ext uri="{FF2B5EF4-FFF2-40B4-BE49-F238E27FC236}">
                <a16:creationId id="{944AF173-BF22-B5ED-B88F-9080D8699E64}"/>
              </a:ext>
            </a:extLst>
          </p:cNvPr>
          <p:cNvSpPr>
            <a:spLocks noGrp="1"/>
          </p:cNvSpPr>
          <p:nvPr>
            <p:ph type="title"/>
          </p:nvPr>
        </p:nvSpPr>
        <p:spPr>
          <a:xfrm>
            <a:off x="393699" y="1046195"/>
            <a:ext cx="11403610" cy="623819"/>
          </a:xfrm>
        </p:spPr>
        <p:txBody>
          <a:bodyPr>
            <a:normAutofit/>
          </a:bodyPr>
          <a:lstStyle/>
          <a:p>
            <a:r>
              <a:rPr lang="en-US" dirty="0"/>
              <a:t>Quarter recap, verdict and asks</a:t>
            </a:r>
          </a:p>
        </p:txBody>
      </p:sp>
      <p:sp>
        <p:nvSpPr>
          <p:cNvPr id="11" name="Subtitle 4">
            <a:extLst>
              <a:ext uri="{FF2B5EF4-FFF2-40B4-BE49-F238E27FC236}">
                <a16:creationId id="{42E9C51D-AB09-8D83-4157-006D57137348}"/>
              </a:ext>
            </a:extLst>
          </p:cNvPr>
          <p:cNvSpPr txBox="1">
            <a:spLocks/>
          </p:cNvSpPr>
          <p:nvPr/>
        </p:nvSpPr>
        <p:spPr>
          <a:xfrm>
            <a:off x="393699" y="392242"/>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1"/>
                </a:solidFill>
                <a:latin typeface="Roboto Medium" panose="02000000000000000000" pitchFamily="2" charset="0"/>
                <a:ea typeface="Roboto Medium" panose="02000000000000000000" pitchFamily="2" charset="0"/>
              </a:rPr>
              <a:t>Executive Summary</a:t>
            </a:r>
          </a:p>
        </p:txBody>
      </p:sp>
      <p:cxnSp>
        <p:nvCxnSpPr>
          <p:cNvPr id="15" name="Straight Connector 14">
            <a:extLst>
              <a:ext uri="{FF2B5EF4-FFF2-40B4-BE49-F238E27FC236}">
                <a16:creationId id="{D437FEE4-7EB2-0B28-0524-F102AB6A47C6}"/>
              </a:ext>
            </a:extLst>
          </p:cNvPr>
          <p:cNvCxnSpPr/>
          <p:nvPr/>
        </p:nvCxnSpPr>
        <p:spPr>
          <a:xfrm>
            <a:off x="6261100" y="4039769"/>
            <a:ext cx="5537200" cy="0"/>
          </a:xfrm>
          <a:prstGeom prst="line">
            <a:avLst/>
          </a:prstGeom>
          <a:ln w="12700">
            <a:solidFill>
              <a:schemeClr val="accent2">
                <a:lumMod val="90000"/>
              </a:schemeClr>
            </a:solidFill>
          </a:ln>
        </p:spPr>
        <p:style>
          <a:lnRef idx="2">
            <a:schemeClr val="accent1"/>
          </a:lnRef>
          <a:fillRef idx="0">
            <a:schemeClr val="accent1"/>
          </a:fillRef>
          <a:effectRef idx="1">
            <a:schemeClr val="accent1"/>
          </a:effectRef>
          <a:fontRef idx="minor">
            <a:schemeClr val="tx1"/>
          </a:fontRef>
        </p:style>
      </p:cxnSp>
      <p:sp>
        <p:nvSpPr>
          <p:cNvPr id="16" name="Google Shape;534;p58">
            <a:extLst>
              <a:ext uri="{FF2B5EF4-FFF2-40B4-BE49-F238E27FC236}">
                <a16:creationId id="{108E1773-B682-C5EE-6944-58546A384F37}"/>
              </a:ext>
            </a:extLst>
          </p:cNvPr>
          <p:cNvSpPr txBox="1">
            <a:spLocks/>
          </p:cNvSpPr>
          <p:nvPr/>
        </p:nvSpPr>
        <p:spPr>
          <a:xfrm>
            <a:off x="6260109" y="4867987"/>
            <a:ext cx="5537200" cy="120023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Choose a pilot owner and three to five representative services. Confirm data owners, recovery targets, dependencies, and security requirements before setting pilot scope.</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7" name="Google Shape;534;p58">
            <a:extLst>
              <a:ext uri="{FF2B5EF4-FFF2-40B4-BE49-F238E27FC236}">
                <a16:creationId id="{1C1F2FD8-0D30-C7BF-5234-6F0EE46F0DC3}"/>
              </a:ext>
            </a:extLst>
          </p:cNvPr>
          <p:cNvSpPr txBox="1">
            <a:spLocks/>
          </p:cNvSpPr>
          <p:nvPr/>
        </p:nvSpPr>
        <p:spPr>
          <a:xfrm>
            <a:off x="6260109" y="4385030"/>
            <a:ext cx="5537200"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Leadership decision needed</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3" name="Rounded Rectangle 2">
            <a:extLst>
              <a:ext uri="{FF2B5EF4-FFF2-40B4-BE49-F238E27FC236}">
                <a16:creationId id="{F16B487F-1A7A-C301-4AB8-8DC1C19839AB}"/>
              </a:ext>
            </a:extLst>
          </p:cNvPr>
          <p:cNvSpPr/>
          <p:nvPr/>
        </p:nvSpPr>
        <p:spPr>
          <a:xfrm>
            <a:off x="2349499" y="2093356"/>
            <a:ext cx="2271780" cy="402442"/>
          </a:xfrm>
          <a:prstGeom prst="roundRect">
            <a:avLst>
              <a:gd name="adj" fmla="val 15738"/>
            </a:avLst>
          </a:prstGeom>
          <a:solidFill>
            <a:schemeClr val="accent1">
              <a:alpha val="2464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MVP implemented</a:t>
            </a:r>
          </a:p>
        </p:txBody>
      </p:sp>
      <p:sp>
        <p:nvSpPr>
          <p:cNvPr id="14" name="TextBox 13">
            <a:extLst>
              <a:ext uri="{FF2B5EF4-FFF2-40B4-BE49-F238E27FC236}">
                <a16:creationId id="{F3AF61EC-DBA0-BFB1-3293-0BF5DB670691}"/>
              </a:ext>
            </a:extLst>
          </p:cNvPr>
          <p:cNvSpPr txBox="1"/>
          <p:nvPr/>
        </p:nvSpPr>
        <p:spPr>
          <a:xfrm>
            <a:off x="393699" y="4756098"/>
            <a:ext cx="5537199" cy="294165"/>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Bottom line</a:t>
            </a:r>
          </a:p>
        </p:txBody>
      </p:sp>
      <p:sp>
        <p:nvSpPr>
          <p:cNvPr id="18" name="Google Shape;534;p58">
            <a:extLst>
              <a:ext uri="{FF2B5EF4-FFF2-40B4-BE49-F238E27FC236}">
                <a16:creationId id="{47E14DB1-10CD-1A00-06DC-F11F90562A04}"/>
              </a:ext>
            </a:extLst>
          </p:cNvPr>
          <p:cNvSpPr txBox="1">
            <a:spLocks/>
          </p:cNvSpPr>
          <p:nvPr/>
        </p:nvSpPr>
        <p:spPr>
          <a:xfrm>
            <a:off x="386251" y="5134071"/>
            <a:ext cx="5537200" cy="86032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Ready for supervised evidence mapping and isolated file tests; not ready for production recovery or compliance claims.</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Tree>
  </p:cSld>
  <p:clrMapOvr>
    <a:masterClrMapping/>
  </p:clrMapOvr>
</p:sld>
</file>

<file path=ppt/slides/slide4.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FE338EF2-CCFB-FA1F-AED3-8C8C1BA35C4F}"/>
            </a:ext>
          </a:extLst>
        </p:cNvPr>
        <p:cNvGrpSpPr/>
        <p:nvPr/>
      </p:nvGrpSpPr>
      <p:grpSpPr>
        <a:xfrm>
          <a:off x="0" y="0"/>
          <a:ext cx="0" cy="0"/>
          <a:chOff x="0" y="0"/>
          <a:chExt cx="0" cy="0"/>
        </a:xfrm>
      </p:grpSpPr>
      <p:sp>
        <p:nvSpPr>
          <p:cNvPr id="532" name="Google Shape;532;p58">
            <a:extLst>
              <a:ext uri="{FF2B5EF4-FFF2-40B4-BE49-F238E27FC236}">
                <a16:creationId id="{CAD38C25-48AC-5A29-D53A-82080FAF926E}"/>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4</a:t>
            </a:fld>
            <a:endParaRPr dirty="0">
              <a:sym typeface="OpenAI Sans"/>
            </a:endParaRPr>
          </a:p>
        </p:txBody>
      </p:sp>
      <p:sp>
        <p:nvSpPr>
          <p:cNvPr id="533" name="Google Shape;533;p58">
            <a:extLst>
              <a:ext uri="{FF2B5EF4-FFF2-40B4-BE49-F238E27FC236}">
                <a16:creationId id="{33E8FE18-95DE-C7EA-9E95-10B82189367E}"/>
              </a:ext>
            </a:extLst>
          </p:cNvPr>
          <p:cNvSpPr txBox="1">
            <a:spLocks noGrp="1"/>
          </p:cNvSpPr>
          <p:nvPr>
            <p:ph type="title"/>
          </p:nvPr>
        </p:nvSpPr>
        <p:spPr>
          <a:xfrm>
            <a:off x="393699" y="344009"/>
            <a:ext cx="11404599" cy="595791"/>
          </a:xfrm>
          <a:prstGeom prst="rect">
            <a:avLst/>
          </a:prstGeom>
        </p:spPr>
        <p:txBody>
          <a:bodyPr spcFirstLastPara="1" vert="horz" wrap="square" lIns="0" tIns="0" rIns="0" bIns="0" rtlCol="0" anchor="t" anchorCtr="0">
            <a:noAutofit/>
          </a:bodyPr>
          <a:lstStyle/>
          <a:p>
            <a:r>
              <a:rPr lang="en-US" dirty="0">
                <a:solidFill>
                  <a:schemeClr val="accent1"/>
                </a:solidFill>
              </a:rPr>
              <a:t>MVP scorecard: synthetic evaluation</a:t>
            </a:r>
            <a:endParaRPr dirty="0">
              <a:solidFill>
                <a:schemeClr val="accent1"/>
              </a:solidFill>
            </a:endParaRPr>
          </a:p>
        </p:txBody>
      </p:sp>
      <p:sp>
        <p:nvSpPr>
          <p:cNvPr id="7" name="Rounded Rectangle 6">
            <a:extLst>
              <a:ext uri="{FF2B5EF4-FFF2-40B4-BE49-F238E27FC236}">
                <a16:creationId id="{9E3149F3-A7D7-BC8F-C84C-4A4E60EA2799}"/>
              </a:ext>
            </a:extLst>
          </p:cNvPr>
          <p:cNvSpPr/>
          <p:nvPr/>
        </p:nvSpPr>
        <p:spPr>
          <a:xfrm>
            <a:off x="6264412" y="253749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Rounded Rectangle 8">
            <a:extLst>
              <a:ext uri="{FF2B5EF4-FFF2-40B4-BE49-F238E27FC236}">
                <a16:creationId id="{5CD1077A-BBDF-3B07-D940-FA5482CB0124}"/>
              </a:ext>
            </a:extLst>
          </p:cNvPr>
          <p:cNvSpPr/>
          <p:nvPr/>
        </p:nvSpPr>
        <p:spPr>
          <a:xfrm>
            <a:off x="409043" y="253749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 name="Content Placeholder 10">
            <a:extLst>
              <a:ext uri="{FF2B5EF4-FFF2-40B4-BE49-F238E27FC236}">
                <a16:creationId id="{B54A841D-1EA0-6181-C778-7C851CA6E64E}"/>
              </a:ext>
            </a:extLst>
          </p:cNvPr>
          <p:cNvSpPr txBox="1">
            <a:spLocks/>
          </p:cNvSpPr>
          <p:nvPr/>
        </p:nvSpPr>
        <p:spPr>
          <a:xfrm>
            <a:off x="706278" y="325089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Fingerprint 5/5 · backup age 5/5 · missing backup 4/4</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2" name="Rounded Rectangle 1">
            <a:extLst>
              <a:ext uri="{FF2B5EF4-FFF2-40B4-BE49-F238E27FC236}">
                <a16:creationId id="{B4E203EC-EB81-96EF-66AB-3B6012B4B3EF}"/>
              </a:ext>
            </a:extLst>
          </p:cNvPr>
          <p:cNvSpPr/>
          <p:nvPr/>
        </p:nvSpPr>
        <p:spPr>
          <a:xfrm>
            <a:off x="6264412"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 name="Rounded Rectangle 3">
            <a:extLst>
              <a:ext uri="{FF2B5EF4-FFF2-40B4-BE49-F238E27FC236}">
                <a16:creationId id="{2000F722-C0CE-FDAF-EAFE-20BC4A7F4118}"/>
              </a:ext>
            </a:extLst>
          </p:cNvPr>
          <p:cNvSpPr/>
          <p:nvPr/>
        </p:nvSpPr>
        <p:spPr>
          <a:xfrm>
            <a:off x="409043"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Footer Placeholder 10">
            <a:extLst>
              <a:ext uri="{FF2B5EF4-FFF2-40B4-BE49-F238E27FC236}">
                <a16:creationId id="{A4694142-7504-448C-B110-ABCB1A6DD41E}"/>
              </a:ext>
            </a:extLst>
          </p:cNvPr>
          <p:cNvSpPr>
            <a:spLocks noGrp="1"/>
          </p:cNvSpPr>
          <p:nvPr>
            <p:ph type="ftr" sz="quarter" idx="3"/>
          </p:nvPr>
        </p:nvSpPr>
        <p:spPr/>
        <p:txBody>
          <a:bodyPr/>
          <a:lstStyle/>
          <a:p>
            <a:endParaRPr lang="en-US" sz="1100" dirty="0"/>
          </a:p>
        </p:txBody>
      </p:sp>
      <p:sp>
        <p:nvSpPr>
          <p:cNvPr id="12" name="Google Shape;534;p58">
            <a:extLst>
              <a:ext uri="{FF2B5EF4-FFF2-40B4-BE49-F238E27FC236}">
                <a16:creationId id="{F393FB38-1005-6250-1642-93C1A76E0B77}"/>
              </a:ext>
            </a:extLst>
          </p:cNvPr>
          <p:cNvSpPr txBox="1">
            <a:spLocks/>
          </p:cNvSpPr>
          <p:nvPr/>
        </p:nvSpPr>
        <p:spPr>
          <a:xfrm>
            <a:off x="393700" y="1649094"/>
            <a:ext cx="11404600" cy="63404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Each fraction reports expected answers correctly classified. It does not estimate real-world recovery reliability.</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3" name="Google Shape;534;p58">
            <a:extLst>
              <a:ext uri="{FF2B5EF4-FFF2-40B4-BE49-F238E27FC236}">
                <a16:creationId id="{A0F4C075-109A-7DDE-18C9-18F128552C24}"/>
              </a:ext>
            </a:extLst>
          </p:cNvPr>
          <p:cNvSpPr txBox="1">
            <a:spLocks/>
          </p:cNvSpPr>
          <p:nvPr/>
        </p:nvSpPr>
        <p:spPr>
          <a:xfrm>
            <a:off x="393699" y="1146566"/>
            <a:ext cx="11404599"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Measured results use known synthetic examples. Fixed reference time: 26 October 2026, 08:00 UTC.</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14" name="TextBox 13">
            <a:extLst>
              <a:ext uri="{FF2B5EF4-FFF2-40B4-BE49-F238E27FC236}">
                <a16:creationId id="{49DCE927-F1A4-A9ED-C839-844BB688547F}"/>
              </a:ext>
            </a:extLst>
          </p:cNvPr>
          <p:cNvSpPr txBox="1"/>
          <p:nvPr/>
        </p:nvSpPr>
        <p:spPr>
          <a:xfrm>
            <a:off x="702967" y="279380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Backup rule checks</a:t>
            </a:r>
          </a:p>
        </p:txBody>
      </p:sp>
      <p:sp>
        <p:nvSpPr>
          <p:cNvPr id="16" name="Content Placeholder 10">
            <a:extLst>
              <a:ext uri="{FF2B5EF4-FFF2-40B4-BE49-F238E27FC236}">
                <a16:creationId id="{B71DDDF3-A6F6-A2D9-7F68-A246AE82F73A}"/>
              </a:ext>
            </a:extLst>
          </p:cNvPr>
          <p:cNvSpPr txBox="1">
            <a:spLocks/>
          </p:cNvSpPr>
          <p:nvPr/>
        </p:nvSpPr>
        <p:spPr>
          <a:xfrm>
            <a:off x="6558438" y="325089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12/12 labels matched across 4 services and 3 disruptions</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7" name="TextBox 16">
            <a:extLst>
              <a:ext uri="{FF2B5EF4-FFF2-40B4-BE49-F238E27FC236}">
                <a16:creationId id="{BAD06467-8163-39A0-0B9A-1A98533B6978}"/>
              </a:ext>
            </a:extLst>
          </p:cNvPr>
          <p:cNvSpPr txBox="1"/>
          <p:nvPr/>
        </p:nvSpPr>
        <p:spPr>
          <a:xfrm>
            <a:off x="6555127" y="279380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Service blockers</a:t>
            </a:r>
          </a:p>
        </p:txBody>
      </p:sp>
      <p:sp>
        <p:nvSpPr>
          <p:cNvPr id="18" name="Content Placeholder 10">
            <a:extLst>
              <a:ext uri="{FF2B5EF4-FFF2-40B4-BE49-F238E27FC236}">
                <a16:creationId id="{E61F5831-A6CA-0036-3E5C-283D4EBAFE55}"/>
              </a:ext>
            </a:extLst>
          </p:cNvPr>
          <p:cNvSpPr txBox="1">
            <a:spLocks/>
          </p:cNvSpPr>
          <p:nvPr/>
        </p:nvSpPr>
        <p:spPr>
          <a:xfrm>
            <a:off x="70627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3/3 sample checks passed; mean 0.581 ms per copy</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9" name="TextBox 18">
            <a:extLst>
              <a:ext uri="{FF2B5EF4-FFF2-40B4-BE49-F238E27FC236}">
                <a16:creationId id="{1283300B-2E76-54E3-B3E8-C4CE0DA323BE}"/>
              </a:ext>
            </a:extLst>
          </p:cNvPr>
          <p:cNvSpPr txBox="1"/>
          <p:nvPr/>
        </p:nvSpPr>
        <p:spPr>
          <a:xfrm>
            <a:off x="70296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Sandbox file test</a:t>
            </a:r>
          </a:p>
        </p:txBody>
      </p:sp>
      <p:sp>
        <p:nvSpPr>
          <p:cNvPr id="20" name="Content Placeholder 10">
            <a:extLst>
              <a:ext uri="{FF2B5EF4-FFF2-40B4-BE49-F238E27FC236}">
                <a16:creationId id="{91E87E4E-34C4-73A3-D9B4-5528035E3F32}"/>
              </a:ext>
            </a:extLst>
          </p:cNvPr>
          <p:cNvSpPr txBox="1">
            <a:spLocks/>
          </p:cNvSpPr>
          <p:nvPr/>
        </p:nvSpPr>
        <p:spPr>
          <a:xfrm>
            <a:off x="655843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2/2 pending or scenario-untrusted restore attempts were blocked</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21" name="TextBox 20">
            <a:extLst>
              <a:ext uri="{FF2B5EF4-FFF2-40B4-BE49-F238E27FC236}">
                <a16:creationId id="{4BBBD727-79F1-2502-A083-A18F5A754163}"/>
              </a:ext>
            </a:extLst>
          </p:cNvPr>
          <p:cNvSpPr txBox="1"/>
          <p:nvPr/>
        </p:nvSpPr>
        <p:spPr>
          <a:xfrm>
            <a:off x="655512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Approval safety</a:t>
            </a:r>
          </a:p>
        </p:txBody>
      </p:sp>
    </p:spTree>
    <p:extLst>
      <p:ext uri="{BB962C8B-B14F-4D97-AF65-F5344CB8AC3E}">
        <p14:creationId val="2179535326"/>
      </p:ext>
    </p:extLst>
  </p:cSld>
  <p:clrMapOvr>
    <a:masterClrMapping/>
  </p:clrMapOvr>
</p:sld>
</file>

<file path=ppt/slides/slide5.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00781FDF-4130-4E67-D3EE-AE7C2129CF1F}"/>
            </a:ext>
          </a:extLst>
        </p:cNvPr>
        <p:cNvGrpSpPr/>
        <p:nvPr/>
      </p:nvGrpSpPr>
      <p:grpSpPr>
        <a:xfrm>
          <a:off x="0" y="0"/>
          <a:ext cx="0" cy="0"/>
          <a:chOff x="0" y="0"/>
          <a:chExt cx="0" cy="0"/>
        </a:xfrm>
      </p:grpSpPr>
      <p:sp>
        <p:nvSpPr>
          <p:cNvPr id="532" name="Google Shape;532;p58">
            <a:extLst>
              <a:ext uri="{FF2B5EF4-FFF2-40B4-BE49-F238E27FC236}">
                <a16:creationId id="{D6AD4425-62A5-20FE-DA81-DB0262F8E9D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5</a:t>
            </a:fld>
            <a:endParaRPr dirty="0">
              <a:sym typeface="OpenAI Sans"/>
            </a:endParaRPr>
          </a:p>
        </p:txBody>
      </p:sp>
      <p:sp>
        <p:nvSpPr>
          <p:cNvPr id="533" name="Google Shape;533;p58">
            <a:extLst>
              <a:ext uri="{FF2B5EF4-FFF2-40B4-BE49-F238E27FC236}">
                <a16:creationId id="{CCB3C549-3412-D9EC-FC96-8C0EA25A4312}"/>
              </a:ext>
            </a:extLst>
          </p:cNvPr>
          <p:cNvSpPr txBox="1">
            <a:spLocks noGrp="1"/>
          </p:cNvSpPr>
          <p:nvPr>
            <p:ph type="title"/>
          </p:nvPr>
        </p:nvSpPr>
        <p:spPr>
          <a:xfrm>
            <a:off x="393699" y="344009"/>
            <a:ext cx="11404599" cy="595791"/>
          </a:xfrm>
          <a:prstGeom prst="rect">
            <a:avLst/>
          </a:prstGeom>
        </p:spPr>
        <p:txBody>
          <a:bodyPr spcFirstLastPara="1" vert="horz" wrap="square" lIns="0" tIns="0" rIns="0" bIns="0" rtlCol="0" anchor="t" anchorCtr="0">
            <a:noAutofit/>
          </a:bodyPr>
          <a:lstStyle/>
          <a:p>
            <a:r>
              <a:rPr lang="en-US" dirty="0">
                <a:solidFill>
                  <a:schemeClr val="accent1"/>
                </a:solidFill>
              </a:rPr>
              <a:t>Delivered capabilities, measured at fixture scale</a:t>
            </a:r>
            <a:endParaRPr dirty="0">
              <a:solidFill>
                <a:schemeClr val="accent1"/>
              </a:solidFill>
            </a:endParaRPr>
          </a:p>
        </p:txBody>
      </p:sp>
      <p:sp>
        <p:nvSpPr>
          <p:cNvPr id="11" name="Footer Placeholder 10">
            <a:extLst>
              <a:ext uri="{FF2B5EF4-FFF2-40B4-BE49-F238E27FC236}">
                <a16:creationId id="{BD5D3365-630B-7DA2-6578-D2DE7ACBBC07}"/>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id="{076E58D8-94E3-59EF-6F5D-94479531D945}"/>
              </a:ext>
            </a:extLst>
          </p:cNvPr>
          <p:cNvSpPr txBox="1">
            <a:spLocks/>
          </p:cNvSpPr>
          <p:nvPr/>
        </p:nvSpPr>
        <p:spPr>
          <a:xfrm>
            <a:off x="393700" y="2374900"/>
            <a:ext cx="5537200" cy="36194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ResilienceGuard combines a synthetic service catalog, backup metadata, disruption scenarios, and a rule-based map of service requirements. It reports file presence, age, fingerprint match, location reachability, and restore result separately.</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A person can propose, approve or reject, and inspect a real copy of a registered sample in an isolated folder. The system records the result and exports an evidence report; the original sample stays read-only.</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
        <p:nvSpPr>
          <p:cNvPr id="5" name="Google Shape;534;p58">
            <a:extLst>
              <a:ext uri="{FF2B5EF4-FFF2-40B4-BE49-F238E27FC236}">
                <a16:creationId id="{EC39CC4A-7702-F34C-BFC1-C34643FFFDEE}"/>
              </a:ext>
            </a:extLst>
          </p:cNvPr>
          <p:cNvSpPr txBox="1">
            <a:spLocks/>
          </p:cNvSpPr>
          <p:nvPr/>
        </p:nvSpPr>
        <p:spPr>
          <a:xfrm>
            <a:off x="393700" y="1436666"/>
            <a:ext cx="5537200" cy="719318"/>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No production connector, malware scan, or live database restore is included.</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p>
        </p:txBody>
      </p:sp>
      <p:sp>
        <p:nvSpPr>
          <p:cNvPr id="27" name="Content Placeholder 10">
            <a:extLst>
              <a:ext uri="{FF2B5EF4-FFF2-40B4-BE49-F238E27FC236}">
                <a16:creationId id="{B4FA777D-1E43-2118-018B-D684DB7EFEF1}"/>
              </a:ext>
            </a:extLst>
          </p:cNvPr>
          <p:cNvSpPr txBox="1">
            <a:spLocks/>
          </p:cNvSpPr>
          <p:nvPr/>
        </p:nvSpPr>
        <p:spPr>
          <a:xfrm>
            <a:off x="6648104" y="218425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File found · age vs target · fingerprint · location status</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28" name="TextBox 27">
            <a:extLst>
              <a:ext uri="{FF2B5EF4-FFF2-40B4-BE49-F238E27FC236}">
                <a16:creationId id="{F2F01BD9-1359-C69B-3F1A-A36534227FFE}"/>
              </a:ext>
            </a:extLst>
          </p:cNvPr>
          <p:cNvSpPr txBox="1"/>
          <p:nvPr/>
        </p:nvSpPr>
        <p:spPr>
          <a:xfrm>
            <a:off x="6644793" y="181325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Backup evidence</a:t>
            </a:r>
          </a:p>
        </p:txBody>
      </p:sp>
      <p:sp>
        <p:nvSpPr>
          <p:cNvPr id="2" name="Rounded Rectangle 1">
            <a:extLst>
              <a:ext uri="{FF2B5EF4-FFF2-40B4-BE49-F238E27FC236}">
                <a16:creationId id="{3C99D68F-34ED-A722-D7DB-03942B0B77DB}"/>
              </a:ext>
            </a:extLst>
          </p:cNvPr>
          <p:cNvSpPr/>
          <p:nvPr/>
        </p:nvSpPr>
        <p:spPr>
          <a:xfrm>
            <a:off x="6405842" y="152193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 name="Content Placeholder 10">
            <a:extLst>
              <a:ext uri="{FF2B5EF4-FFF2-40B4-BE49-F238E27FC236}">
                <a16:creationId id="{32674159-B6E6-B9EF-D753-5EF1E687140B}"/>
              </a:ext>
            </a:extLst>
          </p:cNvPr>
          <p:cNvSpPr txBox="1">
            <a:spLocks/>
          </p:cNvSpPr>
          <p:nvPr/>
        </p:nvSpPr>
        <p:spPr>
          <a:xfrm>
            <a:off x="6648104" y="369301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Three disruptions recalculate available copies and service blockers</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6" name="TextBox 5">
            <a:extLst>
              <a:ext uri="{FF2B5EF4-FFF2-40B4-BE49-F238E27FC236}">
                <a16:creationId id="{57D84212-7716-6AFC-2CCA-1118E41834EC}"/>
              </a:ext>
            </a:extLst>
          </p:cNvPr>
          <p:cNvSpPr txBox="1"/>
          <p:nvPr/>
        </p:nvSpPr>
        <p:spPr>
          <a:xfrm>
            <a:off x="6644793" y="332201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Dependencies and scenarios</a:t>
            </a:r>
          </a:p>
        </p:txBody>
      </p:sp>
      <p:sp>
        <p:nvSpPr>
          <p:cNvPr id="7" name="Rounded Rectangle 6">
            <a:extLst>
              <a:ext uri="{FF2B5EF4-FFF2-40B4-BE49-F238E27FC236}">
                <a16:creationId id="{520BED9B-3AD0-B986-23FF-346EFF8EE6FA}"/>
              </a:ext>
            </a:extLst>
          </p:cNvPr>
          <p:cNvSpPr/>
          <p:nvPr/>
        </p:nvSpPr>
        <p:spPr>
          <a:xfrm>
            <a:off x="6405842" y="303069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 name="Content Placeholder 10">
            <a:extLst>
              <a:ext uri="{FF2B5EF4-FFF2-40B4-BE49-F238E27FC236}">
                <a16:creationId id="{58865802-6967-7210-3371-DEA6828B57A2}"/>
              </a:ext>
            </a:extLst>
          </p:cNvPr>
          <p:cNvSpPr txBox="1">
            <a:spLocks/>
          </p:cNvSpPr>
          <p:nvPr/>
        </p:nvSpPr>
        <p:spPr>
          <a:xfrm>
            <a:off x="6648105" y="520177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Only an approved, registered synthetic file reaches the test folder</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9" name="TextBox 8">
            <a:extLst>
              <a:ext uri="{FF2B5EF4-FFF2-40B4-BE49-F238E27FC236}">
                <a16:creationId id="{DD2FEB2E-B2D7-376B-AFC1-B25E2E37C15B}"/>
              </a:ext>
            </a:extLst>
          </p:cNvPr>
          <p:cNvSpPr txBox="1"/>
          <p:nvPr/>
        </p:nvSpPr>
        <p:spPr>
          <a:xfrm>
            <a:off x="6644794" y="483077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Human-gated test</a:t>
            </a:r>
          </a:p>
        </p:txBody>
      </p:sp>
      <p:sp>
        <p:nvSpPr>
          <p:cNvPr id="10" name="Rounded Rectangle 9">
            <a:extLst>
              <a:ext uri="{FF2B5EF4-FFF2-40B4-BE49-F238E27FC236}">
                <a16:creationId id="{F95C5540-5014-B354-3651-51BA127570AA}"/>
              </a:ext>
            </a:extLst>
          </p:cNvPr>
          <p:cNvSpPr/>
          <p:nvPr/>
        </p:nvSpPr>
        <p:spPr>
          <a:xfrm>
            <a:off x="6405843" y="453945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Tree>
    <p:extLst>
      <p:ext uri="{BB962C8B-B14F-4D97-AF65-F5344CB8AC3E}">
        <p14:creationId val="3366140372"/>
      </p:ext>
    </p:extLst>
  </p:cSld>
  <p:clrMapOvr>
    <a:masterClrMapping/>
  </p:clrMapOvr>
</p:sld>
</file>

<file path=ppt/slides/slide6.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4C3029DB-B611-6782-57C9-74AD8C9AF80A}"/>
            </a:ext>
          </a:extLst>
        </p:cNvPr>
        <p:cNvGrpSpPr/>
        <p:nvPr/>
      </p:nvGrpSpPr>
      <p:grpSpPr>
        <a:xfrm>
          <a:off x="0" y="0"/>
          <a:ext cx="0" cy="0"/>
          <a:chOff x="0" y="0"/>
          <a:chExt cx="0" cy="0"/>
        </a:xfrm>
      </p:grpSpPr>
      <p:sp>
        <p:nvSpPr>
          <p:cNvPr id="532" name="Google Shape;532;p58">
            <a:extLst>
              <a:ext uri="{FF2B5EF4-FFF2-40B4-BE49-F238E27FC236}">
                <a16:creationId id="{CCCB27A2-1D9F-6514-0821-C7CC3F67552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6</a:t>
            </a:fld>
            <a:endParaRPr dirty="0">
              <a:sym typeface="OpenAI Sans"/>
            </a:endParaRPr>
          </a:p>
        </p:txBody>
      </p:sp>
      <p:sp>
        <p:nvSpPr>
          <p:cNvPr id="10" name="Rounded Rectangle 9">
            <a:extLst>
              <a:ext uri="{FF2B5EF4-FFF2-40B4-BE49-F238E27FC236}">
                <a16:creationId id="{8B4C5563-C118-E2D4-2A1A-F84171FF9E48}"/>
              </a:ext>
            </a:extLst>
          </p:cNvPr>
          <p:cNvSpPr/>
          <p:nvPr/>
        </p:nvSpPr>
        <p:spPr>
          <a:xfrm>
            <a:off x="4308953"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Rounded Rectangle 10">
            <a:extLst>
              <a:ext uri="{FF2B5EF4-FFF2-40B4-BE49-F238E27FC236}">
                <a16:creationId id="{87EC77EB-07E7-2818-9132-6416EC5EFF5D}"/>
              </a:ext>
            </a:extLst>
          </p:cNvPr>
          <p:cNvSpPr/>
          <p:nvPr/>
        </p:nvSpPr>
        <p:spPr>
          <a:xfrm>
            <a:off x="8229600"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12" name="Content Placeholder 9">
            <a:extLst>
              <a:ext uri="{FF2B5EF4-FFF2-40B4-BE49-F238E27FC236}">
                <a16:creationId id="{14F9DBD7-0427-326B-17D5-5DD215C447E9}"/>
              </a:ext>
            </a:extLst>
          </p:cNvPr>
          <p:cNvSpPr txBox="1">
            <a:spLocks/>
          </p:cNvSpPr>
          <p:nvPr/>
        </p:nvSpPr>
        <p:spPr>
          <a:xfrm>
            <a:off x="4621821"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Identity and directory</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Identity depends on Directory Store. No directory backup record exists, so identity remains blocked.</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endParaRPr lang="en-US" sz="1600" dirty="0"/>
          </a:p>
        </p:txBody>
      </p:sp>
      <p:sp>
        <p:nvSpPr>
          <p:cNvPr id="13" name="Content Placeholder 10">
            <a:extLst>
              <a:ext uri="{FF2B5EF4-FFF2-40B4-BE49-F238E27FC236}">
                <a16:creationId id="{A81FFF27-06E1-B925-B772-E8C07A029EE7}"/>
              </a:ext>
            </a:extLst>
          </p:cNvPr>
          <p:cNvSpPr txBox="1">
            <a:spLocks/>
          </p:cNvSpPr>
          <p:nvPr/>
        </p:nvSpPr>
        <p:spPr>
          <a:xfrm>
            <a:off x="8536094"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Hospital application</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The app needs the database and identity. It remains blocked through identity until the missing directory prerequisite is addressed.</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endParaRPr lang="en-US" sz="1600" dirty="0"/>
          </a:p>
        </p:txBody>
      </p:sp>
      <p:sp>
        <p:nvSpPr>
          <p:cNvPr id="14" name="Google Shape;340;p61">
            <a:extLst>
              <a:ext uri="{FF2B5EF4-FFF2-40B4-BE49-F238E27FC236}">
                <a16:creationId id="{D182FC54-B4D0-2FD9-7909-F4321F70186F}"/>
              </a:ext>
            </a:extLst>
          </p:cNvPr>
          <p:cNvSpPr/>
          <p:nvPr/>
        </p:nvSpPr>
        <p:spPr>
          <a:xfrm>
            <a:off x="4627645" y="3694101"/>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15" name="Google Shape;340;p61">
            <a:extLst>
              <a:ext uri="{FF2B5EF4-FFF2-40B4-BE49-F238E27FC236}">
                <a16:creationId id="{12304657-C94E-6AEC-95B3-FF04FD52D51C}"/>
              </a:ext>
            </a:extLst>
          </p:cNvPr>
          <p:cNvSpPr/>
          <p:nvPr/>
        </p:nvSpPr>
        <p:spPr>
          <a:xfrm>
            <a:off x="8533270" y="3694102"/>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2" name="Footer Placeholder 1">
            <a:extLst>
              <a:ext uri="{FF2B5EF4-FFF2-40B4-BE49-F238E27FC236}">
                <a16:creationId id="{7FAC9A03-119F-393D-2295-2587BE7C4F73}"/>
              </a:ext>
            </a:extLst>
          </p:cNvPr>
          <p:cNvSpPr>
            <a:spLocks noGrp="1"/>
          </p:cNvSpPr>
          <p:nvPr>
            <p:ph type="ftr" sz="quarter" idx="3"/>
          </p:nvPr>
        </p:nvSpPr>
        <p:spPr/>
        <p:txBody>
          <a:bodyPr/>
          <a:lstStyle/>
          <a:p>
            <a:endParaRPr lang="en-US" sz="1100" dirty="0"/>
          </a:p>
        </p:txBody>
      </p:sp>
      <p:sp>
        <p:nvSpPr>
          <p:cNvPr id="4" name="Title 3">
            <a:extLst>
              <a:ext uri="{FF2B5EF4-FFF2-40B4-BE49-F238E27FC236}">
                <a16:creationId id="{2F7C895E-DE9C-ED5D-5936-715D047B60E4}"/>
              </a:ext>
            </a:extLst>
          </p:cNvPr>
          <p:cNvSpPr>
            <a:spLocks noGrp="1"/>
          </p:cNvSpPr>
          <p:nvPr>
            <p:ph type="title"/>
          </p:nvPr>
        </p:nvSpPr>
        <p:spPr>
          <a:xfrm>
            <a:off x="393700" y="344008"/>
            <a:ext cx="11404600" cy="755665"/>
          </a:xfrm>
        </p:spPr>
        <p:txBody>
          <a:bodyPr/>
          <a:lstStyle/>
          <a:p>
            <a:r>
              <a:rPr lang="en-US" dirty="0">
                <a:solidFill>
                  <a:schemeClr val="accent1"/>
                </a:solidFill>
              </a:rPr>
              <a:t>Service results under primary-site loss</a:t>
            </a:r>
          </a:p>
        </p:txBody>
      </p:sp>
      <p:sp>
        <p:nvSpPr>
          <p:cNvPr id="5" name="Rounded Rectangle 4">
            <a:extLst>
              <a:ext uri="{FF2B5EF4-FFF2-40B4-BE49-F238E27FC236}">
                <a16:creationId id="{E49F3E50-E7DD-037F-1687-7A3A08473928}"/>
              </a:ext>
            </a:extLst>
          </p:cNvPr>
          <p:cNvSpPr/>
          <p:nvPr/>
        </p:nvSpPr>
        <p:spPr>
          <a:xfrm>
            <a:off x="422753"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 name="Content Placeholder 9">
            <a:extLst>
              <a:ext uri="{FF2B5EF4-FFF2-40B4-BE49-F238E27FC236}">
                <a16:creationId id="{895137EF-1168-9543-8134-200AA74D8FBB}"/>
              </a:ext>
            </a:extLst>
          </p:cNvPr>
          <p:cNvSpPr txBox="1">
            <a:spLocks/>
          </p:cNvSpPr>
          <p:nvPr/>
        </p:nvSpPr>
        <p:spPr>
          <a:xfrm>
            <a:off x="735621"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Clinical database</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The 05:00 West copy matches its fingerprint but is 3 hours old against a 2-hour data-loss target. It may be tested with the gap visible.</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endParaRPr lang="en-US" sz="1600" dirty="0"/>
          </a:p>
        </p:txBody>
      </p:sp>
      <p:sp>
        <p:nvSpPr>
          <p:cNvPr id="7" name="Google Shape;340;p61">
            <a:extLst>
              <a:ext uri="{FF2B5EF4-FFF2-40B4-BE49-F238E27FC236}">
                <a16:creationId id="{A926CAA1-5F44-3769-A410-E058BAEE3B13}"/>
              </a:ext>
            </a:extLst>
          </p:cNvPr>
          <p:cNvSpPr/>
          <p:nvPr/>
        </p:nvSpPr>
        <p:spPr>
          <a:xfrm>
            <a:off x="741445" y="3694101"/>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17" name="Google Shape;534;p58">
            <a:extLst>
              <a:ext uri="{FF2B5EF4-FFF2-40B4-BE49-F238E27FC236}">
                <a16:creationId id="{208EF3D1-5C57-8D4F-49C8-21BD74420786}"/>
              </a:ext>
            </a:extLst>
          </p:cNvPr>
          <p:cNvSpPr txBox="1">
            <a:spLocks/>
          </p:cNvSpPr>
          <p:nvPr/>
        </p:nvSpPr>
        <p:spPr>
          <a:xfrm>
            <a:off x="393700" y="1820543"/>
            <a:ext cx="11404600" cy="1326615"/>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The physical-disaster scenario removes the primary site and East backup location; the West location and recovery network remain reachable.</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The 07:00 database sample was deliberately altered and fails its fingerprint check. Malware status is unknown because no scanner ran.</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8" name="Google Shape;534;p58">
            <a:extLst>
              <a:ext uri="{FF2B5EF4-FFF2-40B4-BE49-F238E27FC236}">
                <a16:creationId id="{93CCF932-231F-7EA0-6520-FFB192B4EFA5}"/>
              </a:ext>
            </a:extLst>
          </p:cNvPr>
          <p:cNvSpPr txBox="1">
            <a:spLocks/>
          </p:cNvSpPr>
          <p:nvPr/>
        </p:nvSpPr>
        <p:spPr>
          <a:xfrm>
            <a:off x="393699" y="1318016"/>
            <a:ext cx="11404599"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The physical-disaster case uses synthetic data; no hospital or customer records are present.</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Tree>
    <p:extLst>
      <p:ext uri="{BB962C8B-B14F-4D97-AF65-F5344CB8AC3E}">
        <p14:creationId val="1566183075"/>
      </p:ext>
    </p:extLst>
  </p:cSld>
  <p:clrMapOvr>
    <a:masterClrMapping/>
  </p:clrMapOvr>
</p:sld>
</file>

<file path=ppt/slides/slide7.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955627D7-4531-FF60-E9C2-2F11A6392F36}"/>
            </a:ext>
          </a:extLst>
        </p:cNvPr>
        <p:cNvGrpSpPr/>
        <p:nvPr/>
      </p:nvGrpSpPr>
      <p:grpSpPr>
        <a:xfrm>
          <a:off x="0" y="0"/>
          <a:ext cx="0" cy="0"/>
          <a:chOff x="0" y="0"/>
          <a:chExt cx="0" cy="0"/>
        </a:xfrm>
      </p:grpSpPr>
      <p:sp>
        <p:nvSpPr>
          <p:cNvPr id="534" name="Google Shape;534;p58">
            <a:extLst>
              <a:ext uri="{FF2B5EF4-FFF2-40B4-BE49-F238E27FC236}">
                <a16:creationId id="{C936F667-D10C-5292-AA3B-96BE2CAC84D9}"/>
              </a:ext>
            </a:extLst>
          </p:cNvPr>
          <p:cNvSpPr txBox="1">
            <a:spLocks noGrp="1"/>
          </p:cNvSpPr>
          <p:nvPr>
            <p:ph idx="1"/>
          </p:nvPr>
        </p:nvSpPr>
        <p:spPr>
          <a:xfrm>
            <a:off x="393700" y="2192694"/>
            <a:ext cx="5537200" cy="3801706"/>
          </a:xfrm>
          <a:prstGeom prst="rect">
            <a:avLst/>
          </a:prstGeom>
        </p:spPr>
        <p:txBody>
          <a:bodyPr spcFirstLastPara="1" vert="horz" wrap="square" lIns="0" tIns="0" rIns="0" bIns="0" rtlCol="0" anchor="t" anchorCtr="0">
            <a:noAutofit/>
          </a:bodyPr>
          <a:lstStyle/>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Delivered: synthetic service and backup inventory, fixed-seed scenario assessment, and rule-based dependency blockers.</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Tested: 10 backend tests passed; expected labels matched; three isolated sample-file copies passed fingerprint and JSON checks.</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Workflow: a proposal stays pending until a person approves it. Test results and audit events are recorded.</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p:txBody>
      </p:sp>
      <p:sp>
        <p:nvSpPr>
          <p:cNvPr id="532" name="Google Shape;532;p58">
            <a:extLst>
              <a:ext uri="{FF2B5EF4-FFF2-40B4-BE49-F238E27FC236}">
                <a16:creationId id="{C5959EFF-52C4-5B31-3FCE-BFF3A75CF3CF}"/>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smtClean="0">
                <a:sym typeface="OpenAI Sans"/>
              </a:rPr>
              <a:pPr/>
              <a:t>7</a:t>
            </a:fld>
            <a:endParaRPr lang="en" dirty="0">
              <a:sym typeface="OpenAI Sans"/>
            </a:endParaRPr>
          </a:p>
        </p:txBody>
      </p:sp>
      <p:sp>
        <p:nvSpPr>
          <p:cNvPr id="533" name="Google Shape;533;p58">
            <a:extLst>
              <a:ext uri="{FF2B5EF4-FFF2-40B4-BE49-F238E27FC236}">
                <a16:creationId id="{469ED97F-6CDE-1EE8-6602-FE9CC4D732BE}"/>
              </a:ext>
            </a:extLst>
          </p:cNvPr>
          <p:cNvSpPr txBox="1">
            <a:spLocks noGrp="1"/>
          </p:cNvSpPr>
          <p:nvPr>
            <p:ph type="title"/>
          </p:nvPr>
        </p:nvSpPr>
        <p:spPr>
          <a:xfrm>
            <a:off x="393700" y="355026"/>
            <a:ext cx="7835900" cy="1029274"/>
          </a:xfrm>
          <a:prstGeom prst="rect">
            <a:avLst/>
          </a:prstGeom>
        </p:spPr>
        <p:txBody>
          <a:bodyPr spcFirstLastPara="1" vert="horz" wrap="square" lIns="0" tIns="0" rIns="0" bIns="0" rtlCol="0" anchor="t" anchorCtr="0">
            <a:noAutofit/>
          </a:bodyPr>
          <a:lstStyle/>
          <a:p>
            <a:r>
              <a:rPr lang="en-US" dirty="0">
                <a:solidFill>
                  <a:schemeClr val="accent1"/>
                </a:solidFill>
              </a:rPr>
              <a:t>Current readiness: what is proven and what remains open</a:t>
            </a:r>
          </a:p>
        </p:txBody>
      </p:sp>
      <p:sp>
        <p:nvSpPr>
          <p:cNvPr id="2" name="Google Shape;534;p58">
            <a:extLst>
              <a:ext uri="{FF2B5EF4-FFF2-40B4-BE49-F238E27FC236}">
                <a16:creationId id="{A4A94F3C-B1B2-7289-7098-7C66C8A291D6}"/>
              </a:ext>
            </a:extLst>
          </p:cNvPr>
          <p:cNvSpPr txBox="1">
            <a:spLocks/>
          </p:cNvSpPr>
          <p:nvPr/>
        </p:nvSpPr>
        <p:spPr>
          <a:xfrm>
            <a:off x="6265111" y="2192694"/>
            <a:ext cx="5537200" cy="3801706"/>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Not tested: customer integrations, PostgreSQL or application startup, malware scanning, or actual service recovery time.</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Governance gap: no authenticated roles, multi-person approval, or immutable external audit. Do not use this MVP to change production.</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AI status: fallback action IDs matched the rule-only baseline. Local model inference and generative accuracy were not measured.</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p:txBody>
      </p:sp>
      <p:sp>
        <p:nvSpPr>
          <p:cNvPr id="6" name="Footer Placeholder 5">
            <a:extLst>
              <a:ext uri="{FF2B5EF4-FFF2-40B4-BE49-F238E27FC236}">
                <a16:creationId id="{43787D66-ADFA-FEAC-9070-B9C216CEFEAB}"/>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id="{FD46BF2A-8122-2E0A-E8CC-886653CF64DA}"/>
              </a:ext>
            </a:extLst>
          </p:cNvPr>
          <p:cNvSpPr txBox="1">
            <a:spLocks/>
          </p:cNvSpPr>
          <p:nvPr/>
        </p:nvSpPr>
        <p:spPr>
          <a:xfrm>
            <a:off x="393700" y="1310936"/>
            <a:ext cx="5537200" cy="719318"/>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MVP evidence, limitations, and proposed next steps.</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p>
        </p:txBody>
      </p:sp>
    </p:spTree>
    <p:extLst>
      <p:ext uri="{BB962C8B-B14F-4D97-AF65-F5344CB8AC3E}">
        <p14:creationId val="546221724"/>
      </p:ext>
    </p:extLst>
  </p:cSld>
  <p:clrMapOvr>
    <a:masterClrMapping/>
  </p:clrMapOvr>
</p:sld>
</file>

<file path=ppt/slides/slide8.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2F4F4A9C-A879-377C-6409-053F582355F7}"/>
            </a:ext>
          </a:extLst>
        </p:cNvPr>
        <p:cNvGrpSpPr/>
        <p:nvPr/>
      </p:nvGrpSpPr>
      <p:grpSpPr>
        <a:xfrm>
          <a:off x="0" y="0"/>
          <a:ext cx="0" cy="0"/>
          <a:chOff x="0" y="0"/>
          <a:chExt cx="0" cy="0"/>
        </a:xfrm>
      </p:grpSpPr>
      <p:sp>
        <p:nvSpPr>
          <p:cNvPr id="532" name="Google Shape;532;p58">
            <a:extLst>
              <a:ext uri="{FF2B5EF4-FFF2-40B4-BE49-F238E27FC236}">
                <a16:creationId id="{CF5D028D-B73B-5BFF-0AA5-65F94FB570F9}"/>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8</a:t>
            </a:fld>
            <a:endParaRPr dirty="0">
              <a:sym typeface="OpenAI Sans"/>
            </a:endParaRPr>
          </a:p>
        </p:txBody>
      </p:sp>
      <p:sp>
        <p:nvSpPr>
          <p:cNvPr id="533" name="Google Shape;533;p58">
            <a:extLst>
              <a:ext uri="{FF2B5EF4-FFF2-40B4-BE49-F238E27FC236}">
                <a16:creationId id="{D035ED81-B82C-6CFE-FAA7-0911E05CDEB2}"/>
              </a:ext>
            </a:extLst>
          </p:cNvPr>
          <p:cNvSpPr txBox="1">
            <a:spLocks noGrp="1"/>
          </p:cNvSpPr>
          <p:nvPr>
            <p:ph type="title"/>
          </p:nvPr>
        </p:nvSpPr>
        <p:spPr>
          <a:xfrm>
            <a:off x="393700" y="1170935"/>
            <a:ext cx="11404600" cy="1797958"/>
          </a:xfrm>
          <a:prstGeom prst="rect">
            <a:avLst/>
          </a:prstGeom>
        </p:spPr>
        <p:txBody>
          <a:bodyPr spcFirstLastPara="1" vert="horz" wrap="square" lIns="0" tIns="0" rIns="0" bIns="0" rtlCol="0" anchor="b" anchorCtr="0">
            <a:noAutofit/>
          </a:bodyPr>
          <a:lstStyle/>
          <a:p>
            <a:pPr algn="ctr"/>
            <a:r>
              <a:rPr lang="en-US" sz="4200" dirty="0">
                <a:solidFill>
                  <a:schemeClr val="accent1"/>
                </a:solidFill>
              </a:rPr>
              <a:t>A correct file check does not prove the hospital service can return</a:t>
            </a:r>
            <a:br>
              <a:rPr lang="en-US" sz="4200" dirty="0">
                <a:solidFill>
                  <a:schemeClr val="accent1"/>
                </a:solidFill>
              </a:rPr>
            </a:br>
            <a:r>
              <a:rPr lang="en-US" sz="4200" dirty="0">
                <a:solidFill>
                  <a:schemeClr val="accent1"/>
                </a:solidFill>
              </a:rPr>
              <a:t/>
            </a:r>
            <a:endParaRPr sz="4200" dirty="0">
              <a:solidFill>
                <a:schemeClr val="accent1"/>
              </a:solidFill>
            </a:endParaRPr>
          </a:p>
        </p:txBody>
      </p:sp>
      <p:sp>
        <p:nvSpPr>
          <p:cNvPr id="2" name="Footer Placeholder 1">
            <a:extLst>
              <a:ext uri="{FF2B5EF4-FFF2-40B4-BE49-F238E27FC236}">
                <a16:creationId id="{AEFF86C5-A7D2-315F-C644-70488B8E4BC8}"/>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id="{6730FFED-E57C-67CB-4BAA-568126831AB5}"/>
              </a:ext>
            </a:extLst>
          </p:cNvPr>
          <p:cNvSpPr txBox="1">
            <a:spLocks/>
          </p:cNvSpPr>
          <p:nvPr/>
        </p:nvSpPr>
        <p:spPr>
          <a:xfrm>
            <a:off x="2549677" y="3297710"/>
            <a:ext cx="7092645" cy="186590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spcBef>
                <a:spcPts val="0"/>
              </a:spcBef>
              <a:spcAft>
                <a:spcPts val="800"/>
              </a:spcAft>
              <a:buFont typeface="Arial" panose="020B0604020202020204" pitchFamily="34" charset="0"/>
              <a:buNone/>
            </a:pPr>
            <a:r>
              <a:rPr lang="en-US" sz="1600">
                <a:latin typeface="Helvetica Neue" panose="02000503000000020004" pitchFamily="2" charset="0"/>
                <a:ea typeface="Helvetica Neue" panose="02000503000000020004" pitchFamily="2" charset="0"/>
                <a:cs typeface="Helvetica Neue" panose="02000503000000020004" pitchFamily="2" charset="0"/>
                <a:sym typeface="OpenAI Sans"/>
              </a:rPr>
              <a:t>At 08:00, the 05:00 database copy is one hour outside its data-loss target, and the missing Directory Store backup blocks identity. ResilienceGuard makes both limits visible; it has not restored the application.</a:t>
            </a:r>
          </a:p>
        </p:txBody>
      </p:sp>
    </p:spTree>
    <p:extLst>
      <p:ext uri="{BB962C8B-B14F-4D97-AF65-F5344CB8AC3E}">
        <p14:creationId val="346614214"/>
      </p:ext>
    </p:extLst>
  </p:cSld>
  <p:clrMapOvr>
    <a:masterClrMapping/>
  </p:clrMapOvr>
</p:sld>
</file>

<file path=ppt/slides/slide9.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8F193B6A-C27E-FD2B-FCAC-CB712B9CC5D0}"/>
            </a:ext>
          </a:extLst>
        </p:cNvPr>
        <p:cNvGrpSpPr/>
        <p:nvPr/>
      </p:nvGrpSpPr>
      <p:grpSpPr>
        <a:xfrm>
          <a:off x="0" y="0"/>
          <a:ext cx="0" cy="0"/>
          <a:chOff x="0" y="0"/>
          <a:chExt cx="0" cy="0"/>
        </a:xfrm>
      </p:grpSpPr>
      <p:sp>
        <p:nvSpPr>
          <p:cNvPr id="532" name="Google Shape;532;p58">
            <a:extLst>
              <a:ext uri="{FF2B5EF4-FFF2-40B4-BE49-F238E27FC236}">
                <a16:creationId id="{C4429360-E0B5-E472-3BCB-2FC70A04DAF5}"/>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9</a:t>
            </a:fld>
            <a:endParaRPr dirty="0">
              <a:sym typeface="OpenAI Sans"/>
            </a:endParaRPr>
          </a:p>
        </p:txBody>
      </p:sp>
      <p:sp>
        <p:nvSpPr>
          <p:cNvPr id="533" name="Google Shape;533;p58">
            <a:extLst>
              <a:ext uri="{FF2B5EF4-FFF2-40B4-BE49-F238E27FC236}">
                <a16:creationId id="{3CD65521-5912-FE80-B7B5-EE9E16A1351B}"/>
              </a:ext>
            </a:extLst>
          </p:cNvPr>
          <p:cNvSpPr txBox="1">
            <a:spLocks noGrp="1"/>
          </p:cNvSpPr>
          <p:nvPr>
            <p:ph type="title"/>
          </p:nvPr>
        </p:nvSpPr>
        <p:spPr>
          <a:xfrm>
            <a:off x="393700" y="344008"/>
            <a:ext cx="7835900" cy="1040291"/>
          </a:xfrm>
          <a:prstGeom prst="rect">
            <a:avLst/>
          </a:prstGeom>
        </p:spPr>
        <p:txBody>
          <a:bodyPr spcFirstLastPara="1" vert="horz" wrap="square" lIns="0" tIns="0" rIns="0" bIns="0" rtlCol="0" anchor="t" anchorCtr="0">
            <a:noAutofit/>
          </a:bodyPr>
          <a:lstStyle/>
          <a:p>
            <a:r>
              <a:rPr lang="en-US" dirty="0">
                <a:solidFill>
                  <a:schemeClr val="accent1"/>
                </a:solidFill>
              </a:rPr>
              <a:t>Illustrative first-year economics (USD; assumptions only)</a:t>
            </a:r>
            <a:endParaRPr dirty="0">
              <a:solidFill>
                <a:schemeClr val="accent1"/>
              </a:solidFill>
            </a:endParaRPr>
          </a:p>
        </p:txBody>
      </p:sp>
      <p:graphicFrame>
        <p:nvGraphicFramePr>
          <p:cNvPr id="2" name="Google Shape;644;p93">
            <a:extLst>
              <a:ext uri="{FF2B5EF4-FFF2-40B4-BE49-F238E27FC236}">
                <a16:creationId id="{D298816F-C507-1B76-C71B-E5F8461142E6}"/>
              </a:ext>
            </a:extLst>
          </p:cNvPr>
          <p:cNvGraphicFramePr/>
          <p:nvPr>
            <p:extLst>
              <p:ext uri="{D42A27DB-BD31-4B8C-83A1-F6EECF244321}">
                <p14:modId val="657042629"/>
              </p:ext>
            </p:extLst>
          </p:nvPr>
        </p:nvGraphicFramePr>
        <p:xfrm>
          <a:off x="4752742" y="1549337"/>
          <a:ext cx="6778000" cy="4627827"/>
        </p:xfrm>
        <a:graphic>
          <a:graphicData uri="http://schemas.openxmlformats.org/drawingml/2006/table">
            <a:tbl>
              <a:tblPr firstRow="1">
                <a:noFill/>
              </a:tblPr>
              <a:tblGrid>
                <a:gridCol w="1694500">
                  <a:extLst>
                    <a:ext uri="{9D8B030D-6E8A-4147-A177-3AD203B41FA5}">
                      <a16:colId val="20001"/>
                    </a:ext>
                  </a:extLst>
                </a:gridCol>
                <a:gridCol w="1694500">
                  <a:extLst>
                    <a:ext uri="{9D8B030D-6E8A-4147-A177-3AD203B41FA5}">
                      <a16:colId val="20002"/>
                    </a:ext>
                  </a:extLst>
                </a:gridCol>
                <a:gridCol w="1694500">
                  <a:extLst>
                    <a:ext uri="{9D8B030D-6E8A-4147-A177-3AD203B41FA5}">
                      <a16:colId val="20003"/>
                    </a:ext>
                  </a:extLst>
                </a:gridCol>
                <a:gridCol w="1694500">
                  <a:extLst>
                    <a:ext uri="{9D8B030D-6E8A-4147-A177-3AD203B41FA5}">
                      <a16:colId val="20004"/>
                    </a:ext>
                  </a:extLst>
                </a:gridCol>
              </a:tblGrid>
              <a:tr h="925565">
                <a:tc>
                  <a:txBody>
                    <a:bodyPr/>
                    <a:lstStyle/>
                    <a:p>
                      <a:pPr marL="0" lvl="0" indent="0" algn="l" rtl="0">
                        <a:lnSpc>
                          <a:spcPct val="110000"/>
                        </a:lnSpc>
                        <a:spcBef>
                          <a:spcPts val="0"/>
                        </a:spcBef>
                        <a:spcAft>
                          <a:spcPts val="700"/>
                        </a:spcAft>
                        <a:buNone/>
                      </a:pPr>
                      <a:r>
                        <a:rPr lang="en-US" sz="1400" b="1" dirty="0">
                          <a:solidFill>
                            <a:srgbClr val="000000"/>
                          </a:solidFill>
                          <a:latin typeface="+mn-lt"/>
                          <a:ea typeface="OpenAI Sans"/>
                          <a:cs typeface="OpenAI Sans"/>
                          <a:sym typeface="OpenAI Sans"/>
                        </a:rPr>
                        <a:t>Customers</a:t>
                      </a:r>
                      <a:endParaRPr sz="1400" b="1"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lgn="ctr">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b="1" dirty="0">
                          <a:solidFill>
                            <a:srgbClr val="000000"/>
                          </a:solidFill>
                          <a:latin typeface="+mn-lt"/>
                          <a:ea typeface="OpenAI Sans"/>
                          <a:cs typeface="OpenAI Sans"/>
                          <a:sym typeface="OpenAI Sans"/>
                        </a:rPr>
                        <a:t>Revenue</a:t>
                      </a:r>
                      <a:endParaRPr sz="1400" b="1"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Clr>
                          <a:srgbClr val="000000"/>
                        </a:buClr>
                        <a:buSzPts val="1200"/>
                        <a:buFont typeface="Arial"/>
                        <a:buNone/>
                      </a:pPr>
                      <a:r>
                        <a:rPr lang="en-US" sz="1400" b="1">
                          <a:solidFill>
                            <a:srgbClr val="000000"/>
                          </a:solidFill>
                          <a:latin typeface="+mn-lt"/>
                          <a:ea typeface="OpenAI Sans"/>
                          <a:cs typeface="OpenAI Sans"/>
                          <a:sym typeface="OpenAI Sans"/>
                        </a:rPr>
                        <a:t>Direct costs</a:t>
                      </a:r>
                      <a:endParaRPr sz="1400" b="1">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Clr>
                          <a:srgbClr val="000000"/>
                        </a:buClr>
                        <a:buSzPts val="1200"/>
                        <a:buFont typeface="Arial"/>
                        <a:buNone/>
                      </a:pPr>
                      <a:r>
                        <a:rPr lang="en-US" sz="1400" b="1">
                          <a:solidFill>
                            <a:srgbClr val="000000"/>
                          </a:solidFill>
                          <a:latin typeface="+mn-lt"/>
                          <a:ea typeface="OpenAI Sans"/>
                          <a:cs typeface="OpenAI Sans"/>
                          <a:sym typeface="OpenAI Sans"/>
                        </a:rPr>
                        <a:t>Gross profit</a:t>
                      </a:r>
                      <a:endParaRPr sz="1400" b="1">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extLst>
                  <a:ext uri="{0D108BD9-81ED-4DB2-BD59-A6C34878D82A}">
                    <a16:rowId val="10000"/>
                  </a:ext>
                </a:extLst>
              </a:tr>
              <a:tr h="92556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1</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D1D2D3">
                          <a:alpha val="0"/>
                        </a:srgbClr>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$78,000</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$18,000</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$60,000</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val="10001"/>
                  </a:ext>
                </a:extLst>
              </a:tr>
              <a:tr h="92556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5</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$390,000</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$90,000</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$300,000</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val="10002"/>
                  </a:ext>
                </a:extLst>
              </a:tr>
              <a:tr h="92556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10</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$780,000</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$180,000</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$600,000</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val="10003"/>
                  </a:ext>
                </a:extLst>
              </a:tr>
              <a:tr h="925567">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25</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$1,950,000</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$450,000</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$1,500,000</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val="10004"/>
                  </a:ext>
                </a:extLst>
              </a:tr>
            </a:tbl>
          </a:graphicData>
        </a:graphic>
      </p:graphicFrame>
      <p:sp>
        <p:nvSpPr>
          <p:cNvPr id="3" name="Footer Placeholder 2">
            <a:extLst>
              <a:ext uri="{FF2B5EF4-FFF2-40B4-BE49-F238E27FC236}">
                <a16:creationId id="{175B304C-27F3-8A33-E6D7-E2EFCA2F82B2}"/>
              </a:ext>
            </a:extLst>
          </p:cNvPr>
          <p:cNvSpPr>
            <a:spLocks noGrp="1"/>
          </p:cNvSpPr>
          <p:nvPr>
            <p:ph type="ftr" sz="quarter" idx="3"/>
          </p:nvPr>
        </p:nvSpPr>
        <p:spPr/>
        <p:txBody>
          <a:bodyPr/>
          <a:lstStyle/>
          <a:p>
            <a:endParaRPr lang="en-US" sz="1100" dirty="0"/>
          </a:p>
        </p:txBody>
      </p:sp>
      <p:sp>
        <p:nvSpPr>
          <p:cNvPr id="7" name="Google Shape;534;p58">
            <a:extLst>
              <a:ext uri="{FF2B5EF4-FFF2-40B4-BE49-F238E27FC236}">
                <a16:creationId id="{71547039-AB2A-5CA1-49F7-26E9E71601EF}"/>
              </a:ext>
            </a:extLst>
          </p:cNvPr>
          <p:cNvSpPr txBox="1">
            <a:spLocks/>
          </p:cNvSpPr>
          <p:nvPr/>
        </p:nvSpPr>
        <p:spPr>
          <a:xfrm>
            <a:off x="393700" y="2774196"/>
            <a:ext cx="3606800" cy="322020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Gross profit = revenue − cost. Net subtracts fixed overhead. All figures are assumptions.</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p:txBody>
      </p:sp>
      <p:sp>
        <p:nvSpPr>
          <p:cNvPr id="8" name="Google Shape;534;p58">
            <a:extLst>
              <a:ext uri="{FF2B5EF4-FFF2-40B4-BE49-F238E27FC236}">
                <a16:creationId id="{D136FB89-7449-CC90-F061-B6BF578EA25E}"/>
              </a:ext>
            </a:extLst>
          </p:cNvPr>
          <p:cNvSpPr txBox="1">
            <a:spLocks/>
          </p:cNvSpPr>
          <p:nvPr/>
        </p:nvSpPr>
        <p:spPr>
          <a:xfrm>
            <a:off x="393700" y="1564835"/>
            <a:ext cx="3606800" cy="1178365"/>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Per customer: $78k revenue; $18k direct cost.</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p>
        </p:txBody>
      </p:sp>
    </p:spTree>
    <p:extLst>
      <p:ext uri="{BB962C8B-B14F-4D97-AF65-F5344CB8AC3E}">
        <p14:creationId val="2553894934"/>
      </p:ext>
    </p:extLst>
  </p:cSld>
  <p:clrMapOvr>
    <a:masterClrMapping/>
  </p:clrMapOvr>
</p:sld>
</file>

<file path=ppt/slides/slide10.xml><?xml version="1.0" encoding="utf-8"?>
<p:sld xmlns:a="http://schemas.openxmlformats.org/drawingml/2006/main" xmlns:a16="http://schemas.microsoft.com/office/drawing/2014/main" xmlns:c="http://schemas.openxmlformats.org/drawingml/2006/chart" xmlns:p="http://schemas.openxmlformats.org/presentationml/2006/main" xmlns:p14="http://schemas.microsoft.com/office/powerpoint/2010/main" xmlns:r="http://schemas.openxmlformats.org/officeDocument/2006/relationships">
  <p:cSld>
    <p:spTree>
      <p:nvGrpSpPr>
        <p:cNvPr id="1" name="Shape 531">
          <a:extLst>
            <a:ext uri="{FF2B5EF4-FFF2-40B4-BE49-F238E27FC236}">
              <a16:creationId id="{0CA52547-020D-99FE-7808-E009E93F50A1}"/>
            </a:ext>
          </a:extLst>
        </p:cNvPr>
        <p:cNvGrpSpPr/>
        <p:nvPr/>
      </p:nvGrpSpPr>
      <p:grpSpPr>
        <a:xfrm>
          <a:off x="0" y="0"/>
          <a:ext cx="0" cy="0"/>
          <a:chOff x="0" y="0"/>
          <a:chExt cx="0" cy="0"/>
        </a:xfrm>
      </p:grpSpPr>
      <p:sp>
        <p:nvSpPr>
          <p:cNvPr id="532" name="Google Shape;532;p58">
            <a:extLst>
              <a:ext uri="{FF2B5EF4-FFF2-40B4-BE49-F238E27FC236}">
                <a16:creationId id="{F29587C6-818E-614C-4E8F-CD264BB5DD41}"/>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10</a:t>
            </a:fld>
            <a:endParaRPr dirty="0">
              <a:sym typeface="OpenAI Sans"/>
            </a:endParaRPr>
          </a:p>
        </p:txBody>
      </p:sp>
      <p:sp>
        <p:nvSpPr>
          <p:cNvPr id="533" name="Google Shape;533;p58">
            <a:extLst>
              <a:ext uri="{FF2B5EF4-FFF2-40B4-BE49-F238E27FC236}">
                <a16:creationId id="{E3FE1DBC-074A-B31C-7363-7F3B84443707}"/>
              </a:ext>
            </a:extLst>
          </p:cNvPr>
          <p:cNvSpPr txBox="1">
            <a:spLocks noGrp="1"/>
          </p:cNvSpPr>
          <p:nvPr>
            <p:ph type="title"/>
          </p:nvPr>
        </p:nvSpPr>
        <p:spPr>
          <a:xfrm>
            <a:off x="393700" y="344008"/>
            <a:ext cx="5549230" cy="697392"/>
          </a:xfrm>
          <a:prstGeom prst="rect">
            <a:avLst/>
          </a:prstGeom>
        </p:spPr>
        <p:txBody>
          <a:bodyPr spcFirstLastPara="1" vert="horz" wrap="square" lIns="0" tIns="0" rIns="0" bIns="0" rtlCol="0" anchor="t" anchorCtr="0">
            <a:noAutofit/>
          </a:bodyPr>
          <a:lstStyle/>
          <a:p>
            <a:r>
              <a:rPr lang="en-US" dirty="0">
                <a:solidFill>
                  <a:schemeClr val="accent1"/>
                </a:solidFill>
              </a:rPr>
              <a:t>First-year revenue and direct costs by customer count</a:t>
            </a:r>
            <a:endParaRPr dirty="0">
              <a:solidFill>
                <a:schemeClr val="accent1"/>
              </a:solidFill>
            </a:endParaRPr>
          </a:p>
        </p:txBody>
      </p:sp>
      <p:graphicFrame>
        <p:nvGraphicFramePr>
          <p:cNvPr id="4" name="Chart 3">
            <a:extLst>
              <a:ext uri="{FF2B5EF4-FFF2-40B4-BE49-F238E27FC236}">
                <a16:creationId id="{892A243F-0816-2E7E-47DA-72090C074831}"/>
              </a:ext>
            </a:extLst>
          </p:cNvPr>
          <p:cNvGraphicFramePr/>
          <p:nvPr>
            <p:extLst>
              <p:ext uri="{D42A27DB-BD31-4B8C-83A1-F6EECF244321}">
                <p14:modId val="3139987496"/>
              </p:ext>
            </p:extLst>
          </p:nvPr>
        </p:nvGraphicFramePr>
        <p:xfrm>
          <a:off x="408690" y="1023105"/>
          <a:ext cx="5124182" cy="5225194"/>
        </p:xfrm>
        <a:graphic>
          <a:graphicData uri="http://schemas.openxmlformats.org/drawingml/2006/chart">
            <c:chart r:id="rId3"/>
          </a:graphicData>
        </a:graphic>
      </p:graphicFrame>
      <p:sp>
        <p:nvSpPr>
          <p:cNvPr id="5" name="Footer Placeholder 4">
            <a:extLst>
              <a:ext uri="{FF2B5EF4-FFF2-40B4-BE49-F238E27FC236}">
                <a16:creationId id="{41655C29-3D04-D88C-395C-E6000B5894F9}"/>
              </a:ext>
            </a:extLst>
          </p:cNvPr>
          <p:cNvSpPr>
            <a:spLocks noGrp="1"/>
          </p:cNvSpPr>
          <p:nvPr>
            <p:ph type="ftr" sz="quarter" idx="3"/>
          </p:nvPr>
        </p:nvSpPr>
        <p:spPr/>
        <p:txBody>
          <a:bodyPr/>
          <a:lstStyle/>
          <a:p>
            <a:endParaRPr lang="en-US" sz="1100" dirty="0"/>
          </a:p>
        </p:txBody>
      </p:sp>
      <p:sp>
        <p:nvSpPr>
          <p:cNvPr id="6" name="Rounded Rectangle 5">
            <a:extLst>
              <a:ext uri="{FF2B5EF4-FFF2-40B4-BE49-F238E27FC236}">
                <a16:creationId id="{DEFFCFBF-F669-9423-2DB8-D166659E1B79}"/>
              </a:ext>
            </a:extLst>
          </p:cNvPr>
          <p:cNvSpPr/>
          <p:nvPr/>
        </p:nvSpPr>
        <p:spPr>
          <a:xfrm>
            <a:off x="6264412" y="2374900"/>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Rounded Rectangle 10">
            <a:extLst>
              <a:ext uri="{FF2B5EF4-FFF2-40B4-BE49-F238E27FC236}">
                <a16:creationId id="{2B25D3D5-48E8-D985-A4A9-9DA67A423BF8}"/>
              </a:ext>
            </a:extLst>
          </p:cNvPr>
          <p:cNvSpPr/>
          <p:nvPr/>
        </p:nvSpPr>
        <p:spPr>
          <a:xfrm>
            <a:off x="6264412"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Content Placeholder 10">
            <a:extLst>
              <a:ext uri="{FF2B5EF4-FFF2-40B4-BE49-F238E27FC236}">
                <a16:creationId id="{993A9C42-081B-E830-D8CB-13511AF87915}"/>
              </a:ext>
            </a:extLst>
          </p:cNvPr>
          <p:cNvSpPr txBox="1">
            <a:spLocks/>
          </p:cNvSpPr>
          <p:nvPr/>
        </p:nvSpPr>
        <p:spPr>
          <a:xfrm>
            <a:off x="6558438" y="3088295"/>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$78k: implementation, annual license, and support</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3" name="TextBox 12">
            <a:extLst>
              <a:ext uri="{FF2B5EF4-FFF2-40B4-BE49-F238E27FC236}">
                <a16:creationId id="{F3899B51-315F-2B69-8DFE-6F0EE585DE74}"/>
              </a:ext>
            </a:extLst>
          </p:cNvPr>
          <p:cNvSpPr txBox="1"/>
          <p:nvPr/>
        </p:nvSpPr>
        <p:spPr>
          <a:xfrm>
            <a:off x="6555127" y="2631212"/>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Revenue per customer</a:t>
            </a:r>
          </a:p>
        </p:txBody>
      </p:sp>
      <p:sp>
        <p:nvSpPr>
          <p:cNvPr id="14" name="Content Placeholder 10">
            <a:extLst>
              <a:ext uri="{FF2B5EF4-FFF2-40B4-BE49-F238E27FC236}">
                <a16:creationId id="{DBE99E9C-A611-68DB-873D-1306B6DA4538}"/>
              </a:ext>
            </a:extLst>
          </p:cNvPr>
          <p:cNvSpPr txBox="1">
            <a:spLocks/>
          </p:cNvSpPr>
          <p:nvPr/>
        </p:nvSpPr>
        <p:spPr>
          <a:xfrm>
            <a:off x="655843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$18k per customer for delivery and support</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5" name="TextBox 14">
            <a:extLst>
              <a:ext uri="{FF2B5EF4-FFF2-40B4-BE49-F238E27FC236}">
                <a16:creationId id="{5A7172E7-1168-69D9-D755-CC735D3A9194}"/>
              </a:ext>
            </a:extLst>
          </p:cNvPr>
          <p:cNvSpPr txBox="1"/>
          <p:nvPr/>
        </p:nvSpPr>
        <p:spPr>
          <a:xfrm>
            <a:off x="655512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Direct cost assumption</a:t>
            </a:r>
          </a:p>
        </p:txBody>
      </p:sp>
      <p:sp>
        <p:nvSpPr>
          <p:cNvPr id="16" name="Rounded Rectangle 15">
            <a:extLst>
              <a:ext uri="{FF2B5EF4-FFF2-40B4-BE49-F238E27FC236}">
                <a16:creationId id="{B252D751-7B28-98E9-CF7E-0EB98657E0AF}"/>
              </a:ext>
            </a:extLst>
          </p:cNvPr>
          <p:cNvSpPr/>
          <p:nvPr/>
        </p:nvSpPr>
        <p:spPr>
          <a:xfrm>
            <a:off x="6264412" y="391117"/>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7" name="Content Placeholder 10">
            <a:extLst>
              <a:ext uri="{FF2B5EF4-FFF2-40B4-BE49-F238E27FC236}">
                <a16:creationId id="{07D94FB0-B75A-4229-2FD1-CA1FAAC57998}"/>
              </a:ext>
            </a:extLst>
          </p:cNvPr>
          <p:cNvSpPr txBox="1">
            <a:spLocks/>
          </p:cNvSpPr>
          <p:nvPr/>
        </p:nvSpPr>
        <p:spPr>
          <a:xfrm>
            <a:off x="6558438" y="1104512"/>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$48k license + $12k support; implementation is one-time</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8" name="TextBox 17">
            <a:extLst>
              <a:ext uri="{FF2B5EF4-FFF2-40B4-BE49-F238E27FC236}">
                <a16:creationId id="{20D1D081-A168-A031-F892-8E2476A4AF34}"/>
              </a:ext>
            </a:extLst>
          </p:cNvPr>
          <p:cNvSpPr txBox="1"/>
          <p:nvPr/>
        </p:nvSpPr>
        <p:spPr>
          <a:xfrm>
            <a:off x="6555127" y="647429"/>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Recurring revenue mix</a:t>
            </a:r>
          </a:p>
        </p:txBody>
      </p:sp>
    </p:spTree>
    <p:extLst>
      <p:ext uri="{BB962C8B-B14F-4D97-AF65-F5344CB8AC3E}">
        <p14:creationId val="3145975295"/>
      </p:ext>
    </p:extLst>
  </p:cSld>
  <p:clrMapOvr>
    <a:masterClrMapping/>
  </p:clrMapOvr>
</p:sld>
</file>

<file path=ppt/slides/slide11.xml><?xml version="1.0" encoding="utf-8"?>
<p:sld xmlns:a="http://schemas.openxmlformats.org/drawingml/2006/main" xmlns:a16="http://schemas.microsoft.com/office/drawing/2014/main" xmlns:c="http://schemas.openxmlformats.org/drawingml/2006/chart" xmlns:p="http://schemas.openxmlformats.org/presentationml/2006/main" xmlns:p14="http://schemas.microsoft.com/office/powerpoint/2010/main" xmlns:r="http://schemas.openxmlformats.org/officeDocument/2006/relationships">
  <p:cSld>
    <p:spTree>
      <p:nvGrpSpPr>
        <p:cNvPr id="1" name="Shape 531">
          <a:extLst>
            <a:ext uri="{FF2B5EF4-FFF2-40B4-BE49-F238E27FC236}">
              <a16:creationId id="{1A03D60E-5DAA-16C1-57A8-527A813C058D}"/>
            </a:ext>
          </a:extLst>
        </p:cNvPr>
        <p:cNvGrpSpPr/>
        <p:nvPr/>
      </p:nvGrpSpPr>
      <p:grpSpPr>
        <a:xfrm>
          <a:off x="0" y="0"/>
          <a:ext cx="0" cy="0"/>
          <a:chOff x="0" y="0"/>
          <a:chExt cx="0" cy="0"/>
        </a:xfrm>
      </p:grpSpPr>
      <p:sp>
        <p:nvSpPr>
          <p:cNvPr id="532" name="Google Shape;532;p58">
            <a:extLst>
              <a:ext uri="{FF2B5EF4-FFF2-40B4-BE49-F238E27FC236}">
                <a16:creationId id="{95E36811-4D7D-1AF4-2047-7797FCF55465}"/>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11</a:t>
            </a:fld>
            <a:endParaRPr dirty="0">
              <a:sym typeface="OpenAI Sans"/>
            </a:endParaRPr>
          </a:p>
        </p:txBody>
      </p:sp>
      <p:sp>
        <p:nvSpPr>
          <p:cNvPr id="533" name="Google Shape;533;p58">
            <a:extLst>
              <a:ext uri="{FF2B5EF4-FFF2-40B4-BE49-F238E27FC236}">
                <a16:creationId id="{0619161C-354F-15D6-9579-085F52D7C5B2}"/>
              </a:ext>
            </a:extLst>
          </p:cNvPr>
          <p:cNvSpPr txBox="1">
            <a:spLocks noGrp="1"/>
          </p:cNvSpPr>
          <p:nvPr>
            <p:ph type="title"/>
          </p:nvPr>
        </p:nvSpPr>
        <p:spPr>
          <a:xfrm>
            <a:off x="393700" y="344008"/>
            <a:ext cx="5549230" cy="697392"/>
          </a:xfrm>
          <a:prstGeom prst="rect">
            <a:avLst/>
          </a:prstGeom>
        </p:spPr>
        <p:txBody>
          <a:bodyPr spcFirstLastPara="1" vert="horz" wrap="square" lIns="0" tIns="0" rIns="0" bIns="0" rtlCol="0" anchor="t" anchorCtr="0">
            <a:noAutofit/>
          </a:bodyPr>
          <a:lstStyle/>
          <a:p>
            <a:r>
              <a:rPr lang="en-US" dirty="0">
                <a:solidFill>
                  <a:schemeClr val="accent1"/>
                </a:solidFill>
              </a:rPr>
              <a:t>Gross profit versus assumed fixed overhead</a:t>
            </a:r>
            <a:endParaRPr dirty="0">
              <a:solidFill>
                <a:schemeClr val="accent1"/>
              </a:solidFill>
            </a:endParaRPr>
          </a:p>
        </p:txBody>
      </p:sp>
      <p:graphicFrame>
        <p:nvGraphicFramePr>
          <p:cNvPr id="4" name="Chart 3">
            <a:extLst>
              <a:ext uri="{FF2B5EF4-FFF2-40B4-BE49-F238E27FC236}">
                <a16:creationId id="{F9ECF619-B138-985C-78A5-B4A36DC109EB}"/>
              </a:ext>
            </a:extLst>
          </p:cNvPr>
          <p:cNvGraphicFramePr/>
          <p:nvPr/>
        </p:nvGraphicFramePr>
        <p:xfrm>
          <a:off x="408690" y="1023105"/>
          <a:ext cx="5124182" cy="5225194"/>
        </p:xfrm>
        <a:graphic>
          <a:graphicData uri="http://schemas.openxmlformats.org/drawingml/2006/chart">
            <c:chart r:id="rId3"/>
          </a:graphicData>
        </a:graphic>
      </p:graphicFrame>
      <p:sp>
        <p:nvSpPr>
          <p:cNvPr id="5" name="Footer Placeholder 4">
            <a:extLst>
              <a:ext uri="{FF2B5EF4-FFF2-40B4-BE49-F238E27FC236}">
                <a16:creationId id="{28BED08C-D3A0-E23F-F823-E34BEC6E5268}"/>
              </a:ext>
            </a:extLst>
          </p:cNvPr>
          <p:cNvSpPr>
            <a:spLocks noGrp="1"/>
          </p:cNvSpPr>
          <p:nvPr>
            <p:ph type="ftr" sz="quarter" idx="3"/>
          </p:nvPr>
        </p:nvSpPr>
        <p:spPr/>
        <p:txBody>
          <a:bodyPr/>
          <a:lstStyle/>
          <a:p>
            <a:endParaRPr lang="en-US" sz="1100" dirty="0"/>
          </a:p>
        </p:txBody>
      </p:sp>
      <p:sp>
        <p:nvSpPr>
          <p:cNvPr id="2" name="Rounded Rectangle 1">
            <a:extLst>
              <a:ext uri="{FF2B5EF4-FFF2-40B4-BE49-F238E27FC236}">
                <a16:creationId id="{C1DC18F5-97D1-0F9E-AF97-E39D1D597D57}"/>
              </a:ext>
            </a:extLst>
          </p:cNvPr>
          <p:cNvSpPr/>
          <p:nvPr/>
        </p:nvSpPr>
        <p:spPr>
          <a:xfrm>
            <a:off x="6271986" y="2032000"/>
            <a:ext cx="2581975" cy="2656541"/>
          </a:xfrm>
          <a:prstGeom prst="roundRect">
            <a:avLst>
              <a:gd name="adj" fmla="val 3602"/>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 name="Content Placeholder 9">
            <a:extLst>
              <a:ext uri="{FF2B5EF4-FFF2-40B4-BE49-F238E27FC236}">
                <a16:creationId id="{90C522A2-2174-5AFA-9A00-7E4BBCEB22B0}"/>
              </a:ext>
            </a:extLst>
          </p:cNvPr>
          <p:cNvSpPr txBox="1">
            <a:spLocks/>
          </p:cNvSpPr>
          <p:nvPr/>
        </p:nvSpPr>
        <p:spPr>
          <a:xfrm>
            <a:off x="6494348" y="2356820"/>
            <a:ext cx="2133315" cy="903750"/>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 marR="0" lvl="0" indent="0" algn="l" defTabSz="914400" rtl="0" eaLnBrk="1" fontAlgn="auto" latinLnBrk="0" hangingPunct="1">
              <a:lnSpc>
                <a:spcPct val="110000"/>
              </a:lnSpc>
              <a:spcBef>
                <a:spcPts val="0"/>
              </a:spcBef>
              <a:spcAft>
                <a:spcPts val="0"/>
              </a:spcAft>
              <a:buClr>
                <a:prstClr val="black"/>
              </a:buClr>
              <a:buSzPts val="1400"/>
              <a:buNone/>
              <a:tabLst/>
              <a:defRPr/>
            </a:pPr>
            <a:r>
              <a:rPr kumimoji="0" lang="en-US" sz="620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Helvetica Neue" panose="02000503000000020004" pitchFamily="2" charset="0"/>
                <a:sym typeface="OpenAI Sans"/>
              </a:rPr>
              <a:t>$80k</a:t>
            </a:r>
            <a:endParaRPr lang="en-US" sz="62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endParaRPr>
          </a:p>
        </p:txBody>
      </p:sp>
      <p:sp>
        <p:nvSpPr>
          <p:cNvPr id="7" name="Content Placeholder 15">
            <a:extLst>
              <a:ext uri="{FF2B5EF4-FFF2-40B4-BE49-F238E27FC236}">
                <a16:creationId id="{3859261F-DEEB-D3E4-08EA-A3B8D1EB0F8B}"/>
              </a:ext>
            </a:extLst>
          </p:cNvPr>
          <p:cNvSpPr txBox="1">
            <a:spLocks/>
          </p:cNvSpPr>
          <p:nvPr/>
        </p:nvSpPr>
        <p:spPr>
          <a:xfrm>
            <a:off x="6560966" y="3529296"/>
            <a:ext cx="2066698" cy="61595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Illustrative net result at 10 customers, before tax</a:t>
            </a:r>
            <a:br>
              <a:rPr lang="en-US" sz="1600" dirty="0">
                <a:ea typeface="Helvetica Neue" panose="02000503000000020004" pitchFamily="2" charset="0"/>
                <a:cs typeface="Helvetica Neue" panose="02000503000000020004" pitchFamily="2" charset="0"/>
                <a:sym typeface="OpenAI Sans"/>
              </a:rPr>
            </a:b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endParaRPr lang="en-US" sz="1600" dirty="0">
              <a:ea typeface="Helvetica Neue" panose="02000503000000020004" pitchFamily="2" charset="0"/>
              <a:cs typeface="Helvetica Neue" panose="02000503000000020004" pitchFamily="2" charset="0"/>
              <a:sym typeface="OpenAI Sans"/>
            </a:endParaRPr>
          </a:p>
        </p:txBody>
      </p:sp>
      <p:sp>
        <p:nvSpPr>
          <p:cNvPr id="8" name="Rounded Rectangle 7">
            <a:extLst>
              <a:ext uri="{FF2B5EF4-FFF2-40B4-BE49-F238E27FC236}">
                <a16:creationId id="{46A67EF5-6C28-37C0-A44F-C89DA6A63CE8}"/>
              </a:ext>
            </a:extLst>
          </p:cNvPr>
          <p:cNvSpPr/>
          <p:nvPr/>
        </p:nvSpPr>
        <p:spPr>
          <a:xfrm>
            <a:off x="9224191" y="2032000"/>
            <a:ext cx="2581975" cy="2656541"/>
          </a:xfrm>
          <a:prstGeom prst="roundRect">
            <a:avLst>
              <a:gd name="adj" fmla="val 3602"/>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Content Placeholder 9">
            <a:extLst>
              <a:ext uri="{FF2B5EF4-FFF2-40B4-BE49-F238E27FC236}">
                <a16:creationId id="{C1178A3C-CA3E-3A18-E320-61DF2ABD5D3C}"/>
              </a:ext>
            </a:extLst>
          </p:cNvPr>
          <p:cNvSpPr txBox="1">
            <a:spLocks/>
          </p:cNvSpPr>
          <p:nvPr/>
        </p:nvSpPr>
        <p:spPr>
          <a:xfrm>
            <a:off x="9446553" y="2356820"/>
            <a:ext cx="2133315" cy="903750"/>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 marR="0" lvl="0" indent="0" algn="l" defTabSz="914400" rtl="0" eaLnBrk="1" fontAlgn="auto" latinLnBrk="0" hangingPunct="1">
              <a:lnSpc>
                <a:spcPct val="110000"/>
              </a:lnSpc>
              <a:spcBef>
                <a:spcPts val="0"/>
              </a:spcBef>
              <a:spcAft>
                <a:spcPts val="0"/>
              </a:spcAft>
              <a:buClr>
                <a:prstClr val="black"/>
              </a:buClr>
              <a:buSzPts val="1400"/>
              <a:buNone/>
              <a:tabLst/>
              <a:defRPr/>
            </a:pPr>
            <a:r>
              <a:rPr kumimoji="0" lang="en-US" sz="620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Helvetica Neue" panose="02000503000000020004" pitchFamily="2" charset="0"/>
                <a:sym typeface="OpenAI Sans"/>
              </a:rPr>
              <a:t>$750k</a:t>
            </a:r>
            <a:endParaRPr lang="en-US" sz="62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endParaRPr>
          </a:p>
        </p:txBody>
      </p:sp>
      <p:sp>
        <p:nvSpPr>
          <p:cNvPr id="10" name="Content Placeholder 15">
            <a:extLst>
              <a:ext uri="{FF2B5EF4-FFF2-40B4-BE49-F238E27FC236}">
                <a16:creationId id="{9A0C1C6C-0D79-048C-2E65-5A332ED31144}"/>
              </a:ext>
            </a:extLst>
          </p:cNvPr>
          <p:cNvSpPr txBox="1">
            <a:spLocks/>
          </p:cNvSpPr>
          <p:nvPr/>
        </p:nvSpPr>
        <p:spPr>
          <a:xfrm>
            <a:off x="9513171" y="3529296"/>
            <a:ext cx="2066698" cy="61595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Illustrative net result at 25 customers, before tax</a:t>
            </a:r>
            <a:br>
              <a:rPr lang="en-US" sz="1600" dirty="0">
                <a:ea typeface="Helvetica Neue" panose="02000503000000020004" pitchFamily="2" charset="0"/>
                <a:cs typeface="Helvetica Neue" panose="02000503000000020004" pitchFamily="2" charset="0"/>
                <a:sym typeface="OpenAI Sans"/>
              </a:rPr>
            </a:b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endParaRPr lang="en-US" sz="1600" dirty="0">
              <a:ea typeface="Helvetica Neue" panose="02000503000000020004" pitchFamily="2" charset="0"/>
              <a:cs typeface="Helvetica Neue" panose="02000503000000020004" pitchFamily="2" charset="0"/>
              <a:sym typeface="OpenAI Sans"/>
            </a:endParaRPr>
          </a:p>
        </p:txBody>
      </p:sp>
      <p:sp>
        <p:nvSpPr>
          <p:cNvPr id="19" name="Content Placeholder 2">
            <a:extLst>
              <a:ext uri="{FF2B5EF4-FFF2-40B4-BE49-F238E27FC236}">
                <a16:creationId id="{A1ADE962-9ED7-3644-FA2A-7A64E19E9545}"/>
              </a:ext>
            </a:extLst>
          </p:cNvPr>
          <p:cNvSpPr txBox="1">
            <a:spLocks/>
          </p:cNvSpPr>
          <p:nvPr/>
        </p:nvSpPr>
        <p:spPr>
          <a:xfrm>
            <a:off x="6258427" y="4971337"/>
            <a:ext cx="5539873" cy="990600"/>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The model assumes fixed overhead of $260k / $360k / $520k / $750k at 1 / 5 / 10 / 25 customers. Net result is gross profit minus overhead; tax, financing, churn, and acquisition costs are excluded.</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p>
        </p:txBody>
      </p:sp>
    </p:spTree>
    <p:extLst>
      <p:ext uri="{BB962C8B-B14F-4D97-AF65-F5344CB8AC3E}">
        <p14:creationId val="399383134"/>
      </p:ext>
    </p:extLst>
  </p:cSld>
  <p:clrMapOvr>
    <a:masterClrMapping/>
  </p:clrMapOvr>
</p:sld>
</file>

<file path=ppt/slides/slide12.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38B9D4E6-CFF8-CAD9-A94E-1228D81EA56C}"/>
            </a:ext>
          </a:extLst>
        </p:cNvPr>
        <p:cNvGrpSpPr/>
        <p:nvPr/>
      </p:nvGrpSpPr>
      <p:grpSpPr>
        <a:xfrm>
          <a:off x="0" y="0"/>
          <a:ext cx="0" cy="0"/>
          <a:chOff x="0" y="0"/>
          <a:chExt cx="0" cy="0"/>
        </a:xfrm>
      </p:grpSpPr>
      <p:sp>
        <p:nvSpPr>
          <p:cNvPr id="16" name="Content Placeholder 15">
            <a:extLst>
              <a:ext uri="{FF2B5EF4-FFF2-40B4-BE49-F238E27FC236}">
                <a16:creationId id="{0BCC789E-87DC-C416-5298-C7F6E26A9533}"/>
              </a:ext>
            </a:extLst>
          </p:cNvPr>
          <p:cNvSpPr>
            <a:spLocks noGrp="1"/>
          </p:cNvSpPr>
          <p:nvPr>
            <p:ph idx="1"/>
          </p:nvPr>
        </p:nvSpPr>
        <p:spPr>
          <a:xfrm>
            <a:off x="393700" y="3822700"/>
            <a:ext cx="2595934" cy="1168400"/>
          </a:xfrm>
        </p:spPr>
        <p:txBody>
          <a:bodyPr>
            <a:noAutofit/>
          </a:bodyPr>
          <a:lstStyle/>
          <a:p>
            <a:pPr marL="0" indent="0">
              <a:lnSpc>
                <a:spcPct val="114000"/>
              </a:lnSpc>
              <a:spcBef>
                <a:spcPts val="0"/>
              </a:spcBef>
              <a:spcAft>
                <a:spcPts val="800"/>
              </a:spcAft>
            </a:pPr>
            <a:r>
              <a:rPr lang="en-US"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Scope the pilot</a:t>
            </a:r>
          </a:p>
          <a:p>
            <a:pPr marL="0" indent="0">
              <a:lnSpc>
                <a:spcPct val="114000"/>
              </a:lnSpc>
              <a:spcBef>
                <a:spcPts val="0"/>
              </a:spcBef>
              <a:spcAft>
                <a:spcPts val="800"/>
              </a:spcAft>
            </a:pPr>
            <a:r>
              <a:rPr lang="en-US" dirty="0">
                <a:ea typeface="Helvetica Neue" panose="02000503000000020004" pitchFamily="2" charset="0"/>
                <a:cs typeface="Helvetica Neue" panose="02000503000000020004" pitchFamily="2" charset="0"/>
                <a:sym typeface="OpenAI Sans"/>
              </a:rPr>
              <a:t>Choose three to five services; confirm owners, data-loss and recovery-time targets, and dependencies.</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p>
        </p:txBody>
      </p:sp>
      <p:sp>
        <p:nvSpPr>
          <p:cNvPr id="4" name="Slide Number Placeholder 3">
            <a:extLst>
              <a:ext uri="{FF2B5EF4-FFF2-40B4-BE49-F238E27FC236}">
                <a16:creationId id="{6BBF0163-E4B1-61D1-776D-45470B16F0F4}"/>
              </a:ext>
            </a:extLst>
          </p:cNvPr>
          <p:cNvSpPr>
            <a:spLocks noGrp="1"/>
          </p:cNvSpPr>
          <p:nvPr>
            <p:ph type="sldNum" sz="quarter" idx="4"/>
          </p:nvPr>
        </p:nvSpPr>
        <p:spPr/>
        <p:txBody>
          <a:bodyPr/>
          <a:lstStyle/>
          <a:p>
            <a:fld id="{8574A810-7A8E-054F-9F6B-09E9C694ECF9}" type="slidenum">
              <a:rPr lang="en-US" smtClean="0"/>
              <a:pPr/>
              <a:t>12</a:t>
            </a:fld>
            <a:endParaRPr lang="en-US" sz="1100" dirty="0"/>
          </a:p>
        </p:txBody>
      </p:sp>
      <p:sp>
        <p:nvSpPr>
          <p:cNvPr id="11" name="Title 10">
            <a:extLst>
              <a:ext uri="{FF2B5EF4-FFF2-40B4-BE49-F238E27FC236}">
                <a16:creationId id="{9759E2FE-9F02-E1B4-EBBC-AA8624ACC339}"/>
              </a:ext>
            </a:extLst>
          </p:cNvPr>
          <p:cNvSpPr>
            <a:spLocks noGrp="1"/>
          </p:cNvSpPr>
          <p:nvPr>
            <p:ph type="title"/>
          </p:nvPr>
        </p:nvSpPr>
        <p:spPr>
          <a:xfrm>
            <a:off x="393700" y="344008"/>
            <a:ext cx="7846838" cy="1034893"/>
          </a:xfrm>
        </p:spPr>
        <p:txBody>
          <a:bodyPr/>
          <a:lstStyle/>
          <a:p>
            <a:r>
              <a:rPr lang="en-US" dirty="0">
                <a:solidFill>
                  <a:schemeClr val="accent1"/>
                </a:solidFill>
              </a:rPr>
              <a:t>Proposed pilot path; dates to be agreed</a:t>
            </a:r>
          </a:p>
        </p:txBody>
      </p:sp>
      <p:sp>
        <p:nvSpPr>
          <p:cNvPr id="17" name="Text Placeholder 16">
            <a:extLst>
              <a:ext uri="{FF2B5EF4-FFF2-40B4-BE49-F238E27FC236}">
                <a16:creationId id="{986AEEE5-7F7B-65AD-1D88-9157CF0514D8}"/>
              </a:ext>
            </a:extLst>
          </p:cNvPr>
          <p:cNvSpPr>
            <a:spLocks noGrp="1"/>
          </p:cNvSpPr>
          <p:nvPr>
            <p:ph type="body" sz="quarter" idx="12"/>
          </p:nvPr>
        </p:nvSpPr>
        <p:spPr>
          <a:xfrm>
            <a:off x="4317119" y="3822700"/>
            <a:ext cx="2595934" cy="1168400"/>
          </a:xfrm>
        </p:spPr>
        <p:txBody>
          <a:bodyPr>
            <a:noAutofit/>
          </a:bodyPr>
          <a:lstStyle/>
          <a:p>
            <a:pPr marL="0" marR="0" lvl="0" indent="0" fontAlgn="auto">
              <a:lnSpc>
                <a:spcPct val="114000"/>
              </a:lnSpc>
              <a:spcBef>
                <a:spcPts val="0"/>
              </a:spcBef>
              <a:spcAft>
                <a:spcPts val="800"/>
              </a:spcAft>
              <a:buClrTx/>
              <a:buSzTx/>
              <a:tabLst/>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Run a joint exercise</a:t>
            </a:r>
          </a:p>
          <a:p>
            <a:pPr marL="0" marR="0" lvl="0" indent="0" algn="l" defTabSz="914400" rtl="0" eaLnBrk="1" fontAlgn="auto" latinLnBrk="0" hangingPunct="1">
              <a:lnSpc>
                <a:spcPct val="114000"/>
              </a:lnSpc>
              <a:spcBef>
                <a:spcPts val="0"/>
              </a:spcBef>
              <a:spcAft>
                <a:spcPts val="800"/>
              </a:spcAft>
              <a:buClrTx/>
              <a:buSzTx/>
              <a:buFont typeface="Arial" panose="020B0604020202020204" pitchFamily="34" charset="0"/>
              <a:buNone/>
              <a:tabLst/>
              <a:defRPr/>
            </a:pP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Review primary-site loss, ransomware, and a combined power/network disruption.</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p>
        </p:txBody>
      </p:sp>
      <p:sp>
        <p:nvSpPr>
          <p:cNvPr id="18" name="Content Placeholder 17">
            <a:extLst>
              <a:ext uri="{FF2B5EF4-FFF2-40B4-BE49-F238E27FC236}">
                <a16:creationId id="{B32A8A18-E9FA-02B4-6667-53C019EC43C0}"/>
              </a:ext>
            </a:extLst>
          </p:cNvPr>
          <p:cNvSpPr>
            <a:spLocks noGrp="1"/>
          </p:cNvSpPr>
          <p:nvPr>
            <p:ph idx="13"/>
          </p:nvPr>
        </p:nvSpPr>
        <p:spPr>
          <a:xfrm>
            <a:off x="8240538" y="3822700"/>
            <a:ext cx="2595934" cy="1168400"/>
          </a:xfrm>
        </p:spPr>
        <p:txBody>
          <a:bodyPr>
            <a:noAutofit/>
          </a:bodyPr>
          <a:lstStyle/>
          <a:p>
            <a:pPr marL="0" marR="0" lvl="0" indent="0" fontAlgn="auto">
              <a:lnSpc>
                <a:spcPct val="114000"/>
              </a:lnSpc>
              <a:spcBef>
                <a:spcPts val="0"/>
              </a:spcBef>
              <a:spcAft>
                <a:spcPts val="800"/>
              </a:spcAft>
              <a:buClrTx/>
              <a:buSzTx/>
              <a:tabLst/>
              <a:defRPr/>
            </a:pPr>
            <a:r>
              <a:rPr lang="en-US"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Test and review evidence</a:t>
            </a:r>
          </a:p>
          <a:p>
            <a:pPr marL="0" marR="0" lvl="0" indent="0" algn="l" defTabSz="914400" rtl="0" eaLnBrk="1" fontAlgn="auto" latinLnBrk="0" hangingPunct="1">
              <a:lnSpc>
                <a:spcPct val="114000"/>
              </a:lnSpc>
              <a:spcBef>
                <a:spcPts val="0"/>
              </a:spcBef>
              <a:spcAft>
                <a:spcPts val="800"/>
              </a:spcAft>
              <a:buClrTx/>
              <a:buSzTx/>
              <a:buFont typeface="Arial" panose="020B0604020202020204" pitchFamily="34" charset="0"/>
              <a:buNone/>
              <a:tabLst/>
              <a:defRPr/>
            </a:pP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Approve a synthetic isolated copy; record its result, observed duration, and known gaps.</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p>
        </p:txBody>
      </p:sp>
      <p:cxnSp>
        <p:nvCxnSpPr>
          <p:cNvPr id="2" name="Google Shape;2259;p159">
            <a:extLst>
              <a:ext uri="{FF2B5EF4-FFF2-40B4-BE49-F238E27FC236}">
                <a16:creationId id="{B445FE4B-78BD-90F9-A6AA-1A4EF03DE791}"/>
              </a:ext>
            </a:extLst>
          </p:cNvPr>
          <p:cNvCxnSpPr>
            <a:stCxn id="3" idx="2"/>
          </p:cNvCxnSpPr>
          <p:nvPr/>
        </p:nvCxnSpPr>
        <p:spPr>
          <a:xfrm>
            <a:off x="337718" y="3373753"/>
            <a:ext cx="12245400" cy="300"/>
          </a:xfrm>
          <a:prstGeom prst="straightConnector1">
            <a:avLst/>
          </a:prstGeom>
          <a:noFill/>
          <a:ln w="9525" cap="flat" cmpd="sng">
            <a:solidFill>
              <a:schemeClr val="accent1"/>
            </a:solidFill>
            <a:prstDash val="solid"/>
            <a:round/>
            <a:headEnd type="none" w="med" len="med"/>
            <a:tailEnd type="none" w="med" len="med"/>
          </a:ln>
        </p:spPr>
      </p:cxnSp>
      <p:sp>
        <p:nvSpPr>
          <p:cNvPr id="3" name="Google Shape;2260;p159">
            <a:extLst>
              <a:ext uri="{FF2B5EF4-FFF2-40B4-BE49-F238E27FC236}">
                <a16:creationId id="{39A86B1D-EA5D-3FA6-7D83-8F21D70E330E}"/>
              </a:ext>
            </a:extLst>
          </p:cNvPr>
          <p:cNvSpPr/>
          <p:nvPr/>
        </p:nvSpPr>
        <p:spPr>
          <a:xfrm>
            <a:off x="337718"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5" name="Google Shape;2261;p159">
            <a:extLst>
              <a:ext uri="{FF2B5EF4-FFF2-40B4-BE49-F238E27FC236}">
                <a16:creationId id="{A1013DAF-A2C3-BC42-73D5-9D8AB55DCA94}"/>
              </a:ext>
            </a:extLst>
          </p:cNvPr>
          <p:cNvSpPr/>
          <p:nvPr/>
        </p:nvSpPr>
        <p:spPr>
          <a:xfrm>
            <a:off x="4251750"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6" name="Google Shape;2262;p159">
            <a:extLst>
              <a:ext uri="{FF2B5EF4-FFF2-40B4-BE49-F238E27FC236}">
                <a16:creationId id="{4654A74A-2C40-A8C6-E9F9-43C58A3ADE20}"/>
              </a:ext>
            </a:extLst>
          </p:cNvPr>
          <p:cNvSpPr/>
          <p:nvPr/>
        </p:nvSpPr>
        <p:spPr>
          <a:xfrm>
            <a:off x="8176050"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9" name="Content Placeholder 15">
            <a:extLst>
              <a:ext uri="{FF2B5EF4-FFF2-40B4-BE49-F238E27FC236}">
                <a16:creationId id="{76C75857-E8EA-1B37-0464-3C7048D7FBEB}"/>
              </a:ext>
            </a:extLst>
          </p:cNvPr>
          <p:cNvSpPr txBox="1">
            <a:spLocks/>
          </p:cNvSpPr>
          <p:nvPr/>
        </p:nvSpPr>
        <p:spPr>
          <a:xfrm>
            <a:off x="393700"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TBD</a:t>
            </a:r>
          </a:p>
        </p:txBody>
      </p:sp>
      <p:sp>
        <p:nvSpPr>
          <p:cNvPr id="13" name="Content Placeholder 15">
            <a:extLst>
              <a:ext uri="{FF2B5EF4-FFF2-40B4-BE49-F238E27FC236}">
                <a16:creationId id="{76AEECBA-C292-6302-8A8E-7EB14A54E420}"/>
              </a:ext>
            </a:extLst>
          </p:cNvPr>
          <p:cNvSpPr txBox="1">
            <a:spLocks/>
          </p:cNvSpPr>
          <p:nvPr/>
        </p:nvSpPr>
        <p:spPr>
          <a:xfrm>
            <a:off x="4294187"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TBD</a:t>
            </a:r>
          </a:p>
        </p:txBody>
      </p:sp>
      <p:sp>
        <p:nvSpPr>
          <p:cNvPr id="14" name="Content Placeholder 15">
            <a:extLst>
              <a:ext uri="{FF2B5EF4-FFF2-40B4-BE49-F238E27FC236}">
                <a16:creationId id="{95982BB0-2387-9BAA-9F14-F45500C04700}"/>
              </a:ext>
            </a:extLst>
          </p:cNvPr>
          <p:cNvSpPr txBox="1">
            <a:spLocks/>
          </p:cNvSpPr>
          <p:nvPr/>
        </p:nvSpPr>
        <p:spPr>
          <a:xfrm>
            <a:off x="8223249"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TBD</a:t>
            </a:r>
          </a:p>
        </p:txBody>
      </p:sp>
      <p:sp>
        <p:nvSpPr>
          <p:cNvPr id="7" name="Footer Placeholder 6">
            <a:extLst>
              <a:ext uri="{FF2B5EF4-FFF2-40B4-BE49-F238E27FC236}">
                <a16:creationId id="{3AC3A10F-8642-8154-9AEA-7110D289C62E}"/>
              </a:ext>
            </a:extLst>
          </p:cNvPr>
          <p:cNvSpPr>
            <a:spLocks noGrp="1"/>
          </p:cNvSpPr>
          <p:nvPr>
            <p:ph type="ftr" sz="quarter" idx="3"/>
          </p:nvPr>
        </p:nvSpPr>
        <p:spPr/>
        <p:txBody>
          <a:bodyPr/>
          <a:lstStyle/>
          <a:p>
            <a:endParaRPr lang="en-US" sz="1100" dirty="0"/>
          </a:p>
        </p:txBody>
      </p:sp>
    </p:spTree>
    <p:extLst>
      <p:ext uri="{BB962C8B-B14F-4D97-AF65-F5344CB8AC3E}">
        <p14:creationId val="3446338916"/>
      </p:ext>
    </p:extLst>
  </p:cSld>
  <p:clrMapOvr>
    <a:masterClrMapping/>
  </p:clrMapOvr>
</p:sld>
</file>

<file path=ppt/slides/slide13.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CFE5198B-4DE9-7211-B26D-C7E4AA289A1A}"/>
            </a:ext>
          </a:extLst>
        </p:cNvPr>
        <p:cNvGrpSpPr/>
        <p:nvPr/>
      </p:nvGrpSpPr>
      <p:grpSpPr>
        <a:xfrm>
          <a:off x="0" y="0"/>
          <a:ext cx="0" cy="0"/>
          <a:chOff x="0" y="0"/>
          <a:chExt cx="0" cy="0"/>
        </a:xfrm>
      </p:grpSpPr>
      <p:sp>
        <p:nvSpPr>
          <p:cNvPr id="532" name="Google Shape;532;p58">
            <a:extLst>
              <a:ext uri="{FF2B5EF4-FFF2-40B4-BE49-F238E27FC236}">
                <a16:creationId id="{9EE8A1CA-4617-FF10-E8D0-B582B7F48A8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13</a:t>
            </a:fld>
            <a:endParaRPr dirty="0">
              <a:sym typeface="OpenAI Sans"/>
            </a:endParaRPr>
          </a:p>
        </p:txBody>
      </p:sp>
      <p:sp>
        <p:nvSpPr>
          <p:cNvPr id="533" name="Google Shape;533;p58">
            <a:extLst>
              <a:ext uri="{FF2B5EF4-FFF2-40B4-BE49-F238E27FC236}">
                <a16:creationId id="{68499D35-F61B-DF1C-10A6-EA04E8D00662}"/>
              </a:ext>
            </a:extLst>
          </p:cNvPr>
          <p:cNvSpPr txBox="1">
            <a:spLocks noGrp="1"/>
          </p:cNvSpPr>
          <p:nvPr>
            <p:ph type="title"/>
          </p:nvPr>
        </p:nvSpPr>
        <p:spPr>
          <a:xfrm>
            <a:off x="393700" y="344009"/>
            <a:ext cx="11404600" cy="697392"/>
          </a:xfrm>
          <a:prstGeom prst="rect">
            <a:avLst/>
          </a:prstGeom>
        </p:spPr>
        <p:txBody>
          <a:bodyPr spcFirstLastPara="1" vert="horz" wrap="square" lIns="0" tIns="0" rIns="0" bIns="0" rtlCol="0" anchor="t" anchorCtr="0">
            <a:noAutofit/>
          </a:bodyPr>
          <a:lstStyle/>
          <a:p>
            <a:r>
              <a:rPr lang="en-US" dirty="0">
                <a:solidFill>
                  <a:schemeClr val="accent1"/>
                </a:solidFill>
              </a:rPr>
              <a:t>Proposed priorities: sequence only; timing not committed</a:t>
            </a:r>
            <a:endParaRPr dirty="0">
              <a:solidFill>
                <a:schemeClr val="accent1"/>
              </a:solidFill>
            </a:endParaRPr>
          </a:p>
        </p:txBody>
      </p:sp>
      <p:graphicFrame>
        <p:nvGraphicFramePr>
          <p:cNvPr id="4" name="Google Shape;953;p80">
            <a:extLst>
              <a:ext uri="{FF2B5EF4-FFF2-40B4-BE49-F238E27FC236}">
                <a16:creationId id="{132CDF09-C451-CA62-761F-27510206387F}"/>
              </a:ext>
            </a:extLst>
          </p:cNvPr>
          <p:cNvGraphicFramePr/>
          <p:nvPr>
            <p:extLst>
              <p:ext uri="{D42A27DB-BD31-4B8C-83A1-F6EECF244321}">
                <p14:modId val="4069686237"/>
              </p:ext>
            </p:extLst>
          </p:nvPr>
        </p:nvGraphicFramePr>
        <p:xfrm>
          <a:off x="393699" y="1379875"/>
          <a:ext cx="11404600" cy="4614525"/>
        </p:xfrm>
        <a:graphic>
          <a:graphicData uri="http://schemas.openxmlformats.org/drawingml/2006/table">
            <a:tbl>
              <a:tblPr>
                <a:noFill/>
              </a:tblPr>
              <a:tblGrid>
                <a:gridCol w="2280920">
                  <a:extLst>
                    <a:ext uri="{9D8B030D-6E8A-4147-A177-3AD203B41FA5}">
                      <a16:colId val="20000"/>
                    </a:ext>
                  </a:extLst>
                </a:gridCol>
                <a:gridCol w="2280920">
                  <a:extLst>
                    <a:ext uri="{9D8B030D-6E8A-4147-A177-3AD203B41FA5}">
                      <a16:colId val="20001"/>
                    </a:ext>
                  </a:extLst>
                </a:gridCol>
                <a:gridCol w="2280920">
                  <a:extLst>
                    <a:ext uri="{9D8B030D-6E8A-4147-A177-3AD203B41FA5}">
                      <a16:colId val="20002"/>
                    </a:ext>
                  </a:extLst>
                </a:gridCol>
                <a:gridCol w="2280920">
                  <a:extLst>
                    <a:ext uri="{9D8B030D-6E8A-4147-A177-3AD203B41FA5}">
                      <a16:colId val="20003"/>
                    </a:ext>
                  </a:extLst>
                </a:gridCol>
                <a:gridCol w="2280920">
                  <a:extLst>
                    <a:ext uri="{9D8B030D-6E8A-4147-A177-3AD203B41FA5}">
                      <a16:colId val="20004"/>
                    </a:ext>
                  </a:extLst>
                </a:gridCol>
              </a:tblGrid>
              <a:tr h="4614525">
                <a:tc>
                  <a:txBody>
                    <a:bodyPr/>
                    <a:lstStyle/>
                    <a:p>
                      <a:pPr marL="0" lvl="0" indent="0" algn="l" rtl="0">
                        <a:spcBef>
                          <a:spcPts val="0"/>
                        </a:spcBef>
                        <a:spcAft>
                          <a:spcPts val="0"/>
                        </a:spcAft>
                        <a:buNone/>
                      </a:pPr>
                      <a:r>
                        <a:rPr lang="en" sz="1600" dirty="0">
                          <a:solidFill>
                            <a:schemeClr val="accent2">
                              <a:lumMod val="75000"/>
                            </a:schemeClr>
                          </a:solidFill>
                        </a:rPr>
                        <a:t>Discovery</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Pilot</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Controls</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Integrations</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Validation</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val="10000"/>
                  </a:ext>
                </a:extLst>
              </a:tr>
            </a:tbl>
          </a:graphicData>
        </a:graphic>
      </p:graphicFrame>
      <p:sp>
        <p:nvSpPr>
          <p:cNvPr id="5" name="Google Shape;955;p80">
            <a:extLst>
              <a:ext uri="{FF2B5EF4-FFF2-40B4-BE49-F238E27FC236}">
                <a16:creationId id="{EA32D89C-6778-2FE2-6D40-ABA6EAAD7EC1}"/>
              </a:ext>
            </a:extLst>
          </p:cNvPr>
          <p:cNvSpPr/>
          <p:nvPr/>
        </p:nvSpPr>
        <p:spPr>
          <a:xfrm>
            <a:off x="4721718" y="4107740"/>
            <a:ext cx="4562665"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Build vendor-neutral backup adapters</a:t>
            </a:r>
          </a:p>
        </p:txBody>
      </p:sp>
      <p:sp>
        <p:nvSpPr>
          <p:cNvPr id="6" name="Google Shape;957;p80">
            <a:extLst>
              <a:ext uri="{FF2B5EF4-FFF2-40B4-BE49-F238E27FC236}">
                <a16:creationId id="{D5359B3A-662D-9283-F7D8-9D5DCD655B5B}"/>
              </a:ext>
            </a:extLst>
          </p:cNvPr>
          <p:cNvSpPr/>
          <p:nvPr/>
        </p:nvSpPr>
        <p:spPr>
          <a:xfrm>
            <a:off x="584093" y="5478390"/>
            <a:ext cx="11026708" cy="513300"/>
          </a:xfrm>
          <a:prstGeom prst="roundRect">
            <a:avLst>
              <a:gd name="adj" fmla="val 11479"/>
            </a:avLst>
          </a:prstGeom>
          <a:solidFill>
            <a:schemeClr val="bg2"/>
          </a:solidFill>
          <a:ln w="12700">
            <a:solidFill>
              <a:schemeClr val="accent1"/>
            </a:solidFill>
          </a:ln>
        </p:spPr>
        <p:txBody>
          <a:bodyPr spcFirstLastPara="1" wrap="square" lIns="210300" tIns="121875" rIns="121875" bIns="121875" anchor="ctr" anchorCtr="0">
            <a:noAutofit/>
          </a:bodyPr>
          <a:lstStyle/>
          <a:p>
            <a:r>
              <a:rPr lang="en" sz="1500" dirty="0">
                <a:solidFill>
                  <a:schemeClr val="accent1"/>
                </a:solidFill>
                <a:latin typeface="Roboto Medium" panose="02000000000000000000" pitchFamily="2" charset="0"/>
                <a:ea typeface="Roboto Medium" panose="02000000000000000000" pitchFamily="2" charset="0"/>
                <a:cs typeface="Helvetica Neue"/>
                <a:sym typeface="Helvetica Neue"/>
              </a:rPr>
              <a:t>Run a supervised pilot and measure customer value</a:t>
            </a:r>
            <a:endParaRPr sz="1500" dirty="0">
              <a:solidFill>
                <a:schemeClr val="accent1"/>
              </a:solidFill>
              <a:latin typeface="Roboto Medium" panose="02000000000000000000" pitchFamily="2" charset="0"/>
              <a:ea typeface="Roboto Medium" panose="02000000000000000000" pitchFamily="2" charset="0"/>
              <a:cs typeface="Helvetica Neue"/>
              <a:sym typeface="Helvetica Neue"/>
            </a:endParaRPr>
          </a:p>
        </p:txBody>
      </p:sp>
      <p:sp>
        <p:nvSpPr>
          <p:cNvPr id="7" name="Google Shape;960;p80">
            <a:extLst>
              <a:ext uri="{FF2B5EF4-FFF2-40B4-BE49-F238E27FC236}">
                <a16:creationId id="{2293B6C0-CD6E-C9F0-68F7-73F7B726A1EF}"/>
              </a:ext>
            </a:extLst>
          </p:cNvPr>
          <p:cNvSpPr/>
          <p:nvPr/>
        </p:nvSpPr>
        <p:spPr>
          <a:xfrm>
            <a:off x="7522794" y="4754965"/>
            <a:ext cx="4088008"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Malware scan + app/database health checks</a:t>
            </a:r>
          </a:p>
        </p:txBody>
      </p:sp>
      <p:sp>
        <p:nvSpPr>
          <p:cNvPr id="8" name="Google Shape;963;p80">
            <a:extLst>
              <a:ext uri="{FF2B5EF4-FFF2-40B4-BE49-F238E27FC236}">
                <a16:creationId id="{0F4F3439-EC29-4518-4A3E-7436F8578035}"/>
              </a:ext>
            </a:extLst>
          </p:cNvPr>
          <p:cNvSpPr/>
          <p:nvPr/>
        </p:nvSpPr>
        <p:spPr>
          <a:xfrm>
            <a:off x="2819968" y="3403140"/>
            <a:ext cx="8790833"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Add authenticated roles and independent approval</a:t>
            </a:r>
          </a:p>
        </p:txBody>
      </p:sp>
      <p:sp>
        <p:nvSpPr>
          <p:cNvPr id="9" name="Google Shape;966;p80">
            <a:extLst>
              <a:ext uri="{FF2B5EF4-FFF2-40B4-BE49-F238E27FC236}">
                <a16:creationId id="{1D07E5FD-0BEC-93D6-2CF5-BC908A51553C}"/>
              </a:ext>
            </a:extLst>
          </p:cNvPr>
          <p:cNvSpPr/>
          <p:nvPr/>
        </p:nvSpPr>
        <p:spPr>
          <a:xfrm>
            <a:off x="2819968" y="2698515"/>
            <a:ext cx="6408538"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Map service owners, targets, and dependencies</a:t>
            </a:r>
          </a:p>
        </p:txBody>
      </p:sp>
      <p:sp>
        <p:nvSpPr>
          <p:cNvPr id="10" name="Google Shape;969;p80">
            <a:extLst>
              <a:ext uri="{FF2B5EF4-FFF2-40B4-BE49-F238E27FC236}">
                <a16:creationId id="{0AB147C5-D3F9-0847-C2A5-2A90154B1A3C}"/>
              </a:ext>
            </a:extLst>
          </p:cNvPr>
          <p:cNvSpPr/>
          <p:nvPr/>
        </p:nvSpPr>
        <p:spPr>
          <a:xfrm>
            <a:off x="507893" y="1975090"/>
            <a:ext cx="4185180"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 sz="1500" dirty="0">
                <a:solidFill>
                  <a:schemeClr val="bg2"/>
                </a:solidFill>
                <a:latin typeface="Roboto Medium" panose="02000000000000000000" pitchFamily="2" charset="0"/>
                <a:ea typeface="Roboto Medium" panose="02000000000000000000" pitchFamily="2" charset="0"/>
                <a:cs typeface="Helvetica Neue"/>
                <a:sym typeface="Helvetica Neue"/>
              </a:rPr>
              <a:t>Buyer and operator interviews</a:t>
            </a:r>
            <a:endParaRPr sz="1500" dirty="0">
              <a:solidFill>
                <a:schemeClr val="bg2"/>
              </a:solidFill>
              <a:latin typeface="Roboto Medium" panose="02000000000000000000" pitchFamily="2" charset="0"/>
              <a:ea typeface="Roboto Medium" panose="02000000000000000000" pitchFamily="2" charset="0"/>
              <a:cs typeface="Helvetica Neue"/>
              <a:sym typeface="Helvetica Neue"/>
            </a:endParaRPr>
          </a:p>
        </p:txBody>
      </p:sp>
      <p:sp>
        <p:nvSpPr>
          <p:cNvPr id="11" name="Footer Placeholder 10">
            <a:extLst>
              <a:ext uri="{FF2B5EF4-FFF2-40B4-BE49-F238E27FC236}">
                <a16:creationId id="{F06ADB7A-E0CB-A418-3590-620B0C5F17EB}"/>
              </a:ext>
            </a:extLst>
          </p:cNvPr>
          <p:cNvSpPr>
            <a:spLocks noGrp="1"/>
          </p:cNvSpPr>
          <p:nvPr>
            <p:ph type="ftr" sz="quarter" idx="3"/>
          </p:nvPr>
        </p:nvSpPr>
        <p:spPr/>
        <p:txBody>
          <a:bodyPr/>
          <a:lstStyle/>
          <a:p>
            <a:endParaRPr lang="en-US" sz="1100" dirty="0"/>
          </a:p>
        </p:txBody>
      </p:sp>
    </p:spTree>
    <p:extLst>
      <p:ext uri="{BB962C8B-B14F-4D97-AF65-F5344CB8AC3E}">
        <p14:creationId val="2435171538"/>
      </p:ext>
    </p:extLst>
  </p:cSld>
  <p:clrMapOvr>
    <a:masterClrMapping/>
  </p:clrMapOvr>
</p:sld>
</file>

<file path=ppt/slides/slide14.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AE7255DD-98B9-E077-6778-D5F2B926E4E5}"/>
            </a:ext>
          </a:extLst>
        </p:cNvPr>
        <p:cNvGrpSpPr/>
        <p:nvPr/>
      </p:nvGrpSpPr>
      <p:grpSpPr>
        <a:xfrm>
          <a:off x="0" y="0"/>
          <a:ext cx="0" cy="0"/>
          <a:chOff x="0" y="0"/>
          <a:chExt cx="0" cy="0"/>
        </a:xfrm>
      </p:grpSpPr>
      <p:sp>
        <p:nvSpPr>
          <p:cNvPr id="4" name="Title 3">
            <a:extLst>
              <a:ext uri="{FF2B5EF4-FFF2-40B4-BE49-F238E27FC236}">
                <a16:creationId id="{32011EE4-C416-3EA2-180D-62404CE47D07}"/>
              </a:ext>
            </a:extLst>
          </p:cNvPr>
          <p:cNvSpPr>
            <a:spLocks noGrp="1"/>
          </p:cNvSpPr>
          <p:nvPr>
            <p:ph type="ctrTitle"/>
          </p:nvPr>
        </p:nvSpPr>
        <p:spPr>
          <a:xfrm>
            <a:off x="393700" y="937510"/>
            <a:ext cx="9448800" cy="2491490"/>
          </a:xfrm>
        </p:spPr>
        <p:txBody>
          <a:bodyPr>
            <a:noAutofit/>
          </a:bodyPr>
          <a:lstStyle/>
          <a:p>
            <a:r>
              <a:rPr lang="en-US" sz="6500" dirty="0">
                <a:solidFill>
                  <a:schemeClr val="accent1"/>
                </a:solidFill>
                <a:cs typeface="Roboto Serif 14pt" pitchFamily="2" charset="77"/>
              </a:rPr>
              <a:t>Decisions to move toward a pilot</a:t>
            </a:r>
          </a:p>
        </p:txBody>
      </p:sp>
      <p:sp>
        <p:nvSpPr>
          <p:cNvPr id="5" name="Subtitle 4">
            <a:extLst>
              <a:ext uri="{FF2B5EF4-FFF2-40B4-BE49-F238E27FC236}">
                <a16:creationId id="{119B400D-E218-8301-7E00-C5A55230DE5D}"/>
              </a:ext>
            </a:extLst>
          </p:cNvPr>
          <p:cNvSpPr>
            <a:spLocks noGrp="1"/>
          </p:cNvSpPr>
          <p:nvPr>
            <p:ph type="subTitle" idx="1"/>
          </p:nvPr>
        </p:nvSpPr>
        <p:spPr>
          <a:xfrm>
            <a:off x="441201" y="4532466"/>
            <a:ext cx="6458364" cy="1388024"/>
          </a:xfrm>
        </p:spPr>
        <p:txBody>
          <a:bodyPr>
            <a:noAutofit/>
          </a:bodyPr>
          <a:lstStyle/>
          <a:p>
            <a:pPr>
              <a:lnSpc>
                <a:spcPct val="120000"/>
              </a:lnSpc>
            </a:pPr>
            <a:r>
              <a:rPr lang="en-US" sz="1600" dirty="0">
                <a:solidFill>
                  <a:schemeClr val="accent2">
                    <a:lumMod val="50000"/>
                  </a:schemeClr>
                </a:solidFill>
              </a:rPr>
              <a:t>Name a pilot owner</a:t>
            </a:r>
          </a:p>
          <a:p>
            <a:pPr>
              <a:lnSpc>
                <a:spcPct val="120000"/>
              </a:lnSpc>
            </a:pPr>
            <a:r>
              <a:rPr lang="en-US" sz="1600" dirty="0">
                <a:solidFill>
                  <a:schemeClr val="accent2">
                    <a:lumMod val="50000"/>
                  </a:schemeClr>
                </a:solidFill>
              </a:rPr>
              <a:t>Agree on service scope and evidence</a:t>
            </a:r>
          </a:p>
          <a:p>
            <a:pPr>
              <a:lnSpc>
                <a:spcPct val="120000"/>
              </a:lnSpc>
            </a:pPr>
            <a:r>
              <a:rPr lang="en-US" sz="1600" dirty="0">
                <a:solidFill>
                  <a:schemeClr val="accent2">
                    <a:lumMod val="50000"/>
                  </a:schemeClr>
                </a:solidFill>
              </a:rPr>
              <a:t>Confirm success measures and security gates</a:t>
            </a:r>
          </a:p>
        </p:txBody>
      </p:sp>
      <p:cxnSp>
        <p:nvCxnSpPr>
          <p:cNvPr id="3" name="Straight Connector 2">
            <a:extLst>
              <a:ext uri="{FF2B5EF4-FFF2-40B4-BE49-F238E27FC236}">
                <a16:creationId id="{4E22365F-D1C1-40F6-3DD1-ADD568EAF6AA}"/>
              </a:ext>
            </a:extLst>
          </p:cNvPr>
          <p:cNvCxnSpPr>
            <a:cxnSpLocks/>
          </p:cNvCxnSpPr>
          <p:nvPr/>
        </p:nvCxn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val="858355452"/>
      </p:ext>
    </p:extLst>
  </p:cSld>
  <p:clrMapOvr>
    <a:masterClrMapping/>
  </p:clrMapOvr>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2120</TotalTime>
  <Words>1591</Words>
  <Application>Microsoft Macintosh PowerPoint</Application>
  <PresentationFormat>Widescreen</PresentationFormat>
  <Paragraphs>176</Paragraphs>
  <Slides>14</Slides>
  <Notes>13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Lora SemiBold</vt:lpstr>
      <vt:lpstr>Lora Medium</vt:lpstr>
      <vt:lpstr>Roboto Serif 14pt</vt:lpstr>
      <vt:lpstr>Arial</vt:lpstr>
      <vt:lpstr>Roboto SemiBold</vt:lpstr>
      <vt:lpstr>Helvetica Neue</vt:lpstr>
      <vt:lpstr>Roboto Medium</vt:lpstr>
      <vt:lpstr>Roboto</vt:lpstr>
      <vt:lpstr>OpenAI Sans</vt:lpstr>
      <vt:lpstr>Helvetica Neue Medium</vt:lpstr>
      <vt:lpstr>Aptos</vt:lpstr>
      <vt:lpstr>Default Codex Theme</vt:lpstr>
      <vt:lpstr>Enterprise Quarterly Business Review</vt:lpstr>
      <vt:lpstr>Meeting title with agenda slide</vt:lpstr>
      <vt:lpstr>Quarter recap, verdict and asks</vt:lpstr>
      <vt:lpstr>Intro and 2x2 card grid</vt:lpstr>
      <vt:lpstr>One column layout with three callout cards</vt:lpstr>
      <vt:lpstr>Intro with three callout cards</vt:lpstr>
      <vt:lpstr>Two column layout</vt:lpstr>
      <vt:lpstr>Statement headline  slide with eight logo grid</vt:lpstr>
      <vt:lpstr>Full width data table slide</vt:lpstr>
      <vt:lpstr>Chart with three cards</vt:lpstr>
      <vt:lpstr>Chart with three cards</vt:lpstr>
      <vt:lpstr>Timeline with three text only milestones</vt:lpstr>
      <vt:lpstr>Gantt chart over time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coreProperties>
</file>